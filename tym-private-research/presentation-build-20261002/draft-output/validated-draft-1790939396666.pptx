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68dfa901b94625" /><Relationship Type="http://schemas.openxmlformats.org/officeDocument/2006/relationships/extended-properties" Target="/docProps/app.xml" Id="Rdb4238fb82504e96" /><Relationship Type="http://schemas.openxmlformats.org/officeDocument/2006/relationships/officeDocument" Target="/ppt/presentation.xml" Id="Rfe52b299f060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0c9a0a9c548de"/>
  </p:sldMasterIdLst>
  <p:notesMasterIdLst>
    <p:notesMasterId xmlns:r="http://schemas.openxmlformats.org/officeDocument/2006/relationships" r:id="Rffa1b20c333e4f24"/>
  </p:notesMasterIdLst>
  <p:sldIdLst>
    <p:sldId xmlns:r="http://schemas.openxmlformats.org/officeDocument/2006/relationships" id="256" r:id="R5882c1b13e8b4316"/>
    <p:sldId xmlns:r="http://schemas.openxmlformats.org/officeDocument/2006/relationships" id="257" r:id="Rd577c1e7982f4715"/>
    <p:sldId xmlns:r="http://schemas.openxmlformats.org/officeDocument/2006/relationships" id="258" r:id="R1d5eb992a7654579"/>
    <p:sldId xmlns:r="http://schemas.openxmlformats.org/officeDocument/2006/relationships" id="259" r:id="Ra677143f50594367"/>
    <p:sldId xmlns:r="http://schemas.openxmlformats.org/officeDocument/2006/relationships" id="260" r:id="Rc756fc80238840b7"/>
    <p:sldId xmlns:r="http://schemas.openxmlformats.org/officeDocument/2006/relationships" id="261" r:id="R294ec7de7501434f"/>
    <p:sldId xmlns:r="http://schemas.openxmlformats.org/officeDocument/2006/relationships" id="262" r:id="R8a42aacdf3ad48ae"/>
    <p:sldId xmlns:r="http://schemas.openxmlformats.org/officeDocument/2006/relationships" id="263" r:id="R990a8d8edf2640fe"/>
    <p:sldId xmlns:r="http://schemas.openxmlformats.org/officeDocument/2006/relationships" id="264" r:id="Rc27ee5ef987d42e9"/>
    <p:sldId xmlns:r="http://schemas.openxmlformats.org/officeDocument/2006/relationships" id="265" r:id="Rd455dcb278fd4421"/>
    <p:sldId xmlns:r="http://schemas.openxmlformats.org/officeDocument/2006/relationships" id="266" r:id="Ra523ca379688498c"/>
    <p:sldId xmlns:r="http://schemas.openxmlformats.org/officeDocument/2006/relationships" id="267" r:id="R45d47b222bd4446d"/>
    <p:sldId xmlns:r="http://schemas.openxmlformats.org/officeDocument/2006/relationships" id="268" r:id="R1b8657b319ca4d39"/>
    <p:sldId xmlns:r="http://schemas.openxmlformats.org/officeDocument/2006/relationships" id="269" r:id="Rf8048abe0c544bea"/>
    <p:sldId xmlns:r="http://schemas.openxmlformats.org/officeDocument/2006/relationships" id="270" r:id="R07e2c8dec2c5450f"/>
    <p:sldId xmlns:r="http://schemas.openxmlformats.org/officeDocument/2006/relationships" id="271" r:id="Rb10ac973d567483f"/>
    <p:sldId xmlns:r="http://schemas.openxmlformats.org/officeDocument/2006/relationships" id="272" r:id="Rb9f8de655e04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eb2a4c02b4609" /><Relationship Type="http://schemas.openxmlformats.org/officeDocument/2006/relationships/slideMaster" Target="/ppt/slideMasters/slideMaster1.xml" Id="Re5f0c9a0a9c548de" /><Relationship Type="http://schemas.openxmlformats.org/officeDocument/2006/relationships/notesMaster" Target="/ppt/notesMasters/notesMaster1.xml" Id="Rffa1b20c333e4f24" /><Relationship Type="http://schemas.openxmlformats.org/officeDocument/2006/relationships/presProps" Target="/ppt/presProps.xml" Id="R7fcf0a14963b4ff9" /><Relationship Type="http://schemas.openxmlformats.org/officeDocument/2006/relationships/tableStyles" Target="/ppt/tableStyles.xml" Id="R43bdedc31bf5438a" /><Relationship Type="http://schemas.openxmlformats.org/officeDocument/2006/relationships/slide" Target="/ppt/slides/slide1.xml" Id="R5882c1b13e8b4316" /><Relationship Type="http://schemas.openxmlformats.org/officeDocument/2006/relationships/slide" Target="/ppt/slides/slide2.xml" Id="Rd577c1e7982f4715" /><Relationship Type="http://schemas.openxmlformats.org/officeDocument/2006/relationships/slide" Target="/ppt/slides/slide3.xml" Id="R1d5eb992a7654579" /><Relationship Type="http://schemas.openxmlformats.org/officeDocument/2006/relationships/slide" Target="/ppt/slides/slide4.xml" Id="Ra677143f50594367" /><Relationship Type="http://schemas.openxmlformats.org/officeDocument/2006/relationships/slide" Target="/ppt/slides/slide5.xml" Id="Rc756fc80238840b7" /><Relationship Type="http://schemas.openxmlformats.org/officeDocument/2006/relationships/slide" Target="/ppt/slides/slide6.xml" Id="R294ec7de7501434f" /><Relationship Type="http://schemas.openxmlformats.org/officeDocument/2006/relationships/slide" Target="/ppt/slides/slide7.xml" Id="R8a42aacdf3ad48ae" /><Relationship Type="http://schemas.openxmlformats.org/officeDocument/2006/relationships/slide" Target="/ppt/slides/slide8.xml" Id="R990a8d8edf2640fe" /><Relationship Type="http://schemas.openxmlformats.org/officeDocument/2006/relationships/slide" Target="/ppt/slides/slide9.xml" Id="Rc27ee5ef987d42e9" /><Relationship Type="http://schemas.openxmlformats.org/officeDocument/2006/relationships/slide" Target="/ppt/slides/slide10.xml" Id="Rd455dcb278fd4421" /><Relationship Type="http://schemas.openxmlformats.org/officeDocument/2006/relationships/slide" Target="/ppt/slides/slide11.xml" Id="Ra523ca379688498c" /><Relationship Type="http://schemas.openxmlformats.org/officeDocument/2006/relationships/slide" Target="/ppt/slides/slide12.xml" Id="R45d47b222bd4446d" /><Relationship Type="http://schemas.openxmlformats.org/officeDocument/2006/relationships/slide" Target="/ppt/slides/slide13.xml" Id="R1b8657b319ca4d39" /><Relationship Type="http://schemas.openxmlformats.org/officeDocument/2006/relationships/slide" Target="/ppt/slides/slide14.xml" Id="Rf8048abe0c544bea" /><Relationship Type="http://schemas.openxmlformats.org/officeDocument/2006/relationships/slide" Target="/ppt/slides/slide15.xml" Id="R07e2c8dec2c5450f" /><Relationship Type="http://schemas.openxmlformats.org/officeDocument/2006/relationships/slide" Target="/ppt/slides/slide16.xml" Id="Rb10ac973d567483f" /><Relationship Type="http://schemas.openxmlformats.org/officeDocument/2006/relationships/slide" Target="/ppt/slides/slide17.xml" Id="Rb9f8de655e04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5d7ef12ad4b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8e25573ac4479" /><Relationship Type="http://schemas.openxmlformats.org/officeDocument/2006/relationships/notesMaster" Target="/ppt/notesMasters/notesMaster1.xml" Id="R290b2007dbde40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7f59cb5e24a6b" /><Relationship Type="http://schemas.openxmlformats.org/officeDocument/2006/relationships/notesMaster" Target="/ppt/notesMasters/notesMaster1.xml" Id="R928c526d1e8b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7e4fa84ff24854" /><Relationship Type="http://schemas.openxmlformats.org/officeDocument/2006/relationships/notesMaster" Target="/ppt/notesMasters/notesMaster1.xml" Id="R2405b8b2f76e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387bab4ca1492d" /><Relationship Type="http://schemas.openxmlformats.org/officeDocument/2006/relationships/notesMaster" Target="/ppt/notesMasters/notesMaster1.xml" Id="Rc02fdf02d9fe4d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e0cfb99abb4e05" /><Relationship Type="http://schemas.openxmlformats.org/officeDocument/2006/relationships/notesMaster" Target="/ppt/notesMasters/notesMaster1.xml" Id="R31b3abab0bc940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477bb8aae4ebc" /><Relationship Type="http://schemas.openxmlformats.org/officeDocument/2006/relationships/notesMaster" Target="/ppt/notesMasters/notesMaster1.xml" Id="R169878b910dd41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edc6b5cd934e36" /><Relationship Type="http://schemas.openxmlformats.org/officeDocument/2006/relationships/notesMaster" Target="/ppt/notesMasters/notesMaster1.xml" Id="R0f56ccdcbf84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54406e125544b6" /><Relationship Type="http://schemas.openxmlformats.org/officeDocument/2006/relationships/notesMaster" Target="/ppt/notesMasters/notesMaster1.xml" Id="Re28af6a9324340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237efacb94456e" /><Relationship Type="http://schemas.openxmlformats.org/officeDocument/2006/relationships/notesMaster" Target="/ppt/notesMasters/notesMaster1.xml" Id="R88e4b1021d3748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6f120df75844fe" /><Relationship Type="http://schemas.openxmlformats.org/officeDocument/2006/relationships/notesMaster" Target="/ppt/notesMasters/notesMaster1.xml" Id="Rd014e0cf082047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8b63f8ed9c4727" /><Relationship Type="http://schemas.openxmlformats.org/officeDocument/2006/relationships/notesMaster" Target="/ppt/notesMasters/notesMaster1.xml" Id="R1b72a48102bd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07456b2d114d26" /><Relationship Type="http://schemas.openxmlformats.org/officeDocument/2006/relationships/notesMaster" Target="/ppt/notesMasters/notesMaster1.xml" Id="Rfb59faadce3a44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267a713b74a61" /><Relationship Type="http://schemas.openxmlformats.org/officeDocument/2006/relationships/notesMaster" Target="/ppt/notesMasters/notesMaster1.xml" Id="Rc5f38364e0b840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4d2021def44a58" /><Relationship Type="http://schemas.openxmlformats.org/officeDocument/2006/relationships/notesMaster" Target="/ppt/notesMasters/notesMaster1.xml" Id="R38e125e8716649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2f84a256de4173" /><Relationship Type="http://schemas.openxmlformats.org/officeDocument/2006/relationships/notesMaster" Target="/ppt/notesMasters/notesMaster1.xml" Id="R3cfffddfac7542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7cbb746ea844ca" /><Relationship Type="http://schemas.openxmlformats.org/officeDocument/2006/relationships/notesMaster" Target="/ppt/notesMasters/notesMaster1.xml" Id="R46de86195efd43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25ade0f4a34179" /><Relationship Type="http://schemas.openxmlformats.org/officeDocument/2006/relationships/notesMaster" Target="/ppt/notesMasters/notesMaster1.xml" Id="Rd6757728ac00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Deep Learning manuscript pp. 5-9 and Practical Results pp. 3-12. Current workbench supports draft fields and reviewer edits. Event coreference, actor identities and full perspective attribution remain unimplemented.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 and structured full-data training reports. Ten baseline classifiers plus six structured-channel TimeBank classifiers reuse 21,666 unique task rows. Rows count annotation examples, not independent narratives. No SUP segment examples occur in the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C:\Users\serba\Documents\ChatGPT\PhD\tym-private-research\mlnet-run-20261002\books-import-report.json, books_ro_cluster_report.json, books_en_cluster_report.json and books_*_segment_predictions.json. C# preparation: tym-corpus-app/tools/Tym.Corpus.Data/BookImporter.cs. No source-book passages appear in this deck. The separate Tash Aw raw editions have zero exact TS offset matches and need reconciliation before span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tym-corpus-app/tools/Tym.Modeling/Program.cs, TextModelPredictor.cs, tools/Tym.Corpus.Data and src/Tym.Corpus.Api. The illustrative target-marked sentence is original free text. The independent solution targets .NET 10 LTS with ML.NET 5.0.0, while initial full-data model artifacts precede the framework migration.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C:\Users\serba\Documents\ChatGPT\PhD\tym-private-research\mlnet-run-20261002\grouped-mlnet-benchmark.json; tym-corpus-app/tools/Tym.Benchmark/Program.cs and GroupedSplit.cs. Featurizer/label mapping fit only training rows. Algorithms and 100-iteration settings were fixed before examining scores. This retrospective diagnostic has no separate model-selection holdout and exports no model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C:\Users\serba\Documents\ChatGPT\PhD\tym-private-research\mlnet-run-20261002\grouped-mlnet-benchmark.json. Pooled out-of-fold accuracy and fixed-inventory macro F1 percentages. Algorithms sdca/lbfgs/majority are trained independently for each task and fold. Task label inventories differ, so no combined NLP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C:\Users\serba\Documents\ChatGPT\PhD\tym-private-research\mlnet-run-20261002\grouped-mlnet-structured-benchmark.json, algorithms.structured_sdca. Same input and document/duplicate-feature folds as the whole-text comparison. Separate target/context and ordered From/To/Signal channels improve all six pooled scores. A channel empty in training is omitted using training data only. This variant was added after examining the initial comparison. It is exploratory and has no independent model-selection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C:\Users\serba\Documents\ChatGPT\PhD\tym-private-research\mlnet-run-20261002\test-results\standalone-modeling-tests.trx (31), standalone-api-tests.trx (70), private-book-data-tests.trx (21). API cases cover typed spans, explicit DCT and limited partial-graph constraints. Research cases cover C# preparation, grouping/metrics and actual private Books.zip checks. Snapshots record model behavior including qualitative errors. Counts measure software assertions, not linguistic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C:\Users\serba\Documents\ChatGPT\PhD\tym-private-research\mlnet-run-20261002\predictions\temporal_relation_en.json case free-en-concurrent and C:\Users\serba\Documents\ChatGPT\PhD\tym-private-research\mlnet-run-20261002\structured-free-text-results.json. The baseline before cue yields AFTER, while the structured variant yields BEFORE. The structured SLINK fixture containing știa yields MODAL versus baseline EVIDENTIAL. All snapshot expected_label fields represent observed regression labels, not human gold. Cue-based interpretations here are qualitative diagnoses.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updated paper pp. 5-9, State of the Art pp. 10-13, tym-corpus-app/src/Tym.Corpus.Api and TypeScript frontend source. Current analysis uses lexical candidates, sentence rules and an existing segment-mode model. It has no event coreference, actor identity resolution, full interval closure or automatic causal relation extraction. The validator checks schema, typed endpoints, source hash/span validity and limited strict-cycle/simultaneous contradictions. Human edits never automatically become human_gold.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412f474c8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ebfe4f20b84702" /><Relationship Type="http://schemas.openxmlformats.org/officeDocument/2006/relationships/slideLayout" Target="/ppt/slideLayouts/slideLayout1.xml" Id="R465e9e00e9b845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e9e00e9b845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03e24633d4fcb" /><Relationship Type="http://schemas.openxmlformats.org/officeDocument/2006/relationships/notesSlide" Target="/ppt/notesSlides/notesSlide1.xml" Id="R9d9ad5d48c99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e9899101a4be5" /><Relationship Type="http://schemas.openxmlformats.org/officeDocument/2006/relationships/notesSlide" Target="/ppt/notesSlides/notesSlide2.xml" Id="R62deeaed70f7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9d1fbf55481b" /><Relationship Type="http://schemas.openxmlformats.org/officeDocument/2006/relationships/notesSlide" Target="/ppt/notesSlides/notesSlide3.xml" Id="R1254be6c3f244e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c8562f8d41e2" /><Relationship Type="http://schemas.openxmlformats.org/officeDocument/2006/relationships/notesSlide" Target="/ppt/notesSlides/notesSlide4.xml" Id="R0d98e29ffbcc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c8e37a7274333" /><Relationship Type="http://schemas.openxmlformats.org/officeDocument/2006/relationships/notesSlide" Target="/ppt/notesSlides/notesSlide5.xml" Id="R402de07a19284a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123ff8240487e" /><Relationship Type="http://schemas.openxmlformats.org/officeDocument/2006/relationships/chart" Target="/ppt/slides/charts/chart1.xml" Id="R7c35fafe54164af9" /><Relationship Type="http://schemas.openxmlformats.org/officeDocument/2006/relationships/chart" Target="/ppt/slides/charts/chart2.xml" Id="R9e06752a7c854b9c" /><Relationship Type="http://schemas.openxmlformats.org/officeDocument/2006/relationships/notesSlide" Target="/ppt/notesSlides/notesSlide6.xml" Id="Rc8cef36e78f9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3fac3a29e4eec" /><Relationship Type="http://schemas.openxmlformats.org/officeDocument/2006/relationships/notesSlide" Target="/ppt/notesSlides/notesSlide7.xml" Id="R6b58c6dab89342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9519cad34fe2" /><Relationship Type="http://schemas.openxmlformats.org/officeDocument/2006/relationships/notesSlide" Target="/ppt/notesSlides/notesSlide8.xml" Id="Rfef099a47ffb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853f165c84e26" /><Relationship Type="http://schemas.openxmlformats.org/officeDocument/2006/relationships/notesSlide" Target="/ppt/notesSlides/notesSlide9.xml" Id="R42c59ef9134848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d04f3bd54dec" /><Relationship Type="http://schemas.openxmlformats.org/officeDocument/2006/relationships/notesSlide" Target="/ppt/notesSlides/notesSlide10.xml" Id="Rea365d3a5f8645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410a457d1427c" /><Relationship Type="http://schemas.openxmlformats.org/officeDocument/2006/relationships/notesSlide" Target="/ppt/notesSlides/notesSlide11.xml" Id="R70d41c74e38d4c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13ca962b7458a" /><Relationship Type="http://schemas.openxmlformats.org/officeDocument/2006/relationships/chart" Target="/ppt/slides/charts/chart3.xml" Id="R999d4cdbbda14f0c" /><Relationship Type="http://schemas.openxmlformats.org/officeDocument/2006/relationships/notesSlide" Target="/ppt/notesSlides/notesSlide12.xml" Id="R9b1154fa93ad4e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fd4e9fdb04181" /><Relationship Type="http://schemas.openxmlformats.org/officeDocument/2006/relationships/notesSlide" Target="/ppt/notesSlides/notesSlide13.xml" Id="R806a5ffd6c5443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898a64d5a4de0" /><Relationship Type="http://schemas.openxmlformats.org/officeDocument/2006/relationships/notesSlide" Target="/ppt/notesSlides/notesSlide14.xml" Id="R8f151cc1b0e94e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e034fb06a47bf" /><Relationship Type="http://schemas.openxmlformats.org/officeDocument/2006/relationships/notesSlide" Target="/ppt/notesSlides/notesSlide15.xml" Id="Ref8fa00f3e574e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902d6e6b84379" /><Relationship Type="http://schemas.openxmlformats.org/officeDocument/2006/relationships/notesSlide" Target="/ppt/notesSlides/notesSlide16.xml" Id="R9a960735b52543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2c20714ce46db" /><Relationship Type="http://schemas.openxmlformats.org/officeDocument/2006/relationships/hyperlink" Target="https://tym-corpus-ui-serban.livelyrock-2726c024.eastus.azurecontainerapps.io" TargetMode="External" Id="R86c0dc123d244b05" /><Relationship Type="http://schemas.openxmlformats.org/officeDocument/2006/relationships/hyperlink" Target="https://tym-corpus-api-serban.livelyrock-2726c024.eastus.azurecontainerapps.io" TargetMode="External" Id="R3e2d22f4098e434b" /><Relationship Type="http://schemas.openxmlformats.org/officeDocument/2006/relationships/notesSlide" Target="/ppt/notesSlides/notesSlide17.xml" Id="R4bc14d81c10748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NAR</c:v>
                </c:pt>
                <c:pt idx="1">
                  <c:v>REM</c:v>
                </c:pt>
                <c:pt idx="2">
                  <c:v>FIC</c:v>
                </c:pt>
                <c:pt idx="3">
                  <c:v>GEN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627</c:v>
                </c:pt>
                <c:pt idx="1">
                  <c:v>66</c:v>
                </c:pt>
                <c:pt idx="2">
                  <c:v>50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Data'!$A$2:$A$7</c:f>
              <c:strCache>
                <c:ptCount val="6"/>
                <c:pt idx="0">
                  <c:v>Class</c:v>
                </c:pt>
                <c:pt idx="1">
                  <c:v>Tense</c:v>
                </c:pt>
                <c:pt idx="2">
                  <c:v>TIMEX</c:v>
                </c:pt>
                <c:pt idx="3">
                  <c:v>TLINK</c:v>
                </c:pt>
                <c:pt idx="4">
                  <c:v>SLINK</c:v>
                </c:pt>
                <c:pt idx="5">
                  <c:v>ALINK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5947</c:v>
                </c:pt>
                <c:pt idx="1">
                  <c:v>5920</c:v>
                </c:pt>
                <c:pt idx="2">
                  <c:v>1144</c:v>
                </c:pt>
                <c:pt idx="3">
                  <c:v>4808</c:v>
                </c:pt>
                <c:pt idx="4">
                  <c:v>2133</c:v>
                </c:pt>
                <c:pt idx="5">
                  <c:v>199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Data'!$A$2:$A$4</c:f>
              <c:strCache>
                <c:ptCount val="3"/>
                <c:pt idx="0">
                  <c:v>Modeling and artifact checks</c:v>
                </c:pt>
                <c:pt idx="1">
                  <c:v>API and workbench</c:v>
                </c:pt>
                <c:pt idx="2">
                  <c:v>Corpus and benchmark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31</c:v>
                </c:pt>
                <c:pt idx="1">
                  <c:v>70</c:v>
                </c:pt>
                <c:pt idx="2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472FC-9E5A-44EF-BAA0-92D3760D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99D6-4B15-47DF-9CF3-DDBAFC34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Grouped diagnostics and narrative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2C36-28B6-4670-81AC-EE539674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38360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352C2-98AE-4D0E-AE0B-B24B0697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07B87-1DF7-4AB0-AD72-AB218282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Explicit anchors and reviewed relations preserve partial chronology.</a:t>
            </a:r>
          </a:p>
        </p:txBody>
      </p:sp>
    </p:spTree>
    <p:extLst>
      <p:ext uri="{BB962C8B-B14F-4D97-AF65-F5344CB8AC3E}">
        <p14:creationId xmlns:p14="http://schemas.microsoft.com/office/powerpoint/2010/main" val="1606286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91BAD-EE05-4467-A842-778893F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baselines and six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structured variants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unique task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Saved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grouped diagnostic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Six TimeBank label tasks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Supplied spans and endpoints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out-of-fold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Unknown annotation adjudication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5A687-E4CC-4361-BDD8-B24A87D1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1490347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AA7AA-222B-4B05-8507-DDE3C9D6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two languages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Duplicate XML variants add no rows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task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task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 documents quarantined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Exploratory training/diagnostics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Human adjudication unverified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7895E-6D9A-4677-A4EF-C02BAEE5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882258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36C4D-F19F-40E5-B4BC-5CC2877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Sixteen supervised classifiers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95750"/>
                <a:gridCol w="1238250"/>
                <a:gridCol w="1619250"/>
                <a:gridCol w="1428750"/>
                <a:gridCol w="243840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Lang.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Variants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 + structured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37FF9-1745-4588-BAEE-3A4DA27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and two variants of each TimeBank task. Two additional K-Means artifacts remain private.</a:t>
            </a:r>
          </a:p>
        </p:txBody>
      </p:sp>
    </p:spTree>
    <p:extLst>
      <p:ext uri="{BB962C8B-B14F-4D97-AF65-F5344CB8AC3E}">
        <p14:creationId xmlns:p14="http://schemas.microsoft.com/office/powerpoint/2010/main" val="666971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CFCB-2061-41C5-947D-8BA285A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0090-2C14-4A1F-96DD-6035857F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B512E-0801-49E9-8732-C1D5EB6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5fafe54164af9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06752a7c854b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75D24-9F46-482D-B89E-E6778538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365019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F73A-7F87-4275-9126-3AA09D8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Unlabeled books and private discovery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571750"/>
                <a:gridCol w="1581150"/>
                <a:gridCol w="3952875"/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Files / groups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Passages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Private experiment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raw books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files / 14 groups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Distance 0.9019, DBI 6.3917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raw novel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file / 1 group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Distance 0.7985, DBI 5.1398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 classifier probes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4,734  REM 295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183  GEN 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 classifier probes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404  REM 24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16  GEN 2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2E81-8AE8-417F-B7E7-01328C9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DBI is the Davies-Bouldin index. Fitted geometry and chunk label counts provide no gold semantics or accuracy.</a:t>
            </a:r>
          </a:p>
        </p:txBody>
      </p:sp>
    </p:spTree>
    <p:extLst>
      <p:ext uri="{BB962C8B-B14F-4D97-AF65-F5344CB8AC3E}">
        <p14:creationId xmlns:p14="http://schemas.microsoft.com/office/powerpoint/2010/main" val="573092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425B8-A2B8-4CC0-9487-DD857A9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Prepare in C#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source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relation endpoints and marked target context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 with ML.NET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 from artifacts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task-specific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Return label inventory and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Draft document analysis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Sentence/rule candidates and segment classifier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 offsets and explicit date anchors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82D88-63AA-4E45-B33B-6741464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89541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10864-8CFE-4414-A049-14C8F76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Grouped TimeBank diagnostic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801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rows from 157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 / 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Grouping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Exact normalized task/language feature duplicates join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50 components with 107 cross-document duplicate feature rows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 folds with 6,744, 6,721 and 6,686 rows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Every row receives one out-of-fold prediction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Whole-text comparison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Training-fold majority, SDCA and L-BFGS maximum entropy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at most 100 iterations, one trainer thread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05522-4B56-4BEA-BC89-B70178C7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Scores classify labels given supplied spans and endpoints. TYM has one source work and remains outside this split.</a:t>
            </a:r>
          </a:p>
        </p:txBody>
      </p:sp>
    </p:spTree>
    <p:extLst>
      <p:ext uri="{BB962C8B-B14F-4D97-AF65-F5344CB8AC3E}">
        <p14:creationId xmlns:p14="http://schemas.microsoft.com/office/powerpoint/2010/main" val="570543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8AB7B-7636-482F-B88D-0C0E574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Whole-text classification results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24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095375"/>
                <a:gridCol w="2476500"/>
                <a:gridCol w="2476500"/>
                <a:gridCol w="2581275"/>
              </a:tblGrid>
              <a:tr h="638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Majority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SDCA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L-BFGS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F1 %</a:t>
                      </a:r>
                    </a:p>
                  </a:txBody>
                  <a:tcPr marL="133350" marR="95250" marT="47625" marB="47625" anchor="ctr">
                    <a:solidFill>
                      <a:srgbClr val="142D4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51.96 / 9.77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67.18 / 40.83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64.70 / 30.64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35.05 / 7.42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73.18 / 56.17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68.21 / 43.54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81.91 / 22.51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86.01 / 44.01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83.04 / 27.20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21.07 / 4.03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34.21 / 14.98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30.95 / 9.60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41.12 / 14.51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74.50 / 34.17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71.78 / 26.24</a:t>
                      </a:r>
                    </a:p>
                  </a:txBody>
                  <a:tcPr marL="133350" marR="95250" marT="47625" marB="47625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34.17 / 10.19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52.26 / 40.97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38.19 / 16.12</a:t>
                      </a:r>
                    </a:p>
                  </a:txBody>
                  <a:tcPr marL="133350" marR="952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15667-DA07-4C0C-B4C2-CE39BE2B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Each cell gives accuracy / macro F1 in percent. TLINK remains weak and DATE dominance masks minority errors.</a:t>
            </a:r>
          </a:p>
        </p:txBody>
      </p:sp>
    </p:spTree>
    <p:extLst>
      <p:ext uri="{BB962C8B-B14F-4D97-AF65-F5344CB8AC3E}">
        <p14:creationId xmlns:p14="http://schemas.microsoft.com/office/powerpoint/2010/main" val="816737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FEABC-C060-4DF5-BA86-2C5E685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Structured target and endpoint features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838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  <a:gridCol w="2286000"/>
                <a:gridCol w="3152775"/>
              </a:tblGrid>
              <a:tr h="542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Macro F1 %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 gain in points</a:t>
                      </a:r>
                    </a:p>
                  </a:txBody>
                  <a:tcPr marL="133350" marR="95250" marT="57150" marB="57150" anchor="ctr">
                    <a:solidFill>
                      <a:srgbClr val="142D4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72.51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57.24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+16.41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77.62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63.06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+6.89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91.87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57.23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+13.21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40.39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22.77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+7.79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83.22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63.75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+29.58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62.81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56.95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+15.98</a:t>
                      </a:r>
                    </a:p>
                  </a:txBody>
                  <a:tcPr marL="133350" marR="95250" marT="57150" marB="5715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E566D-4E35-4020-92A1-611A62C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Exploratory follow-up with no independent selection holdout.</a:t>
            </a:r>
          </a:p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SET, DURING_INV, IAFTER and IBEFORE still have zero F1.</a:t>
            </a:r>
          </a:p>
        </p:txBody>
      </p:sp>
    </p:spTree>
    <p:extLst>
      <p:ext uri="{BB962C8B-B14F-4D97-AF65-F5344CB8AC3E}">
        <p14:creationId xmlns:p14="http://schemas.microsoft.com/office/powerpoint/2010/main" val="2019984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E823B-0325-4285-9E0B-A8F135A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122 software test cases pass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9d4cdbbda14f0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5A295-1268-4602-A8B8-385730B2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All three suites report zero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3B53E-8D89-4DFD-BD3B-3E3FDA6D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recorded outputs. Conditional grouped NLP scores come from separate validation rows.</a:t>
            </a:r>
          </a:p>
        </p:txBody>
      </p:sp>
    </p:spTree>
    <p:extLst>
      <p:ext uri="{BB962C8B-B14F-4D97-AF65-F5344CB8AC3E}">
        <p14:creationId xmlns:p14="http://schemas.microsoft.com/office/powerpoint/2010/main" val="1645035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FCF93-142D-47CF-9C0E-B7409EA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A27EE-30DB-48A1-8F97-B0552CA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authored examples show outputs of the ten saved baseline classifiers. They carry no adjudicated gold labels.</a:t>
            </a:r>
          </a:p>
        </p:txBody>
      </p:sp>
    </p:spTree>
    <p:extLst>
      <p:ext uri="{BB962C8B-B14F-4D97-AF65-F5344CB8AC3E}">
        <p14:creationId xmlns:p14="http://schemas.microsoft.com/office/powerpoint/2010/main" val="517301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846C7-C570-41F3-94B5-51A44423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Baseline errors and structured probes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9A3F8-E615-4826-B97E-B9E5F73A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Structured TLINK changes the before fixture to BEFORE. Its “știa” SLINK fixture changes to MODAL.</a:t>
            </a:r>
          </a:p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changes remain qualitative observations without adjudicated gold labels.</a:t>
            </a:r>
          </a:p>
        </p:txBody>
      </p:sp>
    </p:spTree>
    <p:extLst>
      <p:ext uri="{BB962C8B-B14F-4D97-AF65-F5344CB8AC3E}">
        <p14:creationId xmlns:p14="http://schemas.microsoft.com/office/powerpoint/2010/main" val="10922891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2B0B8-9F18-4527-BEF7-9E63A75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Narrative annotation workbench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8105775"/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Half-open UTF-16 spans and source hash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normalized corpus input from reviewer 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Typed review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TS, TIMEX and relation editors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Actor, location and perspective fields with evidence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anchors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Explicit document creation time and local cues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server-date substitution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Graph views and checks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Review supplied directed edges and simultaneous groups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partial order without forced adjacency or causality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0FC40-4475-4E96-8B18-A118203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Draft analysis proposes annotations. Human adjudication and end-to-end extraction evaluation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2113019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0736-20B7-477F-8C76-AB26417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12855-6E55-4019-918D-6C1895E3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Keep parallel translations, chapters from one work and synthetic descendants in the same split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D828A-3FCA-4630-98FE-A7A243E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6414653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E805D-9075-47B8-ADC0-E596767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05398-E673-4981-8169-8202D17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02B5D-661E-4456-948B-0718ECDC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AB8FF-E177-4A10-8E98-E67B52F1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86c0dc123d244b05"/>
              </a:rPr>
              <a:t>https://tym-corpus-ui-serban.livelyrock-2726c024.eastus.azurecontainerapps.io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46F81-BD60-4031-95AD-04C4595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E8DBE-698E-4200-9A7D-50439FA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3e2d22f4098e434b"/>
              </a:rPr>
              <a:t>https://tym-corpus-api-serban.livelyrock-2726c024.eastus.azurecontainerapps.io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1B07-566F-42FD-A6C8-BD2463D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1600381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2026-10-02T11:09:55.4670000Z</dcterms:created>
  <dcterms:modified xsi:type="dcterms:W3CDTF">2026-10-02T11:09:55.4670000Z</dcterms:modified>
</coreProperties>
</file>
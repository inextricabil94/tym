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150b25f754113" /><Relationship Type="http://schemas.openxmlformats.org/officeDocument/2006/relationships/extended-properties" Target="/docProps/app.xml" Id="R8445cf581705409d" /><Relationship Type="http://schemas.openxmlformats.org/officeDocument/2006/relationships/officeDocument" Target="/ppt/presentation.xml" Id="R70a84518cc30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aa0e0fb22b41a8"/>
  </p:sldMasterIdLst>
  <p:notesMasterIdLst>
    <p:notesMasterId xmlns:r="http://schemas.openxmlformats.org/officeDocument/2006/relationships" r:id="Rd1340096b23247f2"/>
  </p:notesMasterIdLst>
  <p:sldIdLst>
    <p:sldId xmlns:r="http://schemas.openxmlformats.org/officeDocument/2006/relationships" id="256" r:id="R5e5d6cdb28864b26"/>
    <p:sldId xmlns:r="http://schemas.openxmlformats.org/officeDocument/2006/relationships" id="257" r:id="R7c7b93ed0f044440"/>
    <p:sldId xmlns:r="http://schemas.openxmlformats.org/officeDocument/2006/relationships" id="258" r:id="R9b79c74ad255414e"/>
    <p:sldId xmlns:r="http://schemas.openxmlformats.org/officeDocument/2006/relationships" id="259" r:id="Rc32576cb5b0146d8"/>
    <p:sldId xmlns:r="http://schemas.openxmlformats.org/officeDocument/2006/relationships" id="260" r:id="Rf46977cc75af4126"/>
    <p:sldId xmlns:r="http://schemas.openxmlformats.org/officeDocument/2006/relationships" id="261" r:id="Re91a4c3eabb54704"/>
    <p:sldId xmlns:r="http://schemas.openxmlformats.org/officeDocument/2006/relationships" id="262" r:id="R1be1af82ef29425f"/>
    <p:sldId xmlns:r="http://schemas.openxmlformats.org/officeDocument/2006/relationships" id="263" r:id="R7e85493c827b4f4f"/>
    <p:sldId xmlns:r="http://schemas.openxmlformats.org/officeDocument/2006/relationships" id="264" r:id="R2d2958d63989476a"/>
    <p:sldId xmlns:r="http://schemas.openxmlformats.org/officeDocument/2006/relationships" id="265" r:id="R4e4a55a884184937"/>
    <p:sldId xmlns:r="http://schemas.openxmlformats.org/officeDocument/2006/relationships" id="266" r:id="R00f9c4a5b85f4940"/>
    <p:sldId xmlns:r="http://schemas.openxmlformats.org/officeDocument/2006/relationships" id="267" r:id="R58a9e1c10b794823"/>
    <p:sldId xmlns:r="http://schemas.openxmlformats.org/officeDocument/2006/relationships" id="268" r:id="R6069b3bf0d7c47cb"/>
    <p:sldId xmlns:r="http://schemas.openxmlformats.org/officeDocument/2006/relationships" id="269" r:id="Rd82889a6868c4635"/>
    <p:sldId xmlns:r="http://schemas.openxmlformats.org/officeDocument/2006/relationships" id="270" r:id="R0fa55d0f97f1405d"/>
    <p:sldId xmlns:r="http://schemas.openxmlformats.org/officeDocument/2006/relationships" id="271" r:id="R1445bcdac1e645c3"/>
    <p:sldId xmlns:r="http://schemas.openxmlformats.org/officeDocument/2006/relationships" id="272" r:id="R1921a0e6dd6643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ffffbb3f946d2" /><Relationship Type="http://schemas.openxmlformats.org/officeDocument/2006/relationships/slideMaster" Target="/ppt/slideMasters/slideMaster1.xml" Id="Rc8aa0e0fb22b41a8" /><Relationship Type="http://schemas.openxmlformats.org/officeDocument/2006/relationships/notesMaster" Target="/ppt/notesMasters/notesMaster1.xml" Id="Rd1340096b23247f2" /><Relationship Type="http://schemas.openxmlformats.org/officeDocument/2006/relationships/presProps" Target="/ppt/presProps.xml" Id="Rbce0319de29c4225" /><Relationship Type="http://schemas.openxmlformats.org/officeDocument/2006/relationships/tableStyles" Target="/ppt/tableStyles.xml" Id="Ra8d291dc51a349fc" /><Relationship Type="http://schemas.openxmlformats.org/officeDocument/2006/relationships/slide" Target="/ppt/slides/slide1.xml" Id="R5e5d6cdb28864b26" /><Relationship Type="http://schemas.openxmlformats.org/officeDocument/2006/relationships/slide" Target="/ppt/slides/slide2.xml" Id="R7c7b93ed0f044440" /><Relationship Type="http://schemas.openxmlformats.org/officeDocument/2006/relationships/slide" Target="/ppt/slides/slide3.xml" Id="R9b79c74ad255414e" /><Relationship Type="http://schemas.openxmlformats.org/officeDocument/2006/relationships/slide" Target="/ppt/slides/slide4.xml" Id="Rc32576cb5b0146d8" /><Relationship Type="http://schemas.openxmlformats.org/officeDocument/2006/relationships/slide" Target="/ppt/slides/slide5.xml" Id="Rf46977cc75af4126" /><Relationship Type="http://schemas.openxmlformats.org/officeDocument/2006/relationships/slide" Target="/ppt/slides/slide6.xml" Id="Re91a4c3eabb54704" /><Relationship Type="http://schemas.openxmlformats.org/officeDocument/2006/relationships/slide" Target="/ppt/slides/slide7.xml" Id="R1be1af82ef29425f" /><Relationship Type="http://schemas.openxmlformats.org/officeDocument/2006/relationships/slide" Target="/ppt/slides/slide8.xml" Id="R7e85493c827b4f4f" /><Relationship Type="http://schemas.openxmlformats.org/officeDocument/2006/relationships/slide" Target="/ppt/slides/slide9.xml" Id="R2d2958d63989476a" /><Relationship Type="http://schemas.openxmlformats.org/officeDocument/2006/relationships/slide" Target="/ppt/slides/slide10.xml" Id="R4e4a55a884184937" /><Relationship Type="http://schemas.openxmlformats.org/officeDocument/2006/relationships/slide" Target="/ppt/slides/slide11.xml" Id="R00f9c4a5b85f4940" /><Relationship Type="http://schemas.openxmlformats.org/officeDocument/2006/relationships/slide" Target="/ppt/slides/slide12.xml" Id="R58a9e1c10b794823" /><Relationship Type="http://schemas.openxmlformats.org/officeDocument/2006/relationships/slide" Target="/ppt/slides/slide13.xml" Id="R6069b3bf0d7c47cb" /><Relationship Type="http://schemas.openxmlformats.org/officeDocument/2006/relationships/slide" Target="/ppt/slides/slide14.xml" Id="Rd82889a6868c4635" /><Relationship Type="http://schemas.openxmlformats.org/officeDocument/2006/relationships/slide" Target="/ppt/slides/slide15.xml" Id="R0fa55d0f97f1405d" /><Relationship Type="http://schemas.openxmlformats.org/officeDocument/2006/relationships/slide" Target="/ppt/slides/slide16.xml" Id="R1445bcdac1e645c3" /><Relationship Type="http://schemas.openxmlformats.org/officeDocument/2006/relationships/slide" Target="/ppt/slides/slide17.xml" Id="R1921a0e6dd6643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378a515fee42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e7b8e8cfe4b8b" /><Relationship Type="http://schemas.openxmlformats.org/officeDocument/2006/relationships/notesMaster" Target="/ppt/notesMasters/notesMaster1.xml" Id="R92dfc1c43d72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204f582574371" /><Relationship Type="http://schemas.openxmlformats.org/officeDocument/2006/relationships/notesMaster" Target="/ppt/notesMasters/notesMaster1.xml" Id="R00842a1b03884b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d6ee7d8b6d4597" /><Relationship Type="http://schemas.openxmlformats.org/officeDocument/2006/relationships/notesMaster" Target="/ppt/notesMasters/notesMaster1.xml" Id="R26a59d5a9cd645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603caa963f4855" /><Relationship Type="http://schemas.openxmlformats.org/officeDocument/2006/relationships/notesMaster" Target="/ppt/notesMasters/notesMaster1.xml" Id="R54ce21f03773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475cd7fcfb4bc6" /><Relationship Type="http://schemas.openxmlformats.org/officeDocument/2006/relationships/notesMaster" Target="/ppt/notesMasters/notesMaster1.xml" Id="Reda50a4f57dd41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f15713e20c4697" /><Relationship Type="http://schemas.openxmlformats.org/officeDocument/2006/relationships/notesMaster" Target="/ppt/notesMasters/notesMaster1.xml" Id="Rbceddd24f4bd42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e3e40ef59d46d6" /><Relationship Type="http://schemas.openxmlformats.org/officeDocument/2006/relationships/notesMaster" Target="/ppt/notesMasters/notesMaster1.xml" Id="R5c235d01c5fe4f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c9c76668e7498b" /><Relationship Type="http://schemas.openxmlformats.org/officeDocument/2006/relationships/notesMaster" Target="/ppt/notesMasters/notesMaster1.xml" Id="R726cab75f5dc41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e39bd644de487c" /><Relationship Type="http://schemas.openxmlformats.org/officeDocument/2006/relationships/notesMaster" Target="/ppt/notesMasters/notesMaster1.xml" Id="Rd36bfe198c254a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e9da259bc4f43" /><Relationship Type="http://schemas.openxmlformats.org/officeDocument/2006/relationships/notesMaster" Target="/ppt/notesMasters/notesMaster1.xml" Id="Rb446e17a03ec40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3890e34b840d1" /><Relationship Type="http://schemas.openxmlformats.org/officeDocument/2006/relationships/notesMaster" Target="/ppt/notesMasters/notesMaster1.xml" Id="Rbf7aa967844c42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438b5a8e4c4aba" /><Relationship Type="http://schemas.openxmlformats.org/officeDocument/2006/relationships/notesMaster" Target="/ppt/notesMasters/notesMaster1.xml" Id="Rbf23d0f2108549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bc62b01ba349a9" /><Relationship Type="http://schemas.openxmlformats.org/officeDocument/2006/relationships/notesMaster" Target="/ppt/notesMasters/notesMaster1.xml" Id="R2de6edcd933949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8eda1b12174ab3" /><Relationship Type="http://schemas.openxmlformats.org/officeDocument/2006/relationships/notesMaster" Target="/ppt/notesMasters/notesMaster1.xml" Id="Rc29fc1aa8ab247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27ca75bfdb4fac" /><Relationship Type="http://schemas.openxmlformats.org/officeDocument/2006/relationships/notesMaster" Target="/ppt/notesMasters/notesMaster1.xml" Id="R590b5e15145e4a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a2f7cf127c4f0c" /><Relationship Type="http://schemas.openxmlformats.org/officeDocument/2006/relationships/notesMaster" Target="/ppt/notesMasters/notesMaster1.xml" Id="Refb22498d6dd40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b034b686ad41e4" /><Relationship Type="http://schemas.openxmlformats.org/officeDocument/2006/relationships/notesMaster" Target="/ppt/notesMasters/notesMaster1.xml" Id="R722da5a691fb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research materials and the verified local ML.NET run dated 2026-10-02. This presentation distinguishes corpus training and component tests from an independent scientific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Deep Learning manuscript pp. 5-9 and Practical Results pp. 3-12. Current workbench supports draft fields and reviewer edits. Event coreference, actor identities and full perspective attribution remain unimplemented.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AGENTS.md and README.md summarize the supplied paper's historical CNN result. Current evidence: C:\Users\serba\Documents\ChatGPT\PhD\tym-private-research\mlnet-run-20261002/training/*.json and test-results/mlnet-all-tests.trx. No equivalence or reproduction claim links these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C:\Users\serba\Documents\ChatGPT\PhD\tym-private-research\import-report.json; C:\Users\serba\Documents\ChatGPT\PhD\tym-private-research\mlnet-run-20261002\ro-timebank-import-report.json; tools/Tym.Modeling/ro-timebank-exclusions.json. Ro-TimeBank archive SHA256: 6aa0ba361274b2f13a60e9da0c883c380fe0e959297ef86862a91ff3f499d878. No private corpus text appears on these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C:\Users\serba\Documents\ChatGPT\PhD\tym-private-research\mlnet-run-20261002\training/*.json. Each report records status=trained, source_types=[provided_annotation] and its saved model path. Rows count task examples, not independent narratives. No SUP segment examples occur in this supplied annotation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 import-report.json segment_labels summed across the supplied English/Romanian pair: NAR=627, REM=66, FIC=50, GEN=8, total=751. Ro-TimeBank task counts from C:\Users\serba\Documents\ChatGPT\PhD\tym-private-research\mlnet-run-20261002\ro-timebank-import-report.json: event_class=5947, event_tense=5920, timex_type=1144, tlink=4808, slink=2133, alink=199. Both charts retain native editable data and embedded workbook snapshots.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C:\Users\serba\Documents\ChatGPT\PhD\tym-private-research\mlnet-run-20261002\books-import-report.json, books_ro_cluster_report.json, books_en_cluster_report.json and books_*_segment_predictions.json. C# preparation: tym-corpus-app/tools/Tym.Corpus.Data/BookImporter.cs. No source-book passages appear in this deck. The separate Tash Aw raw editions have zero exact TS offset matches and need reconciliation before span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tym-corpus-app/tools/Tym.Modeling/Program.cs, TextModelPredictor.cs, tools/Tym.Corpus.Data and src/Tym.Corpus.Api. The illustrative target-marked sentence is original free text. The independent solution targets .NET 10 LTS with ML.NET 5.0.0, while initial full-data model artifacts precede the framework migration. No transformer participates in these ten 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C:\Users\serba\Documents\ChatGPT\PhD\tym-private-research\mlnet-run-20261002\grouped-mlnet-benchmark.json; tym-corpus-app/tools/Tym.Benchmark/Program.cs and GroupedSplit.cs. Featurizer/label mapping fit only training rows. Algorithms and 100-iteration settings were fixed before examining scores. This retrospective diagnostic has no separate model-selection holdout and exports no model weights.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C:\Users\serba\Documents\ChatGPT\PhD\tym-private-research\mlnet-run-20261002\grouped-mlnet-benchmark.json. Pooled out-of-fold accuracy and fixed-inventory macro F1 percentages. Algorithms sdca/lbfgs/majority are trained independently for each task and fold. Task label inventories differ, so no combined NLP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C:\Users\serba\Documents\ChatGPT\PhD\tym-private-research\mlnet-run-20261002\grouped-mlnet-benchmark.json, algorithms.sdca.per_class. Support counts are supplied annotation rows, not adjudicated independent gold. Fixed complete label inventories include rare classes with zero F1 when absent/unrecovered in validation. Relation direction and ambiguous labels require targeted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C:\Users\serba\Documents\ChatGPT\PhD\tym-private-research\mlnet-run-20261002\test-results\mlnet-all-tests.trx (31), standalone-api-tests.trx (44), private-book-data-tests.trx (20). API cases cover typed spans, explicit DCT and limited partial-graph constraints. Research cases cover C# preparation, grouping/metrics and three actual private Books.zip checks. Snapshot expectations record observed model behavior, including qualitative errors. These counts measure software assertions, not linguistic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C:\Users\serba\Documents\ChatGPT\PhD\tym-private-research\mlnet-run-20261002\predictions\segment_type_en.json, timebank_event_tense_ro.json, timebank_timex_type_ro.json and timebank_alink_ro.json. All example text is original free text supplied as test input. The descriptions of agreement are qualitative readings, not adjudicated gold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C:\Users\serba\Documents\ChatGPT\PhD\tym-private-research\mlnet-run-20261002\predictions\timebank_tlink_ro.json case free-ro-before-link, C:\Users\serba\Documents\ChatGPT\PhD\tym-private-research\mlnet-run-20261002\predictions\segment_type_ro.json case free-ro-memory, and C:\Users\serba\Documents\ChatGPT\PhD\tym-private-research\mlnet-run-20261002\predictions\temporal_relation_en.json case free-en-concurrent. The before case contains From: a plecat, Signal: înainte, To: a ajuns. Observed prediction AFTER. Cue-based interpretation here is a qualitative diagnosis, not an adjudicated gold annotation.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updated paper pp. 5-9, State of the Art pp. 10-13, tym-corpus-app/src/Tym.Corpus.Api and TypeScript frontend source. Current analysis uses lexical candidates, sentence rules and an existing segment-mode model. It has no event coreference, actor identity resolution, full interval closure or automatic causal relation extraction. The validator checks schema, typed endpoints, source hash/span validity and limited strict-cycle/simultaneous contradictions. Human edits never automatically become human_gold.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AGENTS.md; data/README.md; pocs/model-evaluation/README.md; docs/research/2027-corpus-and-synthetic-data-plan.md. These are proposed research steps. The current CLI evaluates classification only and does not yet evaluate event spans, TS boundaries or complete graph consistency. Chapter/document splits should group translations and synthetic descendants.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Deployment source: root agent verification and Azure resource inventory. Publication state is pending verification.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3dbb1e07f45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877c4e7c294f86" /><Relationship Type="http://schemas.openxmlformats.org/officeDocument/2006/relationships/slideLayout" Target="/ppt/slideLayouts/slideLayout1.xml" Id="Rf16b729a1ade46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6b729a1ade46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b74be036b4ee8" /><Relationship Type="http://schemas.openxmlformats.org/officeDocument/2006/relationships/notesSlide" Target="/ppt/notesSlides/notesSlide1.xml" Id="Ra905548c15644c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1668151e4498" /><Relationship Type="http://schemas.openxmlformats.org/officeDocument/2006/relationships/notesSlide" Target="/ppt/notesSlides/notesSlide2.xml" Id="Rc8a5cdb70b5b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2e214e4b5441c" /><Relationship Type="http://schemas.openxmlformats.org/officeDocument/2006/relationships/notesSlide" Target="/ppt/notesSlides/notesSlide3.xml" Id="R885864fe7e18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54693a48a405e" /><Relationship Type="http://schemas.openxmlformats.org/officeDocument/2006/relationships/notesSlide" Target="/ppt/notesSlides/notesSlide4.xml" Id="Rc623b9bb9af241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8d973e96248df" /><Relationship Type="http://schemas.openxmlformats.org/officeDocument/2006/relationships/notesSlide" Target="/ppt/notesSlides/notesSlide5.xml" Id="R77db36a6edc04a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07701f5e74d42" /><Relationship Type="http://schemas.openxmlformats.org/officeDocument/2006/relationships/chart" Target="/ppt/slides/charts/chart1.xml" Id="Rba8f5bbae5344431" /><Relationship Type="http://schemas.openxmlformats.org/officeDocument/2006/relationships/chart" Target="/ppt/slides/charts/chart2.xml" Id="R569548dd512e47a1" /><Relationship Type="http://schemas.openxmlformats.org/officeDocument/2006/relationships/notesSlide" Target="/ppt/notesSlides/notesSlide6.xml" Id="Rb0ed43c962e645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be0c601ac4bf1" /><Relationship Type="http://schemas.openxmlformats.org/officeDocument/2006/relationships/notesSlide" Target="/ppt/notesSlides/notesSlide7.xml" Id="R8c928e19a0e746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9864d49fd4904" /><Relationship Type="http://schemas.openxmlformats.org/officeDocument/2006/relationships/notesSlide" Target="/ppt/notesSlides/notesSlide8.xml" Id="R09e903c240594a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07d805d6b43b1" /><Relationship Type="http://schemas.openxmlformats.org/officeDocument/2006/relationships/notesSlide" Target="/ppt/notesSlides/notesSlide9.xml" Id="Rea67d7636c2b46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635e4e9a4a66" /><Relationship Type="http://schemas.openxmlformats.org/officeDocument/2006/relationships/notesSlide" Target="/ppt/notesSlides/notesSlide10.xml" Id="R8ffe0565451e4b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83af2880d410a" /><Relationship Type="http://schemas.openxmlformats.org/officeDocument/2006/relationships/notesSlide" Target="/ppt/notesSlides/notesSlide11.xml" Id="Rb86e7aa2381244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b34c5ff0d4fb3" /><Relationship Type="http://schemas.openxmlformats.org/officeDocument/2006/relationships/chart" Target="/ppt/slides/charts/chart3.xml" Id="R7cf6364242c244ea" /><Relationship Type="http://schemas.openxmlformats.org/officeDocument/2006/relationships/notesSlide" Target="/ppt/notesSlides/notesSlide12.xml" Id="R3a663e7b4b3a49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d7ff0362a49be" /><Relationship Type="http://schemas.openxmlformats.org/officeDocument/2006/relationships/notesSlide" Target="/ppt/notesSlides/notesSlide13.xml" Id="Rc6c23fb5d53845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09db923834622" /><Relationship Type="http://schemas.openxmlformats.org/officeDocument/2006/relationships/notesSlide" Target="/ppt/notesSlides/notesSlide14.xml" Id="R3ab939dddbae41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e6f95faa48f4" /><Relationship Type="http://schemas.openxmlformats.org/officeDocument/2006/relationships/notesSlide" Target="/ppt/notesSlides/notesSlide15.xml" Id="R838d6591b98349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ba301a13b4c31" /><Relationship Type="http://schemas.openxmlformats.org/officeDocument/2006/relationships/notesSlide" Target="/ppt/notesSlides/notesSlide16.xml" Id="R4a57d8e1fd4849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e3c59bbf4afa" /><Relationship Type="http://schemas.openxmlformats.org/officeDocument/2006/relationships/hyperlink" Target="https://tym-corpus-ui-serban.livelyrock-2726c024.eastus.azurecontainerapps.io" TargetMode="External" Id="R314f873e5677452b" /><Relationship Type="http://schemas.openxmlformats.org/officeDocument/2006/relationships/hyperlink" Target="https://tym-corpus-api-serban.livelyrock-2726c024.eastus.azurecontainerapps.io" TargetMode="External" Id="Ra793b3d98d504fe4" /><Relationship Type="http://schemas.openxmlformats.org/officeDocument/2006/relationships/notesSlide" Target="/ppt/notesSlides/notesSlide17.xml" Id="Re426abf8235343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Data'!$A$2:$A$5</c:f>
              <c:strCache>
                <c:ptCount val="4"/>
                <c:pt idx="0">
                  <c:v>NAR</c:v>
                </c:pt>
                <c:pt idx="1">
                  <c:v>REM</c:v>
                </c:pt>
                <c:pt idx="2">
                  <c:v>FIC</c:v>
                </c:pt>
                <c:pt idx="3">
                  <c:v>GEN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627</c:v>
                </c:pt>
                <c:pt idx="1">
                  <c:v>66</c:v>
                </c:pt>
                <c:pt idx="2">
                  <c:v>50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Data'!$A$2:$A$7</c:f>
              <c:strCache>
                <c:ptCount val="6"/>
                <c:pt idx="0">
                  <c:v>Class</c:v>
                </c:pt>
                <c:pt idx="1">
                  <c:v>Tense</c:v>
                </c:pt>
                <c:pt idx="2">
                  <c:v>TIMEX</c:v>
                </c:pt>
                <c:pt idx="3">
                  <c:v>TLINK</c:v>
                </c:pt>
                <c:pt idx="4">
                  <c:v>SLINK</c:v>
                </c:pt>
                <c:pt idx="5">
                  <c:v>ALINK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5947</c:v>
                </c:pt>
                <c:pt idx="1">
                  <c:v>5920</c:v>
                </c:pt>
                <c:pt idx="2">
                  <c:v>1144</c:v>
                </c:pt>
                <c:pt idx="3">
                  <c:v>4808</c:v>
                </c:pt>
                <c:pt idx="4">
                  <c:v>2133</c:v>
                </c:pt>
                <c:pt idx="5">
                  <c:v>199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Examples</c:v>
          </c:tx>
          <c:spPr>
            <a:solidFill xmlns:a="http://schemas.openxmlformats.org/drawingml/2006/main">
              <a:srgbClr val="167D8D"/>
            </a:solidFill>
          </c:spPr>
          <c:cat>
            <c:strRef>
              <c:f>'Chart Data'!$A$2:$A$5</c:f>
              <c:strCache>
                <c:ptCount val="4"/>
                <c:pt idx="0">
                  <c:v>Model component checks</c:v>
                </c:pt>
                <c:pt idx="1">
                  <c:v>Private model snapshots</c:v>
                </c:pt>
                <c:pt idx="2">
                  <c:v>API and workbench</c:v>
                </c:pt>
                <c:pt idx="3">
                  <c:v>Corpus and benchmark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11</c:v>
                </c:pt>
                <c:pt idx="1">
                  <c:v>20</c:v>
                </c:pt>
                <c:pt idx="2">
                  <c:v>44</c:v>
                </c:pt>
                <c:pt idx="3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9364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7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E2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9BB34-28E0-41F4-B16D-642F808A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TYM and ML.NET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119F1-4420-4B2A-A97C-473AB13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Grouped diagnostics and narrative annotation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97959-FE78-4DA0-8708-C2B23F4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D9E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D9E1"/>
                </a:solidFill>
                <a:latin typeface="Arial"/>
                <a:ea typeface="Arial"/>
                <a:cs typeface="Arial"/>
              </a:rPr>
              <a:t>2 October 2026</a:t>
            </a:r>
          </a:p>
        </p:txBody>
      </p:sp>
    </p:spTree>
    <p:extLst>
      <p:ext uri="{BB962C8B-B14F-4D97-AF65-F5344CB8AC3E}">
        <p14:creationId xmlns:p14="http://schemas.microsoft.com/office/powerpoint/2010/main" val="37086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D21AB-4FBD-4F64-8B9A-8DA4B92D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The time-yard model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81375"/>
                <a:gridCol w="7439025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in the narrative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 event mention with actor, location, action and temporal anchor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segment (TS)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contiguous narrative span with a shared temporal perspective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 track (TT)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Segments arranged along a narrative strand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relation (TREL)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 directed constraint between segment endpoints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0F765-0DDF-437D-A01E-B2053170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Text order and story order can differ. Explicit anchors and reviewed relations preserve partial chronology.</a:t>
            </a:r>
          </a:p>
        </p:txBody>
      </p:sp>
    </p:spTree>
    <p:extLst>
      <p:ext uri="{BB962C8B-B14F-4D97-AF65-F5344CB8AC3E}">
        <p14:creationId xmlns:p14="http://schemas.microsoft.com/office/powerpoint/2010/main" val="20656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6EEEC-8D9A-44BE-BB0B-D381CE6D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Research evidence and current implementation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571875"/>
                <a:gridCol w="3914775"/>
              </a:tblGrid>
              <a:tr h="952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 or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Historical CNN in the paper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2,000 event instances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58.9% accuracy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about 58.7% macro F1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corpus training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Ten task/language classifiers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21,666 task examples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Saved ML.NET artifacts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Current grouped diagnostic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Six TimeBank label tasks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Supplied spans and endpoints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out-of-fold rows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Unknown annotation adjudication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6D46-9924-45CC-9EB9-42D7EAEB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current run uses lexical ML.NET classifiers. The historical CNN metrics describe the paper’s experiment.</a:t>
            </a:r>
          </a:p>
        </p:txBody>
      </p:sp>
    </p:spTree>
    <p:extLst>
      <p:ext uri="{BB962C8B-B14F-4D97-AF65-F5344CB8AC3E}">
        <p14:creationId xmlns:p14="http://schemas.microsoft.com/office/powerpoint/2010/main" val="1180350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9BCE1-36CF-4D2A-99A6-4D7CB8E2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Corpus provenance and import audit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867150"/>
                <a:gridCol w="4191000"/>
              </a:tblGrid>
              <a:tr h="10120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Corpus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material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decision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parallel narrative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One story in two languages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751 segments and 764 relations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Duplicate XML variants add no rows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1,515 task examples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Ro-TimeBank ISO-TimeML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157 of 183 documents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task examples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mixed documents quarantined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ambiguous signal link skipped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10120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Annotation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Exploratory training/diagnostics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Human adjudication unverified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6C165-336C-4333-A95F-B8C501C1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paired TYM translations share one story. ISO-TimeML labels keep separate task namespaces.</a:t>
            </a:r>
          </a:p>
        </p:txBody>
      </p:sp>
    </p:spTree>
    <p:extLst>
      <p:ext uri="{BB962C8B-B14F-4D97-AF65-F5344CB8AC3E}">
        <p14:creationId xmlns:p14="http://schemas.microsoft.com/office/powerpoint/2010/main" val="436323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AEDEA-D0BB-46A7-9E3C-E5599392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Ten corpus classifiers trained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438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1571625"/>
                <a:gridCol w="2238375"/>
                <a:gridCol w="1962150"/>
              </a:tblGrid>
              <a:tr h="400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Classes</a:t>
                      </a:r>
                    </a:p>
                  </a:txBody>
                  <a:tcPr marL="152400" marR="133350" marT="47625" marB="47625" anchor="ctr">
                    <a:solidFill>
                      <a:srgbClr val="142D4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segment_type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375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temporal_relation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382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event_class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event_tense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timex_type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slink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52400" marR="133350" marT="47625" marB="476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47625" marB="47625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D67DB-1979-43EF-A263-DAB59AF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Four TYM models use 1,515 examples. Six ISO-TimeML models use 20,151 examples.</a:t>
            </a:r>
          </a:p>
        </p:txBody>
      </p:sp>
    </p:spTree>
    <p:extLst>
      <p:ext uri="{BB962C8B-B14F-4D97-AF65-F5344CB8AC3E}">
        <p14:creationId xmlns:p14="http://schemas.microsoft.com/office/powerpoint/2010/main" val="1287268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7CE83-FFA5-45E6-91E2-1EF0ED29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Training coverage is uneven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0F1E6-DB24-4ADB-9DDE-EB90A5DE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TYM segment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5B321-CB03-4867-ACB9-3A26DD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Ro-TimeBank task examples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047875"/>
          <a:ext xmlns:a="http://schemas.openxmlformats.org/drawingml/2006/main" cx="4857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8f5bbae5344431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981700" y="2019300"/>
          <a:ext xmlns:a="http://schemas.openxmlformats.org/drawingml/2006/main" cx="5619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9548dd512e47a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B82E2-8DBF-4BBA-BB4D-74059C2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NAR accounts for 83.5% of the supplied TYM segments. ALINK has 199 examples across five classes.</a:t>
            </a:r>
          </a:p>
        </p:txBody>
      </p:sp>
    </p:spTree>
    <p:extLst>
      <p:ext uri="{BB962C8B-B14F-4D97-AF65-F5344CB8AC3E}">
        <p14:creationId xmlns:p14="http://schemas.microsoft.com/office/powerpoint/2010/main" val="243089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D1B2D-BC36-4CD6-B1CE-F16C5C2C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Unlabeled books and private discovery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2571750"/>
                <a:gridCol w="1581150"/>
                <a:gridCol w="3952875"/>
              </a:tblGrid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Files / groups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Passages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Private experiment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raw books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 files / 14 groups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FeaturizeText, seed 42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raw novel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 file / 1 group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K-Means with 8 clusters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Separate language feature space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 classifier probes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5,213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4,734  REM 295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183  GEN 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 classifier probes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Unlabeled chunks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446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 404  REM 24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FIC 16  GEN 2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64FD2-9225-4B92-9B54-29DFA13C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Cluster IDs and predicted chunk counts carry no gold semantic labels or NLP accuracy. Raw text stays private.</a:t>
            </a:r>
          </a:p>
        </p:txBody>
      </p:sp>
    </p:spTree>
    <p:extLst>
      <p:ext uri="{BB962C8B-B14F-4D97-AF65-F5344CB8AC3E}">
        <p14:creationId xmlns:p14="http://schemas.microsoft.com/office/powerpoint/2010/main" val="285147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DE7CB-F0BC-4202-BF7F-955D38AF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ML.NET inference and annotation context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815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Prepare in C#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label families and source provenance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Keep directed relation endpoints and marked target context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 with ML.NET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 n-gram features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SdcaMaximumEntropy multiclass classifier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Predict from artifacts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Load a saved model and score task-specific free text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Return label inventory and provenance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Draft document analysis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Sentence/rule candidates and segment classifier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 offsets and explicit date anchors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18A83-8762-41CC-B025-A81F3BAA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Example: Context: Mâine Mara [TARGET] va pleca [/TARGET] spre munte. Event: va pleca</a:t>
            </a:r>
          </a:p>
        </p:txBody>
      </p:sp>
    </p:spTree>
    <p:extLst>
      <p:ext uri="{BB962C8B-B14F-4D97-AF65-F5344CB8AC3E}">
        <p14:creationId xmlns:p14="http://schemas.microsoft.com/office/powerpoint/2010/main" val="674919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0D544-590B-4803-B6E4-4F7AE6F8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Grouped TimeBank diagnostic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801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scope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20,151 rows from 157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provided_annotation / adjudication_unknown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Grouping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Exact normalized task/language feature duplicates join documents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50 components with 107 cross-document duplicate feature rows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 folds with 6,744, 6,721 and 6,686 rows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Every row receives one out-of-fold prediction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Whole-text comparison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Training-fold majority, SDCA and L-BFGS maximum entropy</a:t>
                      </a:r>
                    </a:p>
                    <a:p>
                      <a:r>
                        <a:rPr sz="180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FeaturizeText, at most 100 iterations, one trainer thread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77E1F-0719-4ECE-9329-165BA3F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Scores classify labels given supplied spans and endpoints. TYM has one source work and remains outside this split.</a:t>
            </a:r>
          </a:p>
        </p:txBody>
      </p:sp>
    </p:spTree>
    <p:extLst>
      <p:ext uri="{BB962C8B-B14F-4D97-AF65-F5344CB8AC3E}">
        <p14:creationId xmlns:p14="http://schemas.microsoft.com/office/powerpoint/2010/main" val="760410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F1F03-71C1-46CD-9AD4-8A18802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Whole-text classification results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24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095375"/>
                <a:gridCol w="2476500"/>
                <a:gridCol w="2476500"/>
                <a:gridCol w="2581275"/>
              </a:tblGrid>
              <a:tr h="58918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Rows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Majority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SDCA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L-BFGS</a:t>
                      </a:r>
                    </a:p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Acc. / F1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5891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51.96%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9.77%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67.18%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40.83%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64.70%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30.64%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5891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5,920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35.05%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7.42%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73.18%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56.17%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68.21%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43.54%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5891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1,144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81.91%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22.51%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86.01%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44.01%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83.04%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27.20%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5891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4,808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21.07%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4.03%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34.21%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14.98%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30.95%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9.60%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5891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2,133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41.12%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14.51%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74.50%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34.17%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71.78%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26.24%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58918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199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34.17%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10.19%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52.26%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40.97%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38.19%</a:t>
                      </a:r>
                    </a:p>
                    <a:p>
                      <a:r>
                        <a:rPr sz="172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16.12%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20C08-7728-4C32-A788-9B0454B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Each cell shows accuracy above macro F1. TLINK remains weak and DATE dominance masks minority TIMEX errors.</a:t>
            </a:r>
          </a:p>
        </p:txBody>
      </p:sp>
    </p:spTree>
    <p:extLst>
      <p:ext uri="{BB962C8B-B14F-4D97-AF65-F5344CB8AC3E}">
        <p14:creationId xmlns:p14="http://schemas.microsoft.com/office/powerpoint/2010/main" val="7014004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74BD9-C394-4438-A8DD-E72F290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Zero-F1 classes in the SDCA diagnostic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457325"/>
          <a:ext xmlns:a="http://schemas.openxmlformats.org/drawingml/2006/main" cx="10820400" cy="4457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4286250"/>
                <a:gridCol w="1905000"/>
                <a:gridCol w="2295525"/>
              </a:tblGrid>
              <a:tr h="40524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class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PERCEPTION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EVENT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PASTPART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TIMEX3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BEGUN_BY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DURING_INV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ENDS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TLINK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IBEFORE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NEG_EVIDENTIAL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ALINK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REINITIATES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FDD6F-3D86-4EDD-B50E-8C47120D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DURING_INV has one supplied row. These failures limit interpretation of aggregate accuracy.</a:t>
            </a:r>
          </a:p>
        </p:txBody>
      </p:sp>
    </p:spTree>
    <p:extLst>
      <p:ext uri="{BB962C8B-B14F-4D97-AF65-F5344CB8AC3E}">
        <p14:creationId xmlns:p14="http://schemas.microsoft.com/office/powerpoint/2010/main" val="437547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359F9-5A15-4DAA-8C10-4DDB598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95 software test cases pass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f6364242c244e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892F6-2910-4F39-91F6-3480FE05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All three suites report zero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E5858-110B-4A62-9123-D7DA4CC0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Passing snapshots verifies recorded outputs. Conditional grouped NLP scores come from separate validation rows.</a:t>
            </a:r>
          </a:p>
        </p:txBody>
      </p:sp>
    </p:spTree>
    <p:extLst>
      <p:ext uri="{BB962C8B-B14F-4D97-AF65-F5344CB8AC3E}">
        <p14:creationId xmlns:p14="http://schemas.microsoft.com/office/powerpoint/2010/main" val="20055177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C7F7A-133F-4BB5-9864-A0A999AF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Selected free-text predictions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3333750"/>
                <a:gridCol w="205740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cue or mention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Prediction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remembered the blue room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TYM segment, English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REM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Mâine Mara va pleca spre munte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tense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primăvara trecută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trei zile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TIMEX type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Ploaia a început să cadă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TimeBank ALINK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INITIATES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D794B-F6EE-41CF-8C74-1987A903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These examples show recognizable temporal cues. They provide descriptive observations from the saved models.</a:t>
            </a:r>
          </a:p>
        </p:txBody>
      </p:sp>
    </p:spTree>
    <p:extLst>
      <p:ext uri="{BB962C8B-B14F-4D97-AF65-F5344CB8AC3E}">
        <p14:creationId xmlns:p14="http://schemas.microsoft.com/office/powerpoint/2010/main" val="13898824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2A384-F695-425E-BA46-49EAED72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Qualitative errors in free text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3695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2000250"/>
                <a:gridCol w="3486150"/>
              </a:tblGrid>
              <a:tr h="9239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Cue and task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label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Qualitative reading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TLINK with “înainte”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Departure before the later arrival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stated ordering suggests BEFORE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Romanian segment with “și-a amintit”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Mara recalls her childhood room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NAR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memory cue suggests REM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English TREL with “at the same time”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Rain stops as the ferry arrives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The concurrent cue suggests SIMULTANEOUS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14AC4-EFA5-47D4-BF4D-44A5D331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The lexical baselines can miss clear cues. Independent annotations must establish error rates.</a:t>
            </a:r>
          </a:p>
        </p:txBody>
      </p:sp>
    </p:spTree>
    <p:extLst>
      <p:ext uri="{BB962C8B-B14F-4D97-AF65-F5344CB8AC3E}">
        <p14:creationId xmlns:p14="http://schemas.microsoft.com/office/powerpoint/2010/main" val="20240188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5A08B-F84C-4B41-9B5D-AF0279D1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Narrative annotation workbench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8105775"/>
              </a:tblGrid>
              <a:tr h="8191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152400" marR="133350" marT="104775" marB="76200" anchor="ctr">
                    <a:solidFill>
                      <a:srgbClr val="142D4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Immutable source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Half-open UTF-16 spans and source hash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Separate normalized corpus input from reviewer text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Typed review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TS, TIMEX and relation editors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Actor, location and perspective fields with evidence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Temporal anchors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Explicit document creation time and local cues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No server-date substitution</a:t>
                      </a:r>
                    </a:p>
                  </a:txBody>
                  <a:tcPr marL="152400" marR="133350" marT="104775" marB="762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Graph views and checks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Review supplied directed edges and simultaneous groups</a:t>
                      </a:r>
                    </a:p>
                    <a:p>
                      <a:r>
                        <a:rPr sz="1875">
                          <a:solidFill>
                            <a:srgbClr val="19364A"/>
                          </a:solidFill>
                          <a:latin typeface="Arial"/>
                          <a:ea typeface="Arial"/>
                          <a:cs typeface="Arial"/>
                        </a:rPr>
                        <a:t>Preserve partial order without forced adjacency or causality</a:t>
                      </a:r>
                    </a:p>
                  </a:txBody>
                  <a:tcPr marL="152400" marR="133350" marT="104775" marB="76200" anchor="ctr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0F686-5BEA-4461-B3BA-DD7E121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Draft analysis proposes annotations. Human adjudication and end-to-end extraction evaluation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10775730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60E9C-CEBB-4E22-B803-4C4DB6F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Independent evaluation and 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F6150-C2B3-4FC0-830E-213BF30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Collect adjudicated annotations from independent narratives in both languages.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Keep parallel translations, chapters from one work and synthetic descendants in the same split group.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Report accuracy, macro F1 and per-class precision/recall. Add segment-boundary and temporal-graph evaluation.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2100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9364A"/>
                </a:solidFill>
                <a:latin typeface="Arial"/>
                <a:ea typeface="Arial"/>
                <a:cs typeface="Arial"/>
              </a:rPr>
              <a:t>Compare the lexical baseline with contextual and sequence models after implementing and evaluating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93B0-F585-437C-BBA8-1AEDEAC1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Human gold is the prerequisite for a generalization claim</a:t>
            </a:r>
          </a:p>
        </p:txBody>
      </p:sp>
    </p:spTree>
    <p:extLst>
      <p:ext uri="{BB962C8B-B14F-4D97-AF65-F5344CB8AC3E}">
        <p14:creationId xmlns:p14="http://schemas.microsoft.com/office/powerpoint/2010/main" val="13122032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B7C8D-893D-403A-ADFF-906996AB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Azure publication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D040D-A1F6-43B0-B045-ED865CA6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D8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D8D"/>
                </a:solidFill>
                <a:latin typeface="Arial"/>
                <a:ea typeface="Arial"/>
                <a:cs typeface="Arial"/>
              </a:rPr>
              <a:t>Planned publication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92136-EB9B-4A19-88EC-3A73B46B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FA626-9362-46BC-B098-A723E671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314f873e5677452b"/>
              </a:rPr>
              <a:t>https://tym-corpus-ui-serban.livelyrock-2726c024.eastus.azurecontainerapps.io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8779B-FCBD-4862-8632-A6826C01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DF784-82D6-4D6D-BB93-2B9404E3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6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6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364A"/>
                </a:solidFill>
                <a:latin typeface="Arial"/>
                <a:ea typeface="Arial"/>
                <a:cs typeface="Arial"/>
                <a:hlinkClick xmlns:r="http://schemas.openxmlformats.org/officeDocument/2006/relationships" r:id="Ra793b3d98d504fe4"/>
              </a:rPr>
              <a:t>https://tym-corpus-api-serban.livelyrock-2726c024.eastus.azurecontainerapps.io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5E803-5F6E-4630-8DDB-9BCE311D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9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979"/>
                </a:solidFill>
                <a:latin typeface="Arial"/>
                <a:ea typeface="Arial"/>
                <a:cs typeface="Arial"/>
              </a:rPr>
              <a:t>Deployment verification will establish the live API behavior and available model endpoints.</a:t>
            </a:r>
          </a:p>
        </p:txBody>
      </p:sp>
    </p:spTree>
    <p:extLst>
      <p:ext uri="{BB962C8B-B14F-4D97-AF65-F5344CB8AC3E}">
        <p14:creationId xmlns:p14="http://schemas.microsoft.com/office/powerpoint/2010/main" val="1080422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2026-10-02T10:45:14.0920000Z</dcterms:created>
  <dcterms:modified xsi:type="dcterms:W3CDTF">2026-10-02T10:45:14.0920000Z</dcterms:modified>
</coreProperties>
</file>
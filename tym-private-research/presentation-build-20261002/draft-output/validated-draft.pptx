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61a3da9184449d" /><Relationship Type="http://schemas.openxmlformats.org/officeDocument/2006/relationships/extended-properties" Target="/docProps/app.xml" Id="Rf2785b1387c248bc" /><Relationship Type="http://schemas.openxmlformats.org/officeDocument/2006/relationships/officeDocument" Target="/ppt/presentation.xml" Id="Ra883e59750d949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6715eab4d54b3f"/>
  </p:sldMasterIdLst>
  <p:notesMasterIdLst>
    <p:notesMasterId xmlns:r="http://schemas.openxmlformats.org/officeDocument/2006/relationships" r:id="Rf6fa398a2dec468e"/>
  </p:notesMasterIdLst>
  <p:sldIdLst>
    <p:sldId xmlns:r="http://schemas.openxmlformats.org/officeDocument/2006/relationships" id="256" r:id="R21b7f53b9e8047d1"/>
    <p:sldId xmlns:r="http://schemas.openxmlformats.org/officeDocument/2006/relationships" id="257" r:id="Rb65842657d9e4bc0"/>
    <p:sldId xmlns:r="http://schemas.openxmlformats.org/officeDocument/2006/relationships" id="258" r:id="R8f8e4ef975554a4a"/>
    <p:sldId xmlns:r="http://schemas.openxmlformats.org/officeDocument/2006/relationships" id="259" r:id="R3c3c1f7b880d4c73"/>
    <p:sldId xmlns:r="http://schemas.openxmlformats.org/officeDocument/2006/relationships" id="260" r:id="Ra65696ba5f494101"/>
    <p:sldId xmlns:r="http://schemas.openxmlformats.org/officeDocument/2006/relationships" id="261" r:id="Rad11420765dd4e07"/>
    <p:sldId xmlns:r="http://schemas.openxmlformats.org/officeDocument/2006/relationships" id="262" r:id="Rb2f624f54c534598"/>
    <p:sldId xmlns:r="http://schemas.openxmlformats.org/officeDocument/2006/relationships" id="263" r:id="Rbc36fb5dda6746a0"/>
    <p:sldId xmlns:r="http://schemas.openxmlformats.org/officeDocument/2006/relationships" id="264" r:id="R30436d243b2c4da1"/>
    <p:sldId xmlns:r="http://schemas.openxmlformats.org/officeDocument/2006/relationships" id="265" r:id="R28aefff12dd84846"/>
    <p:sldId xmlns:r="http://schemas.openxmlformats.org/officeDocument/2006/relationships" id="266" r:id="R38483545e6cf4e4a"/>
    <p:sldId xmlns:r="http://schemas.openxmlformats.org/officeDocument/2006/relationships" id="267" r:id="Ra2797a77da5645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2674d62144790" /><Relationship Type="http://schemas.openxmlformats.org/officeDocument/2006/relationships/slideMaster" Target="/ppt/slideMasters/slideMaster1.xml" Id="R7a6715eab4d54b3f" /><Relationship Type="http://schemas.openxmlformats.org/officeDocument/2006/relationships/notesMaster" Target="/ppt/notesMasters/notesMaster1.xml" Id="Rf6fa398a2dec468e" /><Relationship Type="http://schemas.openxmlformats.org/officeDocument/2006/relationships/presProps" Target="/ppt/presProps.xml" Id="R1a01b6fb2bc24e72" /><Relationship Type="http://schemas.openxmlformats.org/officeDocument/2006/relationships/tableStyles" Target="/ppt/tableStyles.xml" Id="R241828343ba54fa5" /><Relationship Type="http://schemas.openxmlformats.org/officeDocument/2006/relationships/slide" Target="/ppt/slides/slide1.xml" Id="R21b7f53b9e8047d1" /><Relationship Type="http://schemas.openxmlformats.org/officeDocument/2006/relationships/slide" Target="/ppt/slides/slide2.xml" Id="Rb65842657d9e4bc0" /><Relationship Type="http://schemas.openxmlformats.org/officeDocument/2006/relationships/slide" Target="/ppt/slides/slide3.xml" Id="R8f8e4ef975554a4a" /><Relationship Type="http://schemas.openxmlformats.org/officeDocument/2006/relationships/slide" Target="/ppt/slides/slide4.xml" Id="R3c3c1f7b880d4c73" /><Relationship Type="http://schemas.openxmlformats.org/officeDocument/2006/relationships/slide" Target="/ppt/slides/slide5.xml" Id="Ra65696ba5f494101" /><Relationship Type="http://schemas.openxmlformats.org/officeDocument/2006/relationships/slide" Target="/ppt/slides/slide6.xml" Id="Rad11420765dd4e07" /><Relationship Type="http://schemas.openxmlformats.org/officeDocument/2006/relationships/slide" Target="/ppt/slides/slide7.xml" Id="Rb2f624f54c534598" /><Relationship Type="http://schemas.openxmlformats.org/officeDocument/2006/relationships/slide" Target="/ppt/slides/slide8.xml" Id="Rbc36fb5dda6746a0" /><Relationship Type="http://schemas.openxmlformats.org/officeDocument/2006/relationships/slide" Target="/ppt/slides/slide9.xml" Id="R30436d243b2c4da1" /><Relationship Type="http://schemas.openxmlformats.org/officeDocument/2006/relationships/slide" Target="/ppt/slides/slide10.xml" Id="R28aefff12dd84846" /><Relationship Type="http://schemas.openxmlformats.org/officeDocument/2006/relationships/slide" Target="/ppt/slides/slide11.xml" Id="R38483545e6cf4e4a" /><Relationship Type="http://schemas.openxmlformats.org/officeDocument/2006/relationships/slide" Target="/ppt/slides/slide12.xml" Id="Ra2797a77da5645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5815dcf7c745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3f11a625494d51" /><Relationship Type="http://schemas.openxmlformats.org/officeDocument/2006/relationships/notesMaster" Target="/ppt/notesMasters/notesMaster1.xml" Id="Rf3150a54ae7341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ba4ef1c9d94c43" /><Relationship Type="http://schemas.openxmlformats.org/officeDocument/2006/relationships/notesMaster" Target="/ppt/notesMasters/notesMaster1.xml" Id="R4f88da92922846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8d24f894164b08" /><Relationship Type="http://schemas.openxmlformats.org/officeDocument/2006/relationships/notesMaster" Target="/ppt/notesMasters/notesMaster1.xml" Id="Rfb85a9f371c2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968e92b364493c" /><Relationship Type="http://schemas.openxmlformats.org/officeDocument/2006/relationships/notesMaster" Target="/ppt/notesMasters/notesMaster1.xml" Id="R7750c0d2307c45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4a652c1c274837" /><Relationship Type="http://schemas.openxmlformats.org/officeDocument/2006/relationships/notesMaster" Target="/ppt/notesMasters/notesMaster1.xml" Id="Rb8b9d3cf364e48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2b3befcf224672" /><Relationship Type="http://schemas.openxmlformats.org/officeDocument/2006/relationships/notesMaster" Target="/ppt/notesMasters/notesMaster1.xml" Id="R9e5084fd37ee44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1d66bab2084381" /><Relationship Type="http://schemas.openxmlformats.org/officeDocument/2006/relationships/notesMaster" Target="/ppt/notesMasters/notesMaster1.xml" Id="R056463c45fef45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8bd593132a4b65" /><Relationship Type="http://schemas.openxmlformats.org/officeDocument/2006/relationships/notesMaster" Target="/ppt/notesMasters/notesMaster1.xml" Id="Rb2f059178fb543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7276addd964d23" /><Relationship Type="http://schemas.openxmlformats.org/officeDocument/2006/relationships/notesMaster" Target="/ppt/notesMasters/notesMaster1.xml" Id="R78ade418081040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7cab23b0b643a0" /><Relationship Type="http://schemas.openxmlformats.org/officeDocument/2006/relationships/notesMaster" Target="/ppt/notesMasters/notesMaster1.xml" Id="Rdea1812981fa43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78c8816606435a" /><Relationship Type="http://schemas.openxmlformats.org/officeDocument/2006/relationships/notesMaster" Target="/ppt/notesMasters/notesMaster1.xml" Id="R136e38ba7f3c48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31e1ffbfb646c2" /><Relationship Type="http://schemas.openxmlformats.org/officeDocument/2006/relationships/notesMaster" Target="/ppt/notesMasters/notesMaster1.xml" Id="Rd200de96f393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research materials and the verified local ML.NET run dated 2026-10-02. This presentation distinguishes corpus training and component tests from an independent scientific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C:\Users\serba\Documents\ChatGPT\PhD\tym-api\README.md. The baseline assumes one author/narrator perspective. Coreference resolution and speaker attribution remain proposed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AGENTS.md and README.md summarize the supplied paper's historical CNN result. Current evidence: C:\Users\serba\Documents\ChatGPT\PhD\tym-private-research\mlnet-run-20261002/training/*.json and test-results/mlnet-all-tests.trx. No equivalence or reproduction claim links these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C:\Users\serba\Documents\ChatGPT\PhD\tym-private-research\import-report.json; C:\Users\serba\Documents\ChatGPT\PhD\tym-private-research\mlnet-run-20261002\ro-timebank-import-report.json; tools/Tym.Modeling/ro-timebank-exclusions.json. Ro-TimeBank archive SHA256: 6aa0ba361274b2f13a60e9da0c883c380fe0e959297ef86862a91ff3f499d878. No private corpus text appears on these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C:\Users\serba\Documents\ChatGPT\PhD\tym-private-research\mlnet-run-20261002\training/*.json. Each report records status=trained, source_types=[provided_annotation] and its saved model path. Rows count task examples, not independent narratives. No SUP segment examples occur in this supplied annotation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TYM import-report.json segment_labels summed across the supplied English/Romanian pair: NAR=627, REM=66, FIC=50, GEN=8, total=751. Ro-TimeBank task counts from C:\Users\serba\Documents\ChatGPT\PhD\tym-private-research\mlnet-run-20261002\ro-timebank-import-report.json: event_class=5947, event_tense=5920, timex_type=1144, tlink=4808, slink=2133, alink=199. Both charts retain native editable data and embedded workbook snapshots.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tools/Tym.Modeling/Program.cs, TextModelPredictor.cs, import-ro-timebank.py and current README. The illustrative target-marked sentence is an original free-text fixture, not source corpus text. The current corpus classifiers use FeaturizeText and SdcaMaximumEntropy, followed by MapKeyToValue. Saved model prediction supplies a compatible unused label column internally. No transformer participates in these ten fits.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C:\Users\serba\Documents\ChatGPT\PhD\tym-private-research\mlnet-run-20261002\test-results\mlnet-all-tests.trx. Counters total=31, executed=31, passed=31, failed=0. TextModelPredictorUnitTests supplies 11 component cases. CorpusModelPredictionTests supplies 20 cases, two per saved corpus model. Snapshot expectations record observed model behavior, including qualitatively incorrect labels. This is software regression evidence, not a gold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C:\Users\serba\Documents\ChatGPT\PhD\tym-private-research\mlnet-run-20261002\predictions\segment_type_en.json, timebank_event_tense_ro.json, timebank_timex_type_ro.json and timebank_alink_ro.json. All example text is original free text supplied as test input. The descriptions of agreement are qualitative readings, not adjudicated gold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C:\Users\serba\Documents\ChatGPT\PhD\tym-private-research\mlnet-run-20261002\predictions\timebank_tlink_ro.json case free-ro-before-link, C:\Users\serba\Documents\ChatGPT\PhD\tym-private-research\mlnet-run-20261002\predictions\segment_type_ro.json case free-ro-memory, and C:\Users\serba\Documents\ChatGPT\PhD\tym-private-research\mlnet-run-20261002\predictions\temporal_relation_en.json case free-en-concurrent. The before case contains From: a plecat, Signal: înainte, To: a ajuns. Observed prediction AFTER. Cue-based interpretation here is a qualitative diagnosis, not an adjudicated gold annotation.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AGENTS.md; data/README.md; pocs/model-evaluation/README.md; docs/research/2027-corpus-and-synthetic-data-plan.md. These are proposed research steps. The current CLI evaluates classification only and does not yet evaluate event spans, TS boundaries or complete graph consistency. Chapter/document splits should group translations and synthetic descendants.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Deployment source: root agent verification and Azure resource inventory. Publication state is pending verification.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001f9d3b14c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3744f5a3048c6" /><Relationship Type="http://schemas.openxmlformats.org/officeDocument/2006/relationships/slideLayout" Target="/ppt/slideLayouts/slideLayout1.xml" Id="Re1ce393a12874a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ce393a12874a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22d32da83464c" /><Relationship Type="http://schemas.openxmlformats.org/officeDocument/2006/relationships/notesSlide" Target="/ppt/notesSlides/notesSlide1.xml" Id="R485c029ff1ce4e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705f9274f472c" /><Relationship Type="http://schemas.openxmlformats.org/officeDocument/2006/relationships/notesSlide" Target="/ppt/notesSlides/notesSlide2.xml" Id="R2687b464feb249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1f18fdad740a4" /><Relationship Type="http://schemas.openxmlformats.org/officeDocument/2006/relationships/notesSlide" Target="/ppt/notesSlides/notesSlide3.xml" Id="R60c9bccbdff242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48f440d8a43c7" /><Relationship Type="http://schemas.openxmlformats.org/officeDocument/2006/relationships/notesSlide" Target="/ppt/notesSlides/notesSlide4.xml" Id="R1cf821bdf3d64a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e551604f04c33" /><Relationship Type="http://schemas.openxmlformats.org/officeDocument/2006/relationships/notesSlide" Target="/ppt/notesSlides/notesSlide5.xml" Id="Ra5d4a493db5c48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e809fbd254d20" /><Relationship Type="http://schemas.openxmlformats.org/officeDocument/2006/relationships/chart" Target="/ppt/slides/charts/chart1.xml" Id="R84879af1367849a8" /><Relationship Type="http://schemas.openxmlformats.org/officeDocument/2006/relationships/chart" Target="/ppt/slides/charts/chart2.xml" Id="Rbbaa33a2cae345b7" /><Relationship Type="http://schemas.openxmlformats.org/officeDocument/2006/relationships/notesSlide" Target="/ppt/notesSlides/notesSlide6.xml" Id="R247daa17b30c48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331a486ea4087" /><Relationship Type="http://schemas.openxmlformats.org/officeDocument/2006/relationships/notesSlide" Target="/ppt/notesSlides/notesSlide7.xml" Id="R46a3bed4bed549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fc560968347f5" /><Relationship Type="http://schemas.openxmlformats.org/officeDocument/2006/relationships/chart" Target="/ppt/slides/charts/chart3.xml" Id="Rcfc88a32d5cc4fd8" /><Relationship Type="http://schemas.openxmlformats.org/officeDocument/2006/relationships/notesSlide" Target="/ppt/notesSlides/notesSlide8.xml" Id="R839bfb63e60c4a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9b8dd63d743f6" /><Relationship Type="http://schemas.openxmlformats.org/officeDocument/2006/relationships/notesSlide" Target="/ppt/notesSlides/notesSlide9.xml" Id="Re19691d7121946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dff0235214ede" /><Relationship Type="http://schemas.openxmlformats.org/officeDocument/2006/relationships/notesSlide" Target="/ppt/notesSlides/notesSlide10.xml" Id="Rcec90603d5a343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957fdcfb9444d" /><Relationship Type="http://schemas.openxmlformats.org/officeDocument/2006/relationships/notesSlide" Target="/ppt/notesSlides/notesSlide11.xml" Id="Ra136659f23d74f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81556cccf4fbe" /><Relationship Type="http://schemas.openxmlformats.org/officeDocument/2006/relationships/hyperlink" Target="https://tym-ui-serban.livelyrock-2726c024.eastus.azurecontainerapps.io" TargetMode="External" Id="R7d7fd1ca60244ca7" /><Relationship Type="http://schemas.openxmlformats.org/officeDocument/2006/relationships/hyperlink" Target="https://tym-api-serban.livelyrock-2726c024.eastus.azurecontainerapps.io" TargetMode="External" Id="R84cb2dc36c4b4693" /><Relationship Type="http://schemas.openxmlformats.org/officeDocument/2006/relationships/notesSlide" Target="/ppt/notesSlides/notesSlide12.xml" Id="R28a736a712a846a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Data'!$A$2:$A$5</c:f>
              <c:strCache>
                <c:ptCount val="4"/>
                <c:pt idx="0">
                  <c:v>NAR</c:v>
                </c:pt>
                <c:pt idx="1">
                  <c:v>REM</c:v>
                </c:pt>
                <c:pt idx="2">
                  <c:v>FIC</c:v>
                </c:pt>
                <c:pt idx="3">
                  <c:v>GEN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627</c:v>
                </c:pt>
                <c:pt idx="1">
                  <c:v>66</c:v>
                </c:pt>
                <c:pt idx="2">
                  <c:v>50</c:v>
                </c:pt>
                <c:pt idx="3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Data'!$A$2:$A$7</c:f>
              <c:strCache>
                <c:ptCount val="6"/>
                <c:pt idx="0">
                  <c:v>Class</c:v>
                </c:pt>
                <c:pt idx="1">
                  <c:v>Tense</c:v>
                </c:pt>
                <c:pt idx="2">
                  <c:v>TIMEX</c:v>
                </c:pt>
                <c:pt idx="3">
                  <c:v>TLINK</c:v>
                </c:pt>
                <c:pt idx="4">
                  <c:v>SLINK</c:v>
                </c:pt>
                <c:pt idx="5">
                  <c:v>ALINK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5947</c:v>
                </c:pt>
                <c:pt idx="1">
                  <c:v>5920</c:v>
                </c:pt>
                <c:pt idx="2">
                  <c:v>1144</c:v>
                </c:pt>
                <c:pt idx="3">
                  <c:v>4808</c:v>
                </c:pt>
                <c:pt idx="4">
                  <c:v>2133</c:v>
                </c:pt>
                <c:pt idx="5">
                  <c:v>199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Data'!$A$2:$A$3</c:f>
              <c:strCache>
                <c:ptCount val="2"/>
                <c:pt idx="0">
                  <c:v>Synthetic component tests</c:v>
                </c:pt>
                <c:pt idx="1">
                  <c:v>Private corpus snapshots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11</c:v>
                </c:pt>
                <c:pt idx="1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4FD97-513F-473B-AA9D-4B757CE2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TYM and ML.NET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609C1-08EA-4E18-A11F-453F9FAA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Corpus training and prediction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7E4C5-9F39-4F5F-8295-1F3BB371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6D9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D9E1"/>
                </a:solidFill>
                <a:latin typeface="Arial"/>
                <a:ea typeface="Arial"/>
                <a:cs typeface="Arial"/>
              </a:rPr>
              <a:t>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957734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C9068-A81E-40C2-BD0C-04AA0AA3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The time-yard model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81375"/>
                <a:gridCol w="7439025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the narrative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 event mention with actor, location, action and temporal anchor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segment (TS)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contiguous narrative span with a shared temporal perspective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track (TT)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Segments arranged along a narrative strand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 relation (TREL)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directed constraint between segment endpoints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5B0A8-4579-4553-8319-9C001924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Text order and story order can differ. The current baseline keeps a single narrator perspective.</a:t>
            </a:r>
          </a:p>
        </p:txBody>
      </p:sp>
    </p:spTree>
    <p:extLst>
      <p:ext uri="{BB962C8B-B14F-4D97-AF65-F5344CB8AC3E}">
        <p14:creationId xmlns:p14="http://schemas.microsoft.com/office/powerpoint/2010/main" val="1449586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641FA-ED67-4FD3-BE9D-0FF17349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Research evidence and current implementation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571875"/>
                <a:gridCol w="3914775"/>
              </a:tblGrid>
              <a:tr h="952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or scope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result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Historical CNN in the paper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2,000 event instances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58.9% accuracy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about 58.7% macro F1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corpus training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Ten task/language classifiers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21,666 task examples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Models saved as ML.NET artifacts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software checks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11 component tests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 prediction snapshots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31 tests pass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No held-out accuracy estimate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9F4E6-7FA1-4A3A-BF1F-0BF5146E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current run uses lexical ML.NET classifiers. The historical CNN metrics describe the paper’s experiment.</a:t>
            </a:r>
          </a:p>
        </p:txBody>
      </p:sp>
    </p:spTree>
    <p:extLst>
      <p:ext uri="{BB962C8B-B14F-4D97-AF65-F5344CB8AC3E}">
        <p14:creationId xmlns:p14="http://schemas.microsoft.com/office/powerpoint/2010/main" val="16286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A1C36-F7BF-4056-B38D-63BA0620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Corpus provenance and import audit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3867150"/>
                <a:gridCol w="4191000"/>
              </a:tblGrid>
              <a:tr h="10120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Corpus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material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decision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parallel narrative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One story in English and Romanian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751 segments and 764 relations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unresolved relation endpoint skipped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1,515 training examples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Ro-TimeBank ISO-TimeML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157 of 183 documents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training examples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 mixed-language documents quarantined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ambiguous signal link skipped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Annotation provenance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provided_annotation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adjudication_unknown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Training only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Independent adjudicated gold still required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98DE9-A62B-4792-85AF-67D804FC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paired TYM translations share one story. ISO-TimeML labels keep separate task namespaces.</a:t>
            </a:r>
          </a:p>
        </p:txBody>
      </p:sp>
    </p:spTree>
    <p:extLst>
      <p:ext uri="{BB962C8B-B14F-4D97-AF65-F5344CB8AC3E}">
        <p14:creationId xmlns:p14="http://schemas.microsoft.com/office/powerpoint/2010/main" val="336656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9AFD4-48BF-492C-926B-9B664B10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Ten corpus classifiers trained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4438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048250"/>
                <a:gridCol w="1571625"/>
                <a:gridCol w="2238375"/>
                <a:gridCol w="1962150"/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Language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Classes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event_class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event_tense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5,920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1,144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4,808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slink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2,133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199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9B6F6-D82A-4724-A61A-FEEAA476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Four TYM models use 1,515 examples. Six ISO-TimeML models use 20,151 examples.</a:t>
            </a:r>
          </a:p>
        </p:txBody>
      </p:sp>
    </p:spTree>
    <p:extLst>
      <p:ext uri="{BB962C8B-B14F-4D97-AF65-F5344CB8AC3E}">
        <p14:creationId xmlns:p14="http://schemas.microsoft.com/office/powerpoint/2010/main" val="2110953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B0689-758A-4283-B8EC-F83E8A22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Training coverage is uneven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A63D0-CEE0-47A3-B43F-B83269FC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TYM segment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02242-63A4-4C07-918E-62176B97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54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Ro-TimeBank task examples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4857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879af1367849a8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981700" y="2019300"/>
          <a:ext xmlns:a="http://schemas.openxmlformats.org/drawingml/2006/main" cx="5619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aa33a2cae345b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159D7-E6B4-4616-A069-12FE0390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NAR accounts for 83.5% of the supplied TYM segments. ALINK has 199 examples across five classes.</a:t>
            </a:r>
          </a:p>
        </p:txBody>
      </p:sp>
    </p:spTree>
    <p:extLst>
      <p:ext uri="{BB962C8B-B14F-4D97-AF65-F5344CB8AC3E}">
        <p14:creationId xmlns:p14="http://schemas.microsoft.com/office/powerpoint/2010/main" val="8370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F4CFA-E3EE-4288-BC84-74A8647D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ML.NET inference and annotation context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8153400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Import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Preserve label families and provenance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Mark the selected mention with [TARGET] and [/TARGET]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 n-gram features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SdcaMaximumEntropy multiclass classifier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Predict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Load a saved model and score unlabeled free text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Keep directed endpoint contexts for relation tasks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API extraction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Rule extraction and per-attribute evidence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Single author/narrator perspective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39B0E-F8DC-480D-85C5-62386B0A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Example: Context: Mâine Mara [TARGET] va pleca [/TARGET] spre munte. Event: va pleca</a:t>
            </a:r>
          </a:p>
        </p:txBody>
      </p:sp>
    </p:spTree>
    <p:extLst>
      <p:ext uri="{BB962C8B-B14F-4D97-AF65-F5344CB8AC3E}">
        <p14:creationId xmlns:p14="http://schemas.microsoft.com/office/powerpoint/2010/main" val="1177785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4C4F8-1029-4E51-8908-C1013CB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31 software tests pass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6680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c88a32d5cc4fd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66CD9-40F2-4027-BE80-57FB0914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11 component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45F0F-29AE-4BC5-8CCD-7D2207F7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958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20 snapshot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8B90B-20EA-45E3-A9AE-4AA923DD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Temporary model checks save/load behavior</a:t>
            </a:r>
          </a:p>
          <a:p xmlns:a="http://schemas.openxmlformats.org/drawingml/2006/main">
            <a:pPr>
              <a:defRPr sz="18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and rejects blank or missing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9EB24-E2B8-46B7-B96C-F904E2E5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Two original free texts for each of ten models</a:t>
            </a:r>
          </a:p>
          <a:p xmlns:a="http://schemas.openxmlformats.org/drawingml/2006/main">
            <a:pPr>
              <a:defRPr sz="18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Recorded outputs include the errors shown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2F6E3-283B-471A-BEF7-F8688972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Passing snapshots verifies reproducibility of recorded labels. It does not measure prediction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1546787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ECE12-0AD7-4AA6-82DC-900F73F7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Selected free-text predictions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3333750"/>
                <a:gridCol w="20574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cue or mention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label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remembered the blue room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segment, English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Mâine Mara va pleca spre munte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tense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primăvara trecută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 expression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trei zile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 expression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Ploaia a început să cadă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aspectual link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INITIATES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9CABF-F6C3-418D-BDAE-37D9495B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These examples show recognizable temporal cues. They provide descriptive observations from the saved models.</a:t>
            </a:r>
          </a:p>
        </p:txBody>
      </p:sp>
    </p:spTree>
    <p:extLst>
      <p:ext uri="{BB962C8B-B14F-4D97-AF65-F5344CB8AC3E}">
        <p14:creationId xmlns:p14="http://schemas.microsoft.com/office/powerpoint/2010/main" val="1902314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85CD9-3D66-4680-944C-5B3151EF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Qualitative errors in free 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2000250"/>
                <a:gridCol w="3486150"/>
              </a:tblGrid>
              <a:tr h="923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Cue and 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label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Qualitative reading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TLINK with “înainte”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Departure before the later arrival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stated ordering suggests BEFORE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segment with “și-a amintit”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recalls her childhood room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memory cue suggests REM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English TREL with “at the same time”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Rain stops as the ferry arrives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concurrent cue suggests SIMULTANEOUS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67779-DF8F-42D1-960F-E12BC7CE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lexical baselines can miss clear cues. Independent annotations must establish error rates.</a:t>
            </a:r>
          </a:p>
        </p:txBody>
      </p:sp>
    </p:spTree>
    <p:extLst>
      <p:ext uri="{BB962C8B-B14F-4D97-AF65-F5344CB8AC3E}">
        <p14:creationId xmlns:p14="http://schemas.microsoft.com/office/powerpoint/2010/main" val="3603198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69105-CF51-4884-9645-9B679433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Independent evaluation and next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C984A-F6E9-4E09-A0F0-59C50229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Collect adjudicated annotations from independent narratives in both languages.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Split by document or chapter. Keep parallel translations and synthetic descendants in the same training group.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Report accuracy, macro F1 and per-class precision/recall. Add segment-boundary and temporal-graph evaluation.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Compare the lexical baseline with contextual and sequence models after implementing and evaluating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9BF00-3E09-48DE-8E7B-71557030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Human gold is the prerequisite for a generalization claim</a:t>
            </a:r>
          </a:p>
        </p:txBody>
      </p:sp>
    </p:spTree>
    <p:extLst>
      <p:ext uri="{BB962C8B-B14F-4D97-AF65-F5344CB8AC3E}">
        <p14:creationId xmlns:p14="http://schemas.microsoft.com/office/powerpoint/2010/main" val="10225629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0EC50-45DB-4294-A0DD-1BA57C36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Azure publication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DCF07-853E-4251-AFFD-66E3ABF0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Planned publication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20509-72EC-466F-AC3E-970D7575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Web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CC4F5-B2DB-48D3-8FAB-FB1E0147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7d7fd1ca60244ca7"/>
              </a:rPr>
              <a:t>https://tym-ui-serban.livelyrock-2726c024.eastus.azurecontainerapps.io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B3A7A-E524-4DDA-A817-71543C0F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4E0B6-DCFF-4EE4-96D5-3287CB65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84cb2dc36c4b4693"/>
              </a:rPr>
              <a:t>https://tym-api-serban.livelyrock-2726c024.eastus.azurecontainerapps.io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5973E-5F24-4708-A52D-80336DF7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Deployment verification will establish the live API behavior and available model endpoints.</a:t>
            </a:r>
          </a:p>
        </p:txBody>
      </p:sp>
    </p:spTree>
    <p:extLst>
      <p:ext uri="{BB962C8B-B14F-4D97-AF65-F5344CB8AC3E}">
        <p14:creationId xmlns:p14="http://schemas.microsoft.com/office/powerpoint/2010/main" val="1553008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2026-10-01T23:09:25.7220000Z</dcterms:created>
  <dcterms:modified xsi:type="dcterms:W3CDTF">2026-10-01T23:09:25.7220000Z</dcterms:modified>
</coreProperties>
</file>
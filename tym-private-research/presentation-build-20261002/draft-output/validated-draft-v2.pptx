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fa64c11fdb4d43" /><Relationship Type="http://schemas.openxmlformats.org/officeDocument/2006/relationships/extended-properties" Target="/docProps/app.xml" Id="Rb2f5a6e8a1a54bd3" /><Relationship Type="http://schemas.openxmlformats.org/officeDocument/2006/relationships/officeDocument" Target="/ppt/presentation.xml" Id="Ra96aaaa6fc1e4d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f1f8e57cb84fed"/>
  </p:sldMasterIdLst>
  <p:notesMasterIdLst>
    <p:notesMasterId xmlns:r="http://schemas.openxmlformats.org/officeDocument/2006/relationships" r:id="R8ef5ca072ebd41dc"/>
  </p:notesMasterIdLst>
  <p:sldIdLst>
    <p:sldId xmlns:r="http://schemas.openxmlformats.org/officeDocument/2006/relationships" id="256" r:id="R132bfb1468f94598"/>
    <p:sldId xmlns:r="http://schemas.openxmlformats.org/officeDocument/2006/relationships" id="257" r:id="R18700858600b44b7"/>
    <p:sldId xmlns:r="http://schemas.openxmlformats.org/officeDocument/2006/relationships" id="258" r:id="R63c8fc57166b4f50"/>
    <p:sldId xmlns:r="http://schemas.openxmlformats.org/officeDocument/2006/relationships" id="259" r:id="Re42d3957fcb549bc"/>
    <p:sldId xmlns:r="http://schemas.openxmlformats.org/officeDocument/2006/relationships" id="260" r:id="R0b83a5b3f5a44e0f"/>
    <p:sldId xmlns:r="http://schemas.openxmlformats.org/officeDocument/2006/relationships" id="261" r:id="R8903cc013f18404b"/>
    <p:sldId xmlns:r="http://schemas.openxmlformats.org/officeDocument/2006/relationships" id="262" r:id="R69aeb891099e4002"/>
    <p:sldId xmlns:r="http://schemas.openxmlformats.org/officeDocument/2006/relationships" id="263" r:id="R07b26f8e67fa4c8c"/>
    <p:sldId xmlns:r="http://schemas.openxmlformats.org/officeDocument/2006/relationships" id="264" r:id="Rfe93605600034b4e"/>
    <p:sldId xmlns:r="http://schemas.openxmlformats.org/officeDocument/2006/relationships" id="265" r:id="R6e42bfa18d4b45cf"/>
    <p:sldId xmlns:r="http://schemas.openxmlformats.org/officeDocument/2006/relationships" id="266" r:id="R0b9aaf8826b54fe3"/>
    <p:sldId xmlns:r="http://schemas.openxmlformats.org/officeDocument/2006/relationships" id="267" r:id="Rd67792e3ca3143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82c14d6d5a45c6" /><Relationship Type="http://schemas.openxmlformats.org/officeDocument/2006/relationships/slideMaster" Target="/ppt/slideMasters/slideMaster1.xml" Id="Re9f1f8e57cb84fed" /><Relationship Type="http://schemas.openxmlformats.org/officeDocument/2006/relationships/notesMaster" Target="/ppt/notesMasters/notesMaster1.xml" Id="R8ef5ca072ebd41dc" /><Relationship Type="http://schemas.openxmlformats.org/officeDocument/2006/relationships/presProps" Target="/ppt/presProps.xml" Id="Rd6acd349fc0140ed" /><Relationship Type="http://schemas.openxmlformats.org/officeDocument/2006/relationships/tableStyles" Target="/ppt/tableStyles.xml" Id="R6ecbe9bb775d4dff" /><Relationship Type="http://schemas.openxmlformats.org/officeDocument/2006/relationships/slide" Target="/ppt/slides/slide1.xml" Id="R132bfb1468f94598" /><Relationship Type="http://schemas.openxmlformats.org/officeDocument/2006/relationships/slide" Target="/ppt/slides/slide2.xml" Id="R18700858600b44b7" /><Relationship Type="http://schemas.openxmlformats.org/officeDocument/2006/relationships/slide" Target="/ppt/slides/slide3.xml" Id="R63c8fc57166b4f50" /><Relationship Type="http://schemas.openxmlformats.org/officeDocument/2006/relationships/slide" Target="/ppt/slides/slide4.xml" Id="Re42d3957fcb549bc" /><Relationship Type="http://schemas.openxmlformats.org/officeDocument/2006/relationships/slide" Target="/ppt/slides/slide5.xml" Id="R0b83a5b3f5a44e0f" /><Relationship Type="http://schemas.openxmlformats.org/officeDocument/2006/relationships/slide" Target="/ppt/slides/slide6.xml" Id="R8903cc013f18404b" /><Relationship Type="http://schemas.openxmlformats.org/officeDocument/2006/relationships/slide" Target="/ppt/slides/slide7.xml" Id="R69aeb891099e4002" /><Relationship Type="http://schemas.openxmlformats.org/officeDocument/2006/relationships/slide" Target="/ppt/slides/slide8.xml" Id="R07b26f8e67fa4c8c" /><Relationship Type="http://schemas.openxmlformats.org/officeDocument/2006/relationships/slide" Target="/ppt/slides/slide9.xml" Id="Rfe93605600034b4e" /><Relationship Type="http://schemas.openxmlformats.org/officeDocument/2006/relationships/slide" Target="/ppt/slides/slide10.xml" Id="R6e42bfa18d4b45cf" /><Relationship Type="http://schemas.openxmlformats.org/officeDocument/2006/relationships/slide" Target="/ppt/slides/slide11.xml" Id="R0b9aaf8826b54fe3" /><Relationship Type="http://schemas.openxmlformats.org/officeDocument/2006/relationships/slide" Target="/ppt/slides/slide12.xml" Id="Rd67792e3ca3143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ef5950dd734f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28b0b083d949ba" /><Relationship Type="http://schemas.openxmlformats.org/officeDocument/2006/relationships/notesMaster" Target="/ppt/notesMasters/notesMaster1.xml" Id="R831561ab1c9c41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6f816610ed47c9" /><Relationship Type="http://schemas.openxmlformats.org/officeDocument/2006/relationships/notesMaster" Target="/ppt/notesMasters/notesMaster1.xml" Id="R00598554e0fa4e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f955a74dd4e64" /><Relationship Type="http://schemas.openxmlformats.org/officeDocument/2006/relationships/notesMaster" Target="/ppt/notesMasters/notesMaster1.xml" Id="R67cfdea2a3324a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fdc1c6e05c488c" /><Relationship Type="http://schemas.openxmlformats.org/officeDocument/2006/relationships/notesMaster" Target="/ppt/notesMasters/notesMaster1.xml" Id="R4b137e2b307548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e9aa5ee5af4686" /><Relationship Type="http://schemas.openxmlformats.org/officeDocument/2006/relationships/notesMaster" Target="/ppt/notesMasters/notesMaster1.xml" Id="R0b30af96e5ba44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c7fe6f638443b3" /><Relationship Type="http://schemas.openxmlformats.org/officeDocument/2006/relationships/notesMaster" Target="/ppt/notesMasters/notesMaster1.xml" Id="R201bd35f810d45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e1d06eda5e42fd" /><Relationship Type="http://schemas.openxmlformats.org/officeDocument/2006/relationships/notesMaster" Target="/ppt/notesMasters/notesMaster1.xml" Id="R4069579a21424e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376b48b5b547c5" /><Relationship Type="http://schemas.openxmlformats.org/officeDocument/2006/relationships/notesMaster" Target="/ppt/notesMasters/notesMaster1.xml" Id="Rbc3b83b2155c4c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c1cb998fa74bb6" /><Relationship Type="http://schemas.openxmlformats.org/officeDocument/2006/relationships/notesMaster" Target="/ppt/notesMasters/notesMaster1.xml" Id="R385fa06375ed41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bbede2c0964afb" /><Relationship Type="http://schemas.openxmlformats.org/officeDocument/2006/relationships/notesMaster" Target="/ppt/notesMasters/notesMaster1.xml" Id="R60251ab348304c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b7d4cdc2664185" /><Relationship Type="http://schemas.openxmlformats.org/officeDocument/2006/relationships/notesMaster" Target="/ppt/notesMasters/notesMaster1.xml" Id="R9fe56efefb5f45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bab45c8876428a" /><Relationship Type="http://schemas.openxmlformats.org/officeDocument/2006/relationships/notesMaster" Target="/ppt/notesMasters/notesMaster1.xml" Id="Rfed90b87710f4b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research materials and the verified local ML.NET run dated 2026-10-02. This presentation distinguishes corpus training and component tests from an independent scientific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C:\Users\serba\Documents\ChatGPT\PhD\tym-api\README.md. The baseline assumes one author/narrator perspective. Coreference resolution and speaker attribution remain proposed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AGENTS.md and README.md summarize the supplied paper's historical CNN result. Current evidence: C:\Users\serba\Documents\ChatGPT\PhD\tym-private-research\mlnet-run-20261002/training/*.json and test-results/mlnet-all-tests.trx. No equivalence or reproduction claim links these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C:\Users\serba\Documents\ChatGPT\PhD\tym-private-research\import-report.json; C:\Users\serba\Documents\ChatGPT\PhD\tym-private-research\mlnet-run-20261002\ro-timebank-import-report.json; tools/Tym.Modeling/ro-timebank-exclusions.json. Ro-TimeBank archive SHA256: 6aa0ba361274b2f13a60e9da0c883c380fe0e959297ef86862a91ff3f499d878. No private corpus text appears on these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C:\Users\serba\Documents\ChatGPT\PhD\tym-private-research\mlnet-run-20261002\training/*.json. Each report records status=trained, source_types=[provided_annotation] and its saved model path. Rows count task examples, not independent narratives. No SUP segment examples occur in this supplied annotation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TYM import-report.json segment_labels summed across the supplied English/Romanian pair: NAR=627, REM=66, FIC=50, GEN=8, total=751. Ro-TimeBank task counts from C:\Users\serba\Documents\ChatGPT\PhD\tym-private-research\mlnet-run-20261002\ro-timebank-import-report.json: event_class=5947, event_tense=5920, timex_type=1144, tlink=4808, slink=2133, alink=199. Both charts retain native editable data and embedded workbook snapshots.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tools/Tym.Modeling/Program.cs, TextModelPredictor.cs, import-ro-timebank.py and current README. The illustrative target-marked sentence is an original free-text fixture, not source corpus text. The current corpus classifiers use FeaturizeText and SdcaMaximumEntropy, followed by MapKeyToValue. Saved model prediction supplies a compatible unused label column internally. No transformer participates in these ten fits.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C:\Users\serba\Documents\ChatGPT\PhD\tym-private-research\mlnet-run-20261002\test-results\mlnet-all-tests.trx. Counters total=31, executed=31, passed=31, failed=0. TextModelPredictorUnitTests supplies 11 component cases. CorpusModelPredictionTests supplies 20 cases, two per saved corpus model. Snapshot expectations record observed model behavior, including qualitatively incorrect labels. This is software regression evidence, not a gold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C:\Users\serba\Documents\ChatGPT\PhD\tym-private-research\mlnet-run-20261002\predictions\segment_type_en.json, timebank_event_tense_ro.json, timebank_timex_type_ro.json and timebank_alink_ro.json. All example text is original free text supplied as test input. The descriptions of agreement are qualitative readings, not adjudicated gold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C:\Users\serba\Documents\ChatGPT\PhD\tym-private-research\mlnet-run-20261002\predictions\timebank_tlink_ro.json case free-ro-before-link, C:\Users\serba\Documents\ChatGPT\PhD\tym-private-research\mlnet-run-20261002\predictions\segment_type_ro.json case free-ro-memory, and C:\Users\serba\Documents\ChatGPT\PhD\tym-private-research\mlnet-run-20261002\predictions\temporal_relation_en.json case free-en-concurrent. The before case contains From: a plecat, Signal: înainte, To: a ajuns. Observed prediction AFTER. Cue-based interpretation here is a qualitative diagnosis, not an adjudicated gold annotation.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AGENTS.md; data/README.md; pocs/model-evaluation/README.md; docs/research/2027-corpus-and-synthetic-data-plan.md. These are proposed research steps. The current CLI evaluates classification only and does not yet evaluate event spans, TS boundaries or complete graph consistency. Chapter/document splits should group translations and synthetic descendants.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Deployment source: root agent verification and Azure resource inventory. Publication state is pending verification.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d6e2c283044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7011dc6ef34775" /><Relationship Type="http://schemas.openxmlformats.org/officeDocument/2006/relationships/slideLayout" Target="/ppt/slideLayouts/slideLayout1.xml" Id="Rf34cabb50a2345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4cabb50a2345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795fb3af34ef4" /><Relationship Type="http://schemas.openxmlformats.org/officeDocument/2006/relationships/notesSlide" Target="/ppt/notesSlides/notesSlide1.xml" Id="R41a41c8d416746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14238f90f4ef8" /><Relationship Type="http://schemas.openxmlformats.org/officeDocument/2006/relationships/notesSlide" Target="/ppt/notesSlides/notesSlide2.xml" Id="Rdebae845187f4e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a37a9cee74577" /><Relationship Type="http://schemas.openxmlformats.org/officeDocument/2006/relationships/notesSlide" Target="/ppt/notesSlides/notesSlide3.xml" Id="R193fffc8725343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188ae76fc49f5" /><Relationship Type="http://schemas.openxmlformats.org/officeDocument/2006/relationships/notesSlide" Target="/ppt/notesSlides/notesSlide4.xml" Id="R34a49c7320184d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3e38d86864fd9" /><Relationship Type="http://schemas.openxmlformats.org/officeDocument/2006/relationships/notesSlide" Target="/ppt/notesSlides/notesSlide5.xml" Id="R2f30962e43894c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39ef65bb840bf" /><Relationship Type="http://schemas.openxmlformats.org/officeDocument/2006/relationships/chart" Target="/ppt/slides/charts/chart1.xml" Id="Rf430baa2f5e14af9" /><Relationship Type="http://schemas.openxmlformats.org/officeDocument/2006/relationships/chart" Target="/ppt/slides/charts/chart2.xml" Id="R1a4b00702da44f9b" /><Relationship Type="http://schemas.openxmlformats.org/officeDocument/2006/relationships/notesSlide" Target="/ppt/notesSlides/notesSlide6.xml" Id="R6b4eaedd0a6d43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3158b7df3450c" /><Relationship Type="http://schemas.openxmlformats.org/officeDocument/2006/relationships/notesSlide" Target="/ppt/notesSlides/notesSlide7.xml" Id="R40a1a68c41ae44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1d37f56034b64" /><Relationship Type="http://schemas.openxmlformats.org/officeDocument/2006/relationships/chart" Target="/ppt/slides/charts/chart3.xml" Id="R300566afa8dd4594" /><Relationship Type="http://schemas.openxmlformats.org/officeDocument/2006/relationships/notesSlide" Target="/ppt/notesSlides/notesSlide8.xml" Id="R991b6e381f6748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335d431be4878" /><Relationship Type="http://schemas.openxmlformats.org/officeDocument/2006/relationships/notesSlide" Target="/ppt/notesSlides/notesSlide9.xml" Id="Rcd038e00ebeb48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5952e4cf342ec" /><Relationship Type="http://schemas.openxmlformats.org/officeDocument/2006/relationships/notesSlide" Target="/ppt/notesSlides/notesSlide10.xml" Id="R8118e54664e64a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1ed603d004a7c" /><Relationship Type="http://schemas.openxmlformats.org/officeDocument/2006/relationships/notesSlide" Target="/ppt/notesSlides/notesSlide11.xml" Id="R180a1865380c43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af4b8415b43cb" /><Relationship Type="http://schemas.openxmlformats.org/officeDocument/2006/relationships/hyperlink" Target="https://tym-ui-serban.livelyrock-2726c024.eastus.azurecontainerapps.io" TargetMode="External" Id="R583ea2214c1f4a18" /><Relationship Type="http://schemas.openxmlformats.org/officeDocument/2006/relationships/hyperlink" Target="https://tym-api-serban.livelyrock-2726c024.eastus.azurecontainerapps.io" TargetMode="External" Id="R82a19ab77f7741a8" /><Relationship Type="http://schemas.openxmlformats.org/officeDocument/2006/relationships/notesSlide" Target="/ppt/notesSlides/notesSlide12.xml" Id="R59d6618357e3480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Data'!$A$2:$A$5</c:f>
              <c:strCache>
                <c:ptCount val="4"/>
                <c:pt idx="0">
                  <c:v>NAR</c:v>
                </c:pt>
                <c:pt idx="1">
                  <c:v>REM</c:v>
                </c:pt>
                <c:pt idx="2">
                  <c:v>FIC</c:v>
                </c:pt>
                <c:pt idx="3">
                  <c:v>GEN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627</c:v>
                </c:pt>
                <c:pt idx="1">
                  <c:v>66</c:v>
                </c:pt>
                <c:pt idx="2">
                  <c:v>50</c:v>
                </c:pt>
                <c:pt idx="3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Data'!$A$2:$A$7</c:f>
              <c:strCache>
                <c:ptCount val="6"/>
                <c:pt idx="0">
                  <c:v>Class</c:v>
                </c:pt>
                <c:pt idx="1">
                  <c:v>Tense</c:v>
                </c:pt>
                <c:pt idx="2">
                  <c:v>TIMEX</c:v>
                </c:pt>
                <c:pt idx="3">
                  <c:v>TLINK</c:v>
                </c:pt>
                <c:pt idx="4">
                  <c:v>SLINK</c:v>
                </c:pt>
                <c:pt idx="5">
                  <c:v>ALINK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5947</c:v>
                </c:pt>
                <c:pt idx="1">
                  <c:v>5920</c:v>
                </c:pt>
                <c:pt idx="2">
                  <c:v>1144</c:v>
                </c:pt>
                <c:pt idx="3">
                  <c:v>4808</c:v>
                </c:pt>
                <c:pt idx="4">
                  <c:v>2133</c:v>
                </c:pt>
                <c:pt idx="5">
                  <c:v>199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Data'!$A$2:$A$3</c:f>
              <c:strCache>
                <c:ptCount val="2"/>
                <c:pt idx="0">
                  <c:v>Synthetic component tests</c:v>
                </c:pt>
                <c:pt idx="1">
                  <c:v>Private corpus snapshots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11</c:v>
                </c:pt>
                <c:pt idx="1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754B4-1820-4BEE-9F77-88921D2E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TYM and ML.NET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6859E-0E4E-4387-9F74-80C29044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Corpus training and prediction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B8EE0-9A7D-43C0-8CCE-E50AFC3B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6D9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D9E1"/>
                </a:solidFill>
                <a:latin typeface="Arial"/>
                <a:ea typeface="Arial"/>
                <a:cs typeface="Arial"/>
              </a:rPr>
              <a:t>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05138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6C2C9-6FBB-4D63-BBB4-3526590D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The time-yard model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81375"/>
                <a:gridCol w="7439025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the narrative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 event mention with actor, location, action and temporal anchor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segment (TS)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contiguous narrative span with a shared temporal perspective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track (TT)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Segments arranged along a narrative strand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 relation (TREL)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directed constraint between segment endpoints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6D04D-70D2-45BF-A225-8D211A85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Text order and story order can differ. The current baseline keeps a single narrator perspective.</a:t>
            </a:r>
          </a:p>
        </p:txBody>
      </p:sp>
    </p:spTree>
    <p:extLst>
      <p:ext uri="{BB962C8B-B14F-4D97-AF65-F5344CB8AC3E}">
        <p14:creationId xmlns:p14="http://schemas.microsoft.com/office/powerpoint/2010/main" val="1105021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B50E0-DF7C-49B2-AD38-C0F61982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Research evidence and current implementation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571875"/>
                <a:gridCol w="3914775"/>
              </a:tblGrid>
              <a:tr h="952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or scope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result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Historical CNN in the paper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2,000 event instances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58.9% accuracy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about 58.7% macro F1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corpus training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Ten task/language classifiers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21,666 task examples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Models saved as ML.NET artifacts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software checks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11 component tests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 prediction snapshots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31 tests pass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No held-out accuracy estimate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07357-7BB9-4B63-AE66-DC3AAB6B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current run uses lexical ML.NET classifiers. The historical CNN metrics describe the paper’s experiment.</a:t>
            </a:r>
          </a:p>
        </p:txBody>
      </p:sp>
    </p:spTree>
    <p:extLst>
      <p:ext uri="{BB962C8B-B14F-4D97-AF65-F5344CB8AC3E}">
        <p14:creationId xmlns:p14="http://schemas.microsoft.com/office/powerpoint/2010/main" val="788068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FB022-2FED-40F1-B34E-0908273E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Corpus provenance and import audit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3867150"/>
                <a:gridCol w="4191000"/>
              </a:tblGrid>
              <a:tr h="10120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Corpus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material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decision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parallel narrative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One story in two languages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751 segments and 764 relations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unresolved endpoint skipped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1,515 training examples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Ro-TimeBank ISO-TimeML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157 of 183 documents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training examples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 mixed documents quarantined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ambiguous signal link skipped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Annotation provenance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provided_annotation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adjudication_unknown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Training only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Adjudication remains unverified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2EF22-3D62-4A5E-A48B-48C894F8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paired TYM translations share one story. ISO-TimeML labels keep separate task namespaces.</a:t>
            </a:r>
          </a:p>
        </p:txBody>
      </p:sp>
    </p:spTree>
    <p:extLst>
      <p:ext uri="{BB962C8B-B14F-4D97-AF65-F5344CB8AC3E}">
        <p14:creationId xmlns:p14="http://schemas.microsoft.com/office/powerpoint/2010/main" val="660653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4AF18-63B8-4386-A2AD-8524240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Ten corpus classifiers trained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4438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048250"/>
                <a:gridCol w="1571625"/>
                <a:gridCol w="2238375"/>
                <a:gridCol w="1962150"/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Language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Classes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event_class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event_tense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5,920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1,144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4,808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slink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2,133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199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2668D-73E2-4D94-890F-11DF5ADA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Four TYM models use 1,515 examples. Six ISO-TimeML models use 20,151 examples.</a:t>
            </a:r>
          </a:p>
        </p:txBody>
      </p:sp>
    </p:spTree>
    <p:extLst>
      <p:ext uri="{BB962C8B-B14F-4D97-AF65-F5344CB8AC3E}">
        <p14:creationId xmlns:p14="http://schemas.microsoft.com/office/powerpoint/2010/main" val="1253763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BBEE8-759A-4F8C-8863-B19EC42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Training coverage is uneven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001DB-268C-4C7F-9DC0-FDA555B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TYM segment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94697-DADC-49A0-83FA-7B7E55A2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54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Ro-TimeBank task examples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4857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30baa2f5e14af9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981700" y="2019300"/>
          <a:ext xmlns:a="http://schemas.openxmlformats.org/drawingml/2006/main" cx="5619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4b00702da44f9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821C8-3BE4-4091-B078-1C9A3400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NAR accounts for 83.5% of the supplied TYM segments. ALINK has 199 examples across five classes.</a:t>
            </a:r>
          </a:p>
        </p:txBody>
      </p:sp>
    </p:spTree>
    <p:extLst>
      <p:ext uri="{BB962C8B-B14F-4D97-AF65-F5344CB8AC3E}">
        <p14:creationId xmlns:p14="http://schemas.microsoft.com/office/powerpoint/2010/main" val="11865081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034EF-3E7E-44B6-9F6A-C971747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ML.NET inference and annotation context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8153400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Import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Preserve label families and provenance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Mark the selected mention with [TARGET] and [/TARGET]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 n-gram features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SdcaMaximumEntropy multiclass classifier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Predict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Load a saved model and score unlabeled free text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Keep directed endpoint contexts for relation tasks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API extraction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Rule extraction and per-attribute evidence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Single author/narrator perspective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C18E0-180C-43EE-897E-C3F2D977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Example: Context: Mâine Mara [TARGET] va pleca [/TARGET] spre munte. Event: va pleca</a:t>
            </a:r>
          </a:p>
        </p:txBody>
      </p:sp>
    </p:spTree>
    <p:extLst>
      <p:ext uri="{BB962C8B-B14F-4D97-AF65-F5344CB8AC3E}">
        <p14:creationId xmlns:p14="http://schemas.microsoft.com/office/powerpoint/2010/main" val="74416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18049-65E9-4443-B3F8-B59B35E9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31 software tests pass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6680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0566afa8dd4594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CA5D3-050A-4738-80A6-9096BD41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11 component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0A191-E63F-426B-BE89-FE77CE78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958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20 snapshot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3CC7E-962A-416E-8D3C-3A5244F0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Temporary model checks save/load behavior</a:t>
            </a:r>
          </a:p>
          <a:p xmlns:a="http://schemas.openxmlformats.org/drawingml/2006/main">
            <a:pPr>
              <a:defRPr sz="18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and rejects blank or missing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F32BE-08B4-4B72-B870-ACE6B33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Two original free texts for each of ten models</a:t>
            </a:r>
          </a:p>
          <a:p xmlns:a="http://schemas.openxmlformats.org/drawingml/2006/main">
            <a:pPr>
              <a:defRPr sz="18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Recorded outputs include the errors shown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4DDA1-1BE0-4741-B8B9-D8FA9BA8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Passing snapshots verifies reproducibility of recorded labels. It does not measure prediction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1382440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154EF-BC4F-4E2B-8E0E-30BC3684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Selected free-text predictions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3333750"/>
                <a:gridCol w="20574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cue or mention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remembered the blue room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segment, English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Mâine Mara va pleca spre munte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tense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primăvara trecută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 type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trei zile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 type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Ploaia a început să cadă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INITIATES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2A2AD-3A1E-49BA-B131-E4D5C3E4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These examples show recognizable temporal cues. They provide descriptive observations from the saved models.</a:t>
            </a:r>
          </a:p>
        </p:txBody>
      </p:sp>
    </p:spTree>
    <p:extLst>
      <p:ext uri="{BB962C8B-B14F-4D97-AF65-F5344CB8AC3E}">
        <p14:creationId xmlns:p14="http://schemas.microsoft.com/office/powerpoint/2010/main" val="3175223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3F4DB-AAAC-4A5E-B563-ABD57750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Qualitative errors in free 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2000250"/>
                <a:gridCol w="3486150"/>
              </a:tblGrid>
              <a:tr h="923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Cue and 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label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Qualitative reading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TLINK with “înainte”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Departure before the later arrival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stated ordering suggests BEFORE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segment with “și-a amintit”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recalls her childhood room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memory cue suggests REM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English TREL with “at the same time”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Rain stops as the ferry arrives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concurrent cue suggests SIMULTANEOUS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699C2-D47C-4F04-AEF4-0941BF1E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lexical baselines can miss clear cues. Independent annotations must establish error rates.</a:t>
            </a:r>
          </a:p>
        </p:txBody>
      </p:sp>
    </p:spTree>
    <p:extLst>
      <p:ext uri="{BB962C8B-B14F-4D97-AF65-F5344CB8AC3E}">
        <p14:creationId xmlns:p14="http://schemas.microsoft.com/office/powerpoint/2010/main" val="1210457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69938-A580-4836-B6B0-AD9FDFFE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Independent evaluation and next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A2298-780B-4CA3-88DB-5D3D603F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Collect adjudicated annotations from independent narratives in both languages.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Split by document or chapter. Keep parallel translations and synthetic descendants in the same training group.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Report accuracy, macro F1 and per-class precision/recall. Add segment-boundary and temporal-graph evaluation.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Compare the lexical baseline with contextual and sequence models after implementing and evaluating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F9523-2A01-4054-B9A6-5EF9566E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Human gold is the prerequisite for a generalization claim</a:t>
            </a:r>
          </a:p>
        </p:txBody>
      </p:sp>
    </p:spTree>
    <p:extLst>
      <p:ext uri="{BB962C8B-B14F-4D97-AF65-F5344CB8AC3E}">
        <p14:creationId xmlns:p14="http://schemas.microsoft.com/office/powerpoint/2010/main" val="8791976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B15CA-A786-4658-AD95-9B039AD1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Azure publication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04F00-B19B-43A0-87A2-8B26DBEC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Planned publication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1D858-270C-4ACB-B801-3805721E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Web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19FD6-229F-4263-8CFE-121125CE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583ea2214c1f4a18"/>
              </a:rPr>
              <a:t>https://tym-ui-serban.livelyrock-2726c024.eastus.azurecontainerapps.io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A98A8-B9F0-4F29-A5D2-70A41557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C60EE-C89A-40CA-96E2-8E64B606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82a19ab77f7741a8"/>
              </a:rPr>
              <a:t>https://tym-api-serban.livelyrock-2726c024.eastus.azurecontainerapps.io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D7318-17A4-4B28-A2E1-09762AE3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Deployment verification will establish the live API behavior and available model endpoints.</a:t>
            </a:r>
          </a:p>
        </p:txBody>
      </p:sp>
    </p:spTree>
    <p:extLst>
      <p:ext uri="{BB962C8B-B14F-4D97-AF65-F5344CB8AC3E}">
        <p14:creationId xmlns:p14="http://schemas.microsoft.com/office/powerpoint/2010/main" val="42408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2026-10-01T23:11:22.8200000Z</dcterms:created>
  <dcterms:modified xsi:type="dcterms:W3CDTF">2026-10-01T23:11:22.8200000Z</dcterms:modified>
</coreProperties>
</file>
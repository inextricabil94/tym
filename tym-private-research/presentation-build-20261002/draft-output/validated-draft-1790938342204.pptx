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96d9a585340fa" /><Relationship Type="http://schemas.openxmlformats.org/officeDocument/2006/relationships/extended-properties" Target="/docProps/app.xml" Id="Rbb7c8da37be74e3c" /><Relationship Type="http://schemas.openxmlformats.org/officeDocument/2006/relationships/officeDocument" Target="/ppt/presentation.xml" Id="Re8e3597fe9d6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771e4efac4d04"/>
  </p:sldMasterIdLst>
  <p:notesMasterIdLst>
    <p:notesMasterId xmlns:r="http://schemas.openxmlformats.org/officeDocument/2006/relationships" r:id="R96c9ac771c454f02"/>
  </p:notesMasterIdLst>
  <p:sldIdLst>
    <p:sldId xmlns:r="http://schemas.openxmlformats.org/officeDocument/2006/relationships" id="256" r:id="Rf35007c070c54890"/>
    <p:sldId xmlns:r="http://schemas.openxmlformats.org/officeDocument/2006/relationships" id="257" r:id="Re18d9aa3ebb9414f"/>
    <p:sldId xmlns:r="http://schemas.openxmlformats.org/officeDocument/2006/relationships" id="258" r:id="R5e9313f106a844d0"/>
    <p:sldId xmlns:r="http://schemas.openxmlformats.org/officeDocument/2006/relationships" id="259" r:id="R258d07629578415d"/>
    <p:sldId xmlns:r="http://schemas.openxmlformats.org/officeDocument/2006/relationships" id="260" r:id="Rd2a123ce0f6a485a"/>
    <p:sldId xmlns:r="http://schemas.openxmlformats.org/officeDocument/2006/relationships" id="261" r:id="Rb11b0e7694364957"/>
    <p:sldId xmlns:r="http://schemas.openxmlformats.org/officeDocument/2006/relationships" id="262" r:id="R17a5458144504732"/>
    <p:sldId xmlns:r="http://schemas.openxmlformats.org/officeDocument/2006/relationships" id="263" r:id="R34761a78470246c7"/>
    <p:sldId xmlns:r="http://schemas.openxmlformats.org/officeDocument/2006/relationships" id="264" r:id="R18f221369da74af5"/>
    <p:sldId xmlns:r="http://schemas.openxmlformats.org/officeDocument/2006/relationships" id="265" r:id="R9dd134aa8f8a43f3"/>
    <p:sldId xmlns:r="http://schemas.openxmlformats.org/officeDocument/2006/relationships" id="266" r:id="R9cda77acf78b478b"/>
    <p:sldId xmlns:r="http://schemas.openxmlformats.org/officeDocument/2006/relationships" id="267" r:id="R9e91f3b212c34e3e"/>
    <p:sldId xmlns:r="http://schemas.openxmlformats.org/officeDocument/2006/relationships" id="268" r:id="Rffa5e4bb72644f4b"/>
    <p:sldId xmlns:r="http://schemas.openxmlformats.org/officeDocument/2006/relationships" id="269" r:id="R7bf92d4e5ed34ab9"/>
    <p:sldId xmlns:r="http://schemas.openxmlformats.org/officeDocument/2006/relationships" id="270" r:id="R504a5100821f452c"/>
    <p:sldId xmlns:r="http://schemas.openxmlformats.org/officeDocument/2006/relationships" id="271" r:id="Rb3ff16b075504cb2"/>
    <p:sldId xmlns:r="http://schemas.openxmlformats.org/officeDocument/2006/relationships" id="272" r:id="R053b1d517932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ef04535e84519" /><Relationship Type="http://schemas.openxmlformats.org/officeDocument/2006/relationships/slideMaster" Target="/ppt/slideMasters/slideMaster1.xml" Id="R95c771e4efac4d04" /><Relationship Type="http://schemas.openxmlformats.org/officeDocument/2006/relationships/notesMaster" Target="/ppt/notesMasters/notesMaster1.xml" Id="R96c9ac771c454f02" /><Relationship Type="http://schemas.openxmlformats.org/officeDocument/2006/relationships/presProps" Target="/ppt/presProps.xml" Id="R0e39b2f0ff704bb8" /><Relationship Type="http://schemas.openxmlformats.org/officeDocument/2006/relationships/tableStyles" Target="/ppt/tableStyles.xml" Id="Rff245a9a49cd4ce7" /><Relationship Type="http://schemas.openxmlformats.org/officeDocument/2006/relationships/slide" Target="/ppt/slides/slide1.xml" Id="Rf35007c070c54890" /><Relationship Type="http://schemas.openxmlformats.org/officeDocument/2006/relationships/slide" Target="/ppt/slides/slide2.xml" Id="Re18d9aa3ebb9414f" /><Relationship Type="http://schemas.openxmlformats.org/officeDocument/2006/relationships/slide" Target="/ppt/slides/slide3.xml" Id="R5e9313f106a844d0" /><Relationship Type="http://schemas.openxmlformats.org/officeDocument/2006/relationships/slide" Target="/ppt/slides/slide4.xml" Id="R258d07629578415d" /><Relationship Type="http://schemas.openxmlformats.org/officeDocument/2006/relationships/slide" Target="/ppt/slides/slide5.xml" Id="Rd2a123ce0f6a485a" /><Relationship Type="http://schemas.openxmlformats.org/officeDocument/2006/relationships/slide" Target="/ppt/slides/slide6.xml" Id="Rb11b0e7694364957" /><Relationship Type="http://schemas.openxmlformats.org/officeDocument/2006/relationships/slide" Target="/ppt/slides/slide7.xml" Id="R17a5458144504732" /><Relationship Type="http://schemas.openxmlformats.org/officeDocument/2006/relationships/slide" Target="/ppt/slides/slide8.xml" Id="R34761a78470246c7" /><Relationship Type="http://schemas.openxmlformats.org/officeDocument/2006/relationships/slide" Target="/ppt/slides/slide9.xml" Id="R18f221369da74af5" /><Relationship Type="http://schemas.openxmlformats.org/officeDocument/2006/relationships/slide" Target="/ppt/slides/slide10.xml" Id="R9dd134aa8f8a43f3" /><Relationship Type="http://schemas.openxmlformats.org/officeDocument/2006/relationships/slide" Target="/ppt/slides/slide11.xml" Id="R9cda77acf78b478b" /><Relationship Type="http://schemas.openxmlformats.org/officeDocument/2006/relationships/slide" Target="/ppt/slides/slide12.xml" Id="R9e91f3b212c34e3e" /><Relationship Type="http://schemas.openxmlformats.org/officeDocument/2006/relationships/slide" Target="/ppt/slides/slide13.xml" Id="Rffa5e4bb72644f4b" /><Relationship Type="http://schemas.openxmlformats.org/officeDocument/2006/relationships/slide" Target="/ppt/slides/slide14.xml" Id="R7bf92d4e5ed34ab9" /><Relationship Type="http://schemas.openxmlformats.org/officeDocument/2006/relationships/slide" Target="/ppt/slides/slide15.xml" Id="R504a5100821f452c" /><Relationship Type="http://schemas.openxmlformats.org/officeDocument/2006/relationships/slide" Target="/ppt/slides/slide16.xml" Id="Rb3ff16b075504cb2" /><Relationship Type="http://schemas.openxmlformats.org/officeDocument/2006/relationships/slide" Target="/ppt/slides/slide17.xml" Id="R053b1d517932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3aa2c0844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874e29ccf411b" /><Relationship Type="http://schemas.openxmlformats.org/officeDocument/2006/relationships/notesMaster" Target="/ppt/notesMasters/notesMaster1.xml" Id="R734de5b2159341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9e4fe44644663" /><Relationship Type="http://schemas.openxmlformats.org/officeDocument/2006/relationships/notesMaster" Target="/ppt/notesMasters/notesMaster1.xml" Id="Rdefa52cdeb03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07b26b1874d11" /><Relationship Type="http://schemas.openxmlformats.org/officeDocument/2006/relationships/notesMaster" Target="/ppt/notesMasters/notesMaster1.xml" Id="R2a122b8ae1c3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13878be944d73" /><Relationship Type="http://schemas.openxmlformats.org/officeDocument/2006/relationships/notesMaster" Target="/ppt/notesMasters/notesMaster1.xml" Id="Rcc2a432cbc7a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3314fd60fd44fd" /><Relationship Type="http://schemas.openxmlformats.org/officeDocument/2006/relationships/notesMaster" Target="/ppt/notesMasters/notesMaster1.xml" Id="Re61931c34aa248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a9b80d908e445e" /><Relationship Type="http://schemas.openxmlformats.org/officeDocument/2006/relationships/notesMaster" Target="/ppt/notesMasters/notesMaster1.xml" Id="R7d8b99c55c0f46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223eb1ad664124" /><Relationship Type="http://schemas.openxmlformats.org/officeDocument/2006/relationships/notesMaster" Target="/ppt/notesMasters/notesMaster1.xml" Id="Rda5f6c4954a749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98b984521e46cf" /><Relationship Type="http://schemas.openxmlformats.org/officeDocument/2006/relationships/notesMaster" Target="/ppt/notesMasters/notesMaster1.xml" Id="R6fe00c6c68d444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99f94aab949f5" /><Relationship Type="http://schemas.openxmlformats.org/officeDocument/2006/relationships/notesMaster" Target="/ppt/notesMasters/notesMaster1.xml" Id="R75800d6839284d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aa9199b67a4fbb" /><Relationship Type="http://schemas.openxmlformats.org/officeDocument/2006/relationships/notesMaster" Target="/ppt/notesMasters/notesMaster1.xml" Id="R8384ef2b32504b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0029decec14075" /><Relationship Type="http://schemas.openxmlformats.org/officeDocument/2006/relationships/notesMaster" Target="/ppt/notesMasters/notesMaster1.xml" Id="R86f8f26e98d545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7e8b45d1ef4b01" /><Relationship Type="http://schemas.openxmlformats.org/officeDocument/2006/relationships/notesMaster" Target="/ppt/notesMasters/notesMaster1.xml" Id="Rba27a5b7811747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af86cc4a2c422f" /><Relationship Type="http://schemas.openxmlformats.org/officeDocument/2006/relationships/notesMaster" Target="/ppt/notesMasters/notesMaster1.xml" Id="R4a76923e39904f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f7cd3eda014680" /><Relationship Type="http://schemas.openxmlformats.org/officeDocument/2006/relationships/notesMaster" Target="/ppt/notesMasters/notesMaster1.xml" Id="R066e569f83974c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4c862fefe34176" /><Relationship Type="http://schemas.openxmlformats.org/officeDocument/2006/relationships/notesMaster" Target="/ppt/notesMasters/notesMaster1.xml" Id="R22ffedfd181d41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0969349dda4447" /><Relationship Type="http://schemas.openxmlformats.org/officeDocument/2006/relationships/notesMaster" Target="/ppt/notesMasters/notesMaster1.xml" Id="R859d1fedc3104c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4124b7837945fe" /><Relationship Type="http://schemas.openxmlformats.org/officeDocument/2006/relationships/notesMaster" Target="/ppt/notesMasters/notesMaster1.xml" Id="R9eb8ef68c0524c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Deep Learning manuscript pp. 5-9 and Practical Results pp. 3-12. Current workbench supports draft fields and reviewer edits. Event coreference, actor identities and full perspective attribution remain unimplemented.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 and structured full-data training reports. Ten baseline classifiers plus six structured-channel TimeBank classifiers reuse 21,666 unique task rows. Rows count annotation examples, not independent narratives. No SUP segment examples occur in the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C:\Users\serba\Documents\ChatGPT\PhD\tym-private-research\mlnet-run-20261002\books-import-report.json, books_ro_cluster_report.json, books_en_cluster_report.json and books_*_segment_predictions.json. C# preparation: tym-corpus-app/tools/Tym.Corpus.Data/BookImporter.cs. No source-book passages appear in this deck. The separate Tash Aw raw editions have zero exact TS offset matches and need reconciliation before span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tym-corpus-app/tools/Tym.Modeling/Program.cs, TextModelPredictor.cs, tools/Tym.Corpus.Data and src/Tym.Corpus.Api. The illustrative target-marked sentence is original free text. The independent solution targets .NET 10 LTS with ML.NET 5.0.0, while initial full-data model artifacts precede the framework migration.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C:\Users\serba\Documents\ChatGPT\PhD\tym-private-research\mlnet-run-20261002\grouped-mlnet-benchmark.json; tym-corpus-app/tools/Tym.Benchmark/Program.cs and GroupedSplit.cs. Featurizer/label mapping fit only training rows. Algorithms and 100-iteration settings were fixed before examining scores. This retrospective diagnostic has no separate model-selection holdout and exports no model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C:\Users\serba\Documents\ChatGPT\PhD\tym-private-research\mlnet-run-20261002\grouped-mlnet-benchmark.json. Pooled out-of-fold accuracy and fixed-inventory macro F1 percentages. Algorithms sdca/lbfgs/majority are trained independently for each task and fold. Task label inventories differ, so no combined NLP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C:\Users\serba\Documents\ChatGPT\PhD\tym-private-research\mlnet-run-20261002\grouped-mlnet-structured-benchmark.json, algorithms.structured_sdca. Same input and document/duplicate-feature folds as the whole-text comparison. Separate target/context and ordered From/To/Signal channels improve all six pooled scores. A channel empty in training is omitted using training data only. This variant was added after examining the initial comparison. It is exploratory and has no independent model-selection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C:\Users\serba\Documents\ChatGPT\PhD\tym-private-research\mlnet-run-20261002\test-results\standalone-modeling-tests.trx (31), standalone-api-tests.trx (44), private-book-data-tests.trx (20). API cases cover typed spans, explicit DCT and limited partial-graph constraints. Research cases cover C# preparation, grouping/metrics and actual private Books.zip checks. Snapshots record model behavior including qualitative errors. Counts measure software assertions, not linguistic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and C:\Users\serba\Documents\ChatGPT\PhD\tym-private-research\mlnet-run-20261002\predictions\temporal_relation_en.json case free-en-concurrent. The before case contains From: a plecat, Signal: înainte, To: a ajuns. Observed prediction AFTER. Cue-based interpretation here is a qualitative diagnosis, not an adjudicated gold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updated paper pp. 5-9, State of the Art pp. 10-13, tym-corpus-app/src/Tym.Corpus.Api and TypeScript frontend source. Current analysis uses lexical candidates, sentence rules and an existing segment-mode model. It has no event coreference, actor identity resolution, full interval closure or automatic causal relation extraction. The validator checks schema, typed endpoints, source hash/span validity and limited strict-cycle/simultaneous contradictions. Human edits never automatically become human_gold.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c45e2399c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ce09f6c67409b" /><Relationship Type="http://schemas.openxmlformats.org/officeDocument/2006/relationships/slideLayout" Target="/ppt/slideLayouts/slideLayout1.xml" Id="R27f3b65d25e1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f3b65d25e1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72fcc63084ab6" /><Relationship Type="http://schemas.openxmlformats.org/officeDocument/2006/relationships/notesSlide" Target="/ppt/notesSlides/notesSlide1.xml" Id="R1a6fda1ce1b9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51b6b33e44472" /><Relationship Type="http://schemas.openxmlformats.org/officeDocument/2006/relationships/notesSlide" Target="/ppt/notesSlides/notesSlide2.xml" Id="R6f7c7785953b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30f379884ea1" /><Relationship Type="http://schemas.openxmlformats.org/officeDocument/2006/relationships/notesSlide" Target="/ppt/notesSlides/notesSlide3.xml" Id="R4aa33689a1ad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baf524df54b6c" /><Relationship Type="http://schemas.openxmlformats.org/officeDocument/2006/relationships/notesSlide" Target="/ppt/notesSlides/notesSlide4.xml" Id="Rcbb02bd11f9149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6b910fec34487" /><Relationship Type="http://schemas.openxmlformats.org/officeDocument/2006/relationships/notesSlide" Target="/ppt/notesSlides/notesSlide5.xml" Id="R45c27add419b47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e5a5be4a844bc" /><Relationship Type="http://schemas.openxmlformats.org/officeDocument/2006/relationships/chart" Target="/ppt/slides/charts/chart1.xml" Id="Rf2f8173d5fb64a87" /><Relationship Type="http://schemas.openxmlformats.org/officeDocument/2006/relationships/chart" Target="/ppt/slides/charts/chart2.xml" Id="R36955532cf4d4b36" /><Relationship Type="http://schemas.openxmlformats.org/officeDocument/2006/relationships/notesSlide" Target="/ppt/notesSlides/notesSlide6.xml" Id="Rd9f0de4e40a348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4274fd7094198" /><Relationship Type="http://schemas.openxmlformats.org/officeDocument/2006/relationships/notesSlide" Target="/ppt/notesSlides/notesSlide7.xml" Id="R0101a4140b2a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419cad1ab4c6b" /><Relationship Type="http://schemas.openxmlformats.org/officeDocument/2006/relationships/notesSlide" Target="/ppt/notesSlides/notesSlide8.xml" Id="R60678058ec1744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f40d78c9469a" /><Relationship Type="http://schemas.openxmlformats.org/officeDocument/2006/relationships/notesSlide" Target="/ppt/notesSlides/notesSlide9.xml" Id="R202ba1e8847e47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65a2fb44d47e2" /><Relationship Type="http://schemas.openxmlformats.org/officeDocument/2006/relationships/notesSlide" Target="/ppt/notesSlides/notesSlide10.xml" Id="R067838e7659746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27eca95ab4fe4" /><Relationship Type="http://schemas.openxmlformats.org/officeDocument/2006/relationships/notesSlide" Target="/ppt/notesSlides/notesSlide11.xml" Id="R179dec377d1f4c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57fe81ec4139" /><Relationship Type="http://schemas.openxmlformats.org/officeDocument/2006/relationships/chart" Target="/ppt/slides/charts/chart3.xml" Id="R6cff42f57ccf4132" /><Relationship Type="http://schemas.openxmlformats.org/officeDocument/2006/relationships/notesSlide" Target="/ppt/notesSlides/notesSlide12.xml" Id="R371d00776cec40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f526b7cfa4f9e" /><Relationship Type="http://schemas.openxmlformats.org/officeDocument/2006/relationships/notesSlide" Target="/ppt/notesSlides/notesSlide13.xml" Id="R2adebde0b00c46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310bea0fc41b3" /><Relationship Type="http://schemas.openxmlformats.org/officeDocument/2006/relationships/notesSlide" Target="/ppt/notesSlides/notesSlide14.xml" Id="Rde70e7ea0b0a4f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f69416c0a46c0" /><Relationship Type="http://schemas.openxmlformats.org/officeDocument/2006/relationships/notesSlide" Target="/ppt/notesSlides/notesSlide15.xml" Id="Re956d8dd614545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2a6e463214b3d" /><Relationship Type="http://schemas.openxmlformats.org/officeDocument/2006/relationships/notesSlide" Target="/ppt/notesSlides/notesSlide16.xml" Id="R093a9dc1be2144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124b02cb4555" /><Relationship Type="http://schemas.openxmlformats.org/officeDocument/2006/relationships/hyperlink" Target="https://tym-corpus-ui-serban.livelyrock-2726c024.eastus.azurecontainerapps.io" TargetMode="External" Id="R749937f32f584f7c" /><Relationship Type="http://schemas.openxmlformats.org/officeDocument/2006/relationships/hyperlink" Target="https://tym-corpus-api-serban.livelyrock-2726c024.eastus.azurecontainerapps.io" TargetMode="External" Id="R235cdc3873514e75" /><Relationship Type="http://schemas.openxmlformats.org/officeDocument/2006/relationships/notesSlide" Target="/ppt/notesSlides/notesSlide17.xml" Id="R7dab4d4961f24d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NAR</c:v>
                </c:pt>
                <c:pt idx="1">
                  <c:v>REM</c:v>
                </c:pt>
                <c:pt idx="2">
                  <c:v>FIC</c:v>
                </c:pt>
                <c:pt idx="3">
                  <c:v>GEN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627</c:v>
                </c:pt>
                <c:pt idx="1">
                  <c:v>66</c:v>
                </c:pt>
                <c:pt idx="2">
                  <c:v>50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Data'!$A$2:$A$7</c:f>
              <c:strCache>
                <c:ptCount val="6"/>
                <c:pt idx="0">
                  <c:v>Class</c:v>
                </c:pt>
                <c:pt idx="1">
                  <c:v>Tense</c:v>
                </c:pt>
                <c:pt idx="2">
                  <c:v>TIMEX</c:v>
                </c:pt>
                <c:pt idx="3">
                  <c:v>TLINK</c:v>
                </c:pt>
                <c:pt idx="4">
                  <c:v>SLINK</c:v>
                </c:pt>
                <c:pt idx="5">
                  <c:v>ALINK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5947</c:v>
                </c:pt>
                <c:pt idx="1">
                  <c:v>5920</c:v>
                </c:pt>
                <c:pt idx="2">
                  <c:v>1144</c:v>
                </c:pt>
                <c:pt idx="3">
                  <c:v>4808</c:v>
                </c:pt>
                <c:pt idx="4">
                  <c:v>2133</c:v>
                </c:pt>
                <c:pt idx="5">
                  <c:v>199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Data'!$A$2:$A$4</c:f>
              <c:strCache>
                <c:ptCount val="3"/>
                <c:pt idx="0">
                  <c:v>Modeling and artifact checks</c:v>
                </c:pt>
                <c:pt idx="1">
                  <c:v>API and workbench</c:v>
                </c:pt>
                <c:pt idx="2">
                  <c:v>Corpus and benchmark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31</c:v>
                </c:pt>
                <c:pt idx="1">
                  <c:v>44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D9AF-4181-4BBD-BA85-7D947B8B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BA9EB-2B30-4791-BE65-A450C73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Grouped diagnostics and narrative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E09FB-B2B5-43AB-A52E-EC9867B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238389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9CE42-2266-4CE9-81FB-C82D373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C976F-EF1A-485D-8490-82ECD374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Explicit anchors and reviewed relations preserve partial chronology.</a:t>
            </a:r>
          </a:p>
        </p:txBody>
      </p:sp>
    </p:spTree>
    <p:extLst>
      <p:ext uri="{BB962C8B-B14F-4D97-AF65-F5344CB8AC3E}">
        <p14:creationId xmlns:p14="http://schemas.microsoft.com/office/powerpoint/2010/main" val="1141334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3B515-0729-437B-A487-CFFC9BF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task/language classifiers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task examples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Saved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grouped diagnostic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Six TimeBank label tasks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Supplied spans and endpoints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out-of-fold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Unknown annotation adjudication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BF751-9C55-4EDF-B17A-36D2EC8D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2082477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64A1C-3634-427F-9C8F-F4B1B8F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two languages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Duplicate XML variants add no rows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task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task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 documents quarantined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Exploratory training/diagnostics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Human adjudication unverified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3CFD6-A510-4F6D-87BD-0757AF9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273881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03038-2C10-4522-AFC1-C97B4A7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Sixteen supervised classifiers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1238250"/>
                <a:gridCol w="1619250"/>
                <a:gridCol w="1428750"/>
                <a:gridCol w="243840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Variants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7D772-5CB8-4E5C-ACF5-E6F3FA43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and two variants of each TimeBank task. Two additional K-Means artifacts remain private.</a:t>
            </a:r>
          </a:p>
        </p:txBody>
      </p:sp>
    </p:spTree>
    <p:extLst>
      <p:ext uri="{BB962C8B-B14F-4D97-AF65-F5344CB8AC3E}">
        <p14:creationId xmlns:p14="http://schemas.microsoft.com/office/powerpoint/2010/main" val="1357009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AF75B-DE77-4747-BF2A-8EB7E8A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C9C3F-2427-421C-AF5A-8FD67C91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D2ED0-12B3-4822-B00C-F4905DA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f8173d5fb64a87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955532cf4d4b3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14EF2-48B1-4922-8CE8-571FB7E8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994099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BCF28-C18C-44DA-BD04-51B30A36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Unlabeled books and private discovery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571750"/>
                <a:gridCol w="1581150"/>
                <a:gridCol w="3952875"/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Files / groups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Passages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Private experiment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raw books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files / 14 groups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seed 42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raw novel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file / 1 group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language feature space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 classifier probes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4,734  REM 295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183  GEN 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 classifier probes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404  REM 24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16  GEN 2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1322B-3013-4859-8CA2-24E4F627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Cluster IDs and predicted chunk counts carry no gold semantic labels or NLP accuracy. Raw text stays private.</a:t>
            </a:r>
          </a:p>
        </p:txBody>
      </p:sp>
    </p:spTree>
    <p:extLst>
      <p:ext uri="{BB962C8B-B14F-4D97-AF65-F5344CB8AC3E}">
        <p14:creationId xmlns:p14="http://schemas.microsoft.com/office/powerpoint/2010/main" val="830433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A9655-EE85-4B18-B85C-E10C895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Prepare in C#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source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relation endpoints and marked target context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 with ML.NET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 from artifacts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task-specific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Return label inventory and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Draft document analysis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Sentence/rule candidates and segment classifier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 offsets and explicit date anchors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A2E9-BFDD-45A9-BF42-B544480F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1440112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DF67C-28C1-4ACB-85F5-336C6B25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Grouped TimeBank diagnostic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801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rows from 157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 / 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Grouping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Exact normalized task/language feature duplicates join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50 components with 107 cross-document duplicate feature rows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 folds with 6,744, 6,721 and 6,686 rows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Every row receives one out-of-fold prediction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Whole-text comparison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Training-fold majority, SDCA and L-BFGS maximum entropy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at most 100 iterations, one trainer thread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9682A-6D57-4B27-84E2-3CDD56B3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Scores classify labels given supplied spans and endpoints. TYM has one source work and remains outside this split.</a:t>
            </a:r>
          </a:p>
        </p:txBody>
      </p:sp>
    </p:spTree>
    <p:extLst>
      <p:ext uri="{BB962C8B-B14F-4D97-AF65-F5344CB8AC3E}">
        <p14:creationId xmlns:p14="http://schemas.microsoft.com/office/powerpoint/2010/main" val="997092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84A8A-28E4-4EC0-B5A6-75BFBBE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Whole-text classification results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24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095375"/>
                <a:gridCol w="2476500"/>
                <a:gridCol w="2476500"/>
                <a:gridCol w="258127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Majority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SDCA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L-BFGS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51.96 / 9.77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67.18 / 40.83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64.70 / 30.64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35.05 / 7.42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73.18 / 56.17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68.21 / 43.54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81.91 / 22.51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86.01 / 44.01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83.04 / 27.20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21.07 / 4.03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34.21 / 14.98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30.95 / 9.60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41.12 / 14.51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74.50 / 34.17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71.78 / 26.24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34.17 / 10.19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52.26 / 40.97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38.19 / 16.12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F1DDB-CCB0-4148-8105-7C2754BF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Each cell gives accuracy / macro F1 in percent. TLINK remains weak and DATE dominance masks minority errors.</a:t>
            </a:r>
          </a:p>
        </p:txBody>
      </p:sp>
    </p:spTree>
    <p:extLst>
      <p:ext uri="{BB962C8B-B14F-4D97-AF65-F5344CB8AC3E}">
        <p14:creationId xmlns:p14="http://schemas.microsoft.com/office/powerpoint/2010/main" val="3016220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824F9-5C6B-408C-A6EB-661FC457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Structured target and endpoint features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838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  <a:gridCol w="2286000"/>
                <a:gridCol w="3152775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F1 %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gain in points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72.51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+16.41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77.62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63.06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+6.89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91.87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+13.21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40.39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22.77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+7.79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83.22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63.75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+29.58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62.81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56.95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+15.98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493C-79F5-4651-B1FC-18B9676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Exploratory follow-up on the same folds. SET, DURING_INV, IAFTER and IBEFORE still have zero F1.</a:t>
            </a:r>
          </a:p>
        </p:txBody>
      </p:sp>
    </p:spTree>
    <p:extLst>
      <p:ext uri="{BB962C8B-B14F-4D97-AF65-F5344CB8AC3E}">
        <p14:creationId xmlns:p14="http://schemas.microsoft.com/office/powerpoint/2010/main" val="214638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86360-8487-4DC6-A8F5-781BFD2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95 software test cases pass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ff42f57ccf413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1D5B2-67D4-485E-B128-47346C0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All three suites report zero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3FD03-7B53-4A81-9E8E-9A61FE1E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recorded outputs. Conditional grouped NLP scores come from separate validation rows.</a:t>
            </a:r>
          </a:p>
        </p:txBody>
      </p:sp>
    </p:spTree>
    <p:extLst>
      <p:ext uri="{BB962C8B-B14F-4D97-AF65-F5344CB8AC3E}">
        <p14:creationId xmlns:p14="http://schemas.microsoft.com/office/powerpoint/2010/main" val="7544971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EB4F0-3C0E-4D50-8848-EE39B22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286B7-5C70-4C6F-AB7B-C6858B8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examples show recognizable temporal cues. They provide descriptive observations from the saved models.</a:t>
            </a:r>
          </a:p>
        </p:txBody>
      </p:sp>
    </p:spTree>
    <p:extLst>
      <p:ext uri="{BB962C8B-B14F-4D97-AF65-F5344CB8AC3E}">
        <p14:creationId xmlns:p14="http://schemas.microsoft.com/office/powerpoint/2010/main" val="950708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51EC2-9E09-49F7-80C7-4BF7F6C1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Qualitative errors in free 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2812-2645-4D76-ADBA-5F69FD78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lexical baselines can miss clear cues. Independent annotations must establish error rates.</a:t>
            </a:r>
          </a:p>
        </p:txBody>
      </p:sp>
    </p:spTree>
    <p:extLst>
      <p:ext uri="{BB962C8B-B14F-4D97-AF65-F5344CB8AC3E}">
        <p14:creationId xmlns:p14="http://schemas.microsoft.com/office/powerpoint/2010/main" val="3267809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47164-D56E-4761-8F96-3ED5D8C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Narrative annotation workbench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8105775"/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Half-open UTF-16 spans and source hash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normalized corpus input from reviewer 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Typed review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TS, TIMEX and relation editors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Actor, location and perspective fields with evidence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anchors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Explicit document creation time and local cues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server-date substitution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Graph views and checks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Review supplied directed edges and simultaneous groups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partial order without forced adjacency or causality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71667-A5E9-4F33-82DC-2C3C342A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Draft analysis proposes annotations. Human adjudication and end-to-end extraction evaluation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239153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A722B-ED48-477C-8077-AEBC4B7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317F9-DF30-4B4F-A8C7-D55100B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Keep parallel translations, chapters from one work and synthetic descendants in the same split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305BF-3E70-4EEE-ACC7-C1C9757C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12096162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46491-8E42-4B7A-9D13-7CEF154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F58A9-CB4A-4274-8F98-4F7AB52D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E82EF-350E-45C6-BD68-D667FA7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AEF2A-BF7B-49B2-B20A-DEBC1FA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749937f32f584f7c"/>
              </a:rPr>
              <a:t>https://tym-corpus-ui-serban.livelyrock-2726c024.eastus.azurecontainerapps.io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3BEE4-90F5-49B7-9A84-0429202C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F5328-D838-4A3F-8DF7-6E635BDA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235cdc3873514e75"/>
              </a:rPr>
              <a:t>https://tym-corpus-api-serban.livelyrock-2726c024.eastus.azurecontainerapps.io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083AF-DF3A-41A6-92D8-E91E858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2124303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2026-10-02T10:52:21.1420000Z</dcterms:created>
  <dcterms:modified xsi:type="dcterms:W3CDTF">2026-10-02T10:52:21.1420000Z</dcterms:modified>
</coreProperties>
</file>
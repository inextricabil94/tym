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c36683057dd47f3" /><Relationship Type="http://schemas.openxmlformats.org/officeDocument/2006/relationships/extended-properties" Target="/docProps/app.xml" Id="R617c6c64508e498b" /><Relationship Type="http://schemas.openxmlformats.org/officeDocument/2006/relationships/officeDocument" Target="/ppt/presentation.xml" Id="R9ee1ba70fb0a4f47" /></Relationships>
</file>

<file path=ppt/presentation.xml><?xml version="1.0" encoding="utf-8"?>
<p:presentation xmlns:p="http://schemas.openxmlformats.org/presentationml/2006/main">
  <p:sldMasterIdLst>
    <p:sldMasterId xmlns:r="http://schemas.openxmlformats.org/officeDocument/2006/relationships" id="2147483648" r:id="R6fa8bb23c40a4287"/>
  </p:sldMasterIdLst>
  <p:notesMasterIdLst>
    <p:notesMasterId xmlns:r="http://schemas.openxmlformats.org/officeDocument/2006/relationships" r:id="R4a898c5d66f04a4e"/>
  </p:notesMasterIdLst>
  <p:sldIdLst>
    <p:sldId xmlns:r="http://schemas.openxmlformats.org/officeDocument/2006/relationships" id="256" r:id="R9e27755b0e8549f1"/>
    <p:sldId xmlns:r="http://schemas.openxmlformats.org/officeDocument/2006/relationships" id="257" r:id="R044e266747db4a86"/>
    <p:sldId xmlns:r="http://schemas.openxmlformats.org/officeDocument/2006/relationships" id="258" r:id="Rf1baa48753ba4993"/>
    <p:sldId xmlns:r="http://schemas.openxmlformats.org/officeDocument/2006/relationships" id="259" r:id="Rd780fb843ab148b7"/>
    <p:sldId xmlns:r="http://schemas.openxmlformats.org/officeDocument/2006/relationships" id="260" r:id="Ra14ce2e030a1465e"/>
    <p:sldId xmlns:r="http://schemas.openxmlformats.org/officeDocument/2006/relationships" id="261" r:id="R8fc5e1d4003e4e84"/>
    <p:sldId xmlns:r="http://schemas.openxmlformats.org/officeDocument/2006/relationships" id="262" r:id="R3ff2952fed874f1d"/>
    <p:sldId xmlns:r="http://schemas.openxmlformats.org/officeDocument/2006/relationships" id="263" r:id="Racb17cc743e546b9"/>
    <p:sldId xmlns:r="http://schemas.openxmlformats.org/officeDocument/2006/relationships" id="264" r:id="R89f66f9f55c54e91"/>
    <p:sldId xmlns:r="http://schemas.openxmlformats.org/officeDocument/2006/relationships" id="265" r:id="R0075b4027a794647"/>
    <p:sldId xmlns:r="http://schemas.openxmlformats.org/officeDocument/2006/relationships" id="266" r:id="R16023743060d435c"/>
    <p:sldId xmlns:r="http://schemas.openxmlformats.org/officeDocument/2006/relationships" id="267" r:id="R2f12d5bd5667411e"/>
    <p:sldId xmlns:r="http://schemas.openxmlformats.org/officeDocument/2006/relationships" id="268" r:id="R9dd9cb8d6f694455"/>
    <p:sldId xmlns:r="http://schemas.openxmlformats.org/officeDocument/2006/relationships" id="269" r:id="R47c7d33a30eb42ff"/>
    <p:sldId xmlns:r="http://schemas.openxmlformats.org/officeDocument/2006/relationships" id="270" r:id="Re1ea2ede8c154838"/>
    <p:sldId xmlns:r="http://schemas.openxmlformats.org/officeDocument/2006/relationships" id="271" r:id="R07e1940c712143c8"/>
    <p:sldId xmlns:r="http://schemas.openxmlformats.org/officeDocument/2006/relationships" id="272" r:id="Rd034ecfdb1294b37"/>
    <p:sldId xmlns:r="http://schemas.openxmlformats.org/officeDocument/2006/relationships" id="273" r:id="Rb3f3ef58cd7e4c14"/>
    <p:sldId xmlns:r="http://schemas.openxmlformats.org/officeDocument/2006/relationships" id="274" r:id="R5802089ba0654d5f"/>
    <p:sldId xmlns:r="http://schemas.openxmlformats.org/officeDocument/2006/relationships" id="275" r:id="R35c6125c0e0b484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fb314d6fdf94ff9" /><Relationship Type="http://schemas.openxmlformats.org/officeDocument/2006/relationships/slideMaster" Target="/ppt/slideMasters/slideMaster1.xml" Id="R6fa8bb23c40a4287" /><Relationship Type="http://schemas.openxmlformats.org/officeDocument/2006/relationships/notesMaster" Target="/ppt/notesMasters/notesMaster1.xml" Id="R4a898c5d66f04a4e" /><Relationship Type="http://schemas.openxmlformats.org/officeDocument/2006/relationships/presProps" Target="/ppt/presProps.xml" Id="R4369fbd1ac7e4aca" /><Relationship Type="http://schemas.openxmlformats.org/officeDocument/2006/relationships/tableStyles" Target="/ppt/tableStyles.xml" Id="R3e76b6a43b2049df" /><Relationship Type="http://schemas.openxmlformats.org/officeDocument/2006/relationships/slide" Target="/ppt/slides/slide1.xml" Id="R9e27755b0e8549f1" /><Relationship Type="http://schemas.openxmlformats.org/officeDocument/2006/relationships/slide" Target="/ppt/slides/slide2.xml" Id="R044e266747db4a86" /><Relationship Type="http://schemas.openxmlformats.org/officeDocument/2006/relationships/slide" Target="/ppt/slides/slide3.xml" Id="Rf1baa48753ba4993" /><Relationship Type="http://schemas.openxmlformats.org/officeDocument/2006/relationships/slide" Target="/ppt/slides/slide4.xml" Id="Rd780fb843ab148b7" /><Relationship Type="http://schemas.openxmlformats.org/officeDocument/2006/relationships/slide" Target="/ppt/slides/slide5.xml" Id="Ra14ce2e030a1465e" /><Relationship Type="http://schemas.openxmlformats.org/officeDocument/2006/relationships/slide" Target="/ppt/slides/slide6.xml" Id="R8fc5e1d4003e4e84" /><Relationship Type="http://schemas.openxmlformats.org/officeDocument/2006/relationships/slide" Target="/ppt/slides/slide7.xml" Id="R3ff2952fed874f1d" /><Relationship Type="http://schemas.openxmlformats.org/officeDocument/2006/relationships/slide" Target="/ppt/slides/slide8.xml" Id="Racb17cc743e546b9" /><Relationship Type="http://schemas.openxmlformats.org/officeDocument/2006/relationships/slide" Target="/ppt/slides/slide9.xml" Id="R89f66f9f55c54e91" /><Relationship Type="http://schemas.openxmlformats.org/officeDocument/2006/relationships/slide" Target="/ppt/slides/slide10.xml" Id="R0075b4027a794647" /><Relationship Type="http://schemas.openxmlformats.org/officeDocument/2006/relationships/slide" Target="/ppt/slides/slide11.xml" Id="R16023743060d435c" /><Relationship Type="http://schemas.openxmlformats.org/officeDocument/2006/relationships/slide" Target="/ppt/slides/slide12.xml" Id="R2f12d5bd5667411e" /><Relationship Type="http://schemas.openxmlformats.org/officeDocument/2006/relationships/slide" Target="/ppt/slides/slide13.xml" Id="R9dd9cb8d6f694455" /><Relationship Type="http://schemas.openxmlformats.org/officeDocument/2006/relationships/slide" Target="/ppt/slides/slide14.xml" Id="R47c7d33a30eb42ff" /><Relationship Type="http://schemas.openxmlformats.org/officeDocument/2006/relationships/slide" Target="/ppt/slides/slide15.xml" Id="Re1ea2ede8c154838" /><Relationship Type="http://schemas.openxmlformats.org/officeDocument/2006/relationships/slide" Target="/ppt/slides/slide16.xml" Id="R07e1940c712143c8" /><Relationship Type="http://schemas.openxmlformats.org/officeDocument/2006/relationships/slide" Target="/ppt/slides/slide17.xml" Id="Rd034ecfdb1294b37" /><Relationship Type="http://schemas.openxmlformats.org/officeDocument/2006/relationships/slide" Target="/ppt/slides/slide18.xml" Id="Rb3f3ef58cd7e4c14" /><Relationship Type="http://schemas.openxmlformats.org/officeDocument/2006/relationships/slide" Target="/ppt/slides/slide19.xml" Id="R5802089ba0654d5f" /><Relationship Type="http://schemas.openxmlformats.org/officeDocument/2006/relationships/slide" Target="/ppt/slides/slide20.xml" Id="R35c6125c0e0b484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8ff4f08b3084cb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15fa1d688734aef" /><Relationship Type="http://schemas.openxmlformats.org/officeDocument/2006/relationships/notesMaster" Target="/ppt/notesMasters/notesMaster1.xml" Id="R35e90060197c485b" /></Relationships>
</file>

<file path=ppt/notesSlides/_rels/notesSlide2.xml.rels>&#65279;<?xml version="1.0" encoding="utf-8"?><Relationships xmlns="http://schemas.openxmlformats.org/package/2006/relationships"><Relationship Type="http://schemas.openxmlformats.org/officeDocument/2006/relationships/slide" Target="/ppt/slides/slide2.xml" Id="R04786e8eb5544bb0" /><Relationship Type="http://schemas.openxmlformats.org/officeDocument/2006/relationships/notesMaster" Target="/ppt/notesMasters/notesMaster1.xml" Id="Rddb2780e4a0e4ac6" /></Relationships>
</file>

<file path=ppt/notesSlides/_rels/notesSlide3.xml.rels>&#65279;<?xml version="1.0" encoding="utf-8"?><Relationships xmlns="http://schemas.openxmlformats.org/package/2006/relationships"><Relationship Type="http://schemas.openxmlformats.org/officeDocument/2006/relationships/slide" Target="/ppt/slides/slide3.xml" Id="Rb6772d04fb4944b8" /><Relationship Type="http://schemas.openxmlformats.org/officeDocument/2006/relationships/notesMaster" Target="/ppt/notesMasters/notesMaster1.xml" Id="Rf0ebf05f439148ec" /></Relationships>
</file>

<file path=ppt/notesSlides/_rels/notesSlide4.xml.rels>&#65279;<?xml version="1.0" encoding="utf-8"?><Relationships xmlns="http://schemas.openxmlformats.org/package/2006/relationships"><Relationship Type="http://schemas.openxmlformats.org/officeDocument/2006/relationships/slide" Target="/ppt/slides/slide4.xml" Id="R070df03ad9c14eed" /><Relationship Type="http://schemas.openxmlformats.org/officeDocument/2006/relationships/notesMaster" Target="/ppt/notesMasters/notesMaster1.xml" Id="R76e2ecf6c0dc47b9" /></Relationships>
</file>

<file path=ppt/notesSlides/_rels/notesSlide5.xml.rels>&#65279;<?xml version="1.0" encoding="utf-8"?><Relationships xmlns="http://schemas.openxmlformats.org/package/2006/relationships"><Relationship Type="http://schemas.openxmlformats.org/officeDocument/2006/relationships/slide" Target="/ppt/slides/slide5.xml" Id="Rfd383c7486614739" /><Relationship Type="http://schemas.openxmlformats.org/officeDocument/2006/relationships/notesMaster" Target="/ppt/notesMasters/notesMaster1.xml" Id="R25cd46de1cc749b0" /></Relationships>
</file>

<file path=ppt/notesSlides/_rels/notesSlide6.xml.rels>&#65279;<?xml version="1.0" encoding="utf-8"?><Relationships xmlns="http://schemas.openxmlformats.org/package/2006/relationships"><Relationship Type="http://schemas.openxmlformats.org/officeDocument/2006/relationships/slide" Target="/ppt/slides/slide6.xml" Id="R4c692b8c4bfd4876" /><Relationship Type="http://schemas.openxmlformats.org/officeDocument/2006/relationships/notesMaster" Target="/ppt/notesMasters/notesMaster1.xml" Id="R9f6a5782d27242a1" /></Relationships>
</file>

<file path=ppt/notesSlides/_rels/notesSlide7.xml.rels>&#65279;<?xml version="1.0" encoding="utf-8"?><Relationships xmlns="http://schemas.openxmlformats.org/package/2006/relationships"><Relationship Type="http://schemas.openxmlformats.org/officeDocument/2006/relationships/slide" Target="/ppt/slides/slide7.xml" Id="Ra1c864d59e6248c5" /><Relationship Type="http://schemas.openxmlformats.org/officeDocument/2006/relationships/notesMaster" Target="/ppt/notesMasters/notesMaster1.xml" Id="R5757397c71dc475d" /></Relationships>
</file>

<file path=ppt/notesSlides/_rels/notesSlide8.xml.rels>&#65279;<?xml version="1.0" encoding="utf-8"?><Relationships xmlns="http://schemas.openxmlformats.org/package/2006/relationships"><Relationship Type="http://schemas.openxmlformats.org/officeDocument/2006/relationships/slide" Target="/ppt/slides/slide8.xml" Id="R7430a2d0d3894617" /><Relationship Type="http://schemas.openxmlformats.org/officeDocument/2006/relationships/notesMaster" Target="/ppt/notesMasters/notesMaster1.xml" Id="R12022db87be649ce" /></Relationships>
</file>

<file path=ppt/notesSlides/_rels/notesSlide9.xml.rels>&#65279;<?xml version="1.0" encoding="utf-8"?><Relationships xmlns="http://schemas.openxmlformats.org/package/2006/relationships"><Relationship Type="http://schemas.openxmlformats.org/officeDocument/2006/relationships/slide" Target="/ppt/slides/slide9.xml" Id="R69bd35159c274bd1" /><Relationship Type="http://schemas.openxmlformats.org/officeDocument/2006/relationships/notesMaster" Target="/ppt/notesMasters/notesMaster1.xml" Id="R833c215e7ef84d4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a0ed2eb62444bdc" /><Relationship Type="http://schemas.openxmlformats.org/officeDocument/2006/relationships/notesMaster" Target="/ppt/notesMasters/notesMaster1.xml" Id="R82b95707b0b84a8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3053b42d3334637" /><Relationship Type="http://schemas.openxmlformats.org/officeDocument/2006/relationships/notesMaster" Target="/ppt/notesMasters/notesMaster1.xml" Id="R050260fd57944fe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f4c445620ff49ac" /><Relationship Type="http://schemas.openxmlformats.org/officeDocument/2006/relationships/notesMaster" Target="/ppt/notesMasters/notesMaster1.xml" Id="R99202537991f4d9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734a03d49b64d55" /><Relationship Type="http://schemas.openxmlformats.org/officeDocument/2006/relationships/notesMaster" Target="/ppt/notesMasters/notesMaster1.xml" Id="Rc4db02abac044b8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4e30a501ae741fa" /><Relationship Type="http://schemas.openxmlformats.org/officeDocument/2006/relationships/notesMaster" Target="/ppt/notesMasters/notesMaster1.xml" Id="Ra229a30cb5e346f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dff0b068e1041ab" /><Relationship Type="http://schemas.openxmlformats.org/officeDocument/2006/relationships/notesMaster" Target="/ppt/notesMasters/notesMaster1.xml" Id="Rb4435226b6604ce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3f6c6c6d9014399" /><Relationship Type="http://schemas.openxmlformats.org/officeDocument/2006/relationships/notesMaster" Target="/ppt/notesMasters/notesMaster1.xml" Id="R06943e16a1514aa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452d57b9ecb4c78" /><Relationship Type="http://schemas.openxmlformats.org/officeDocument/2006/relationships/notesMaster" Target="/ppt/notesMasters/notesMaster1.xml" Id="R95194b12f7104ad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ac579e399474d51" /><Relationship Type="http://schemas.openxmlformats.org/officeDocument/2006/relationships/notesMaster" Target="/ppt/notesMasters/notesMaster1.xml" Id="R8b409eedc43d42e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78a48643c5a4e94" /><Relationship Type="http://schemas.openxmlformats.org/officeDocument/2006/relationships/notesMaster" Target="/ppt/notesMasters/notesMaster1.xml" Id="Ra61166e002b443e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3a793dc9da34de4" /><Relationship Type="http://schemas.openxmlformats.org/officeDocument/2006/relationships/notesMaster" Target="/ppt/notesMasters/notesMaster1.xml" Id="Rc53fd0d33931452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and engineering roadmap for the TYM project. The cover photograph was provided by the user. Conference dates and deadlines reflect official pages checked on 1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proposed research claim, not a result. Synthetic examples will be evaluated only as additions to training data. Unlabeled clusters will guide sampling and will never be treated as TYM labels. See the implementation and evaluation guide in the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supplied paper describes time segments with NAR, REM, SUP, GEN, and FIC labels, plus TYM time-yard relations and a TimeML-style annotation layer. Source: user-provided PDF, especially the model and annotation description. Repository representation: Tym.Api response models and README.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user-provided PDF reports 58.9% accuracy and approximately 58.7% macro-F1 for 2,000 event instances, and reports 93 produced time segments (PDF pp. 10–11). It also gives corpus-level annotation totals on p. 10. The evaluation confusion matrix and corpus counts are presented in separate contexts and their denominator relationship is unclear, so this deck keeps them distinct. These numbers have not been reproduced by this branch.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inspection on 1 October 2026: data/seed-examples.jsonl contains 43 segment_type records and 24 event_temporal records, marked synthetic_seed/unreviewed. The modeling project implements FeaturizeText plus SdcaMaximumEntropy classification, grouped evaluation with human_gold/adjudicated-only metrics, and K-Means clustering over FeaturizeText features. No gold corpus is checked into the repo. Sources: README.md, tools/Tym.Modeling/Program.cs, data/seed-examples.jsonl.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proposed synthetic curriculum for TYM's narrative temporal and segment-label tasks. It builds on documented temporal annotation gaps: nominalized events and long-distance links in TIMELINE, and dense event-pair annotation in NarrativeTime. Sources: https://aclanthology.org/2023.emnlp-main.1016/ and https://aclanthology.org/2024.lrec-main.1054/. All generated labels remain candidates until checked against the annotation guideline.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Recommended controls are hypotheses and protocol design, not implemented data generation. Recent synthetic-data studies report distribution-shift and diversity risks. For example, Kambhatla et al. find that fine-grained persona detail adds little lexical-diversity gain beyond a length cutoff in their setting; Geng et al. show pseudo-label alignment and distribution shift concerns for synthetic QE. Sources: https://aclanthology.org/2025.findings-emnlp.1146/ and https://aclanthology.org/2025.acl-long.373/. These results motivate measurement and human auditing, not direct transfer of their findings to TYM.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ML.NET describes clustering as unsupervised learning. The repository's CLI uses FeaturizeText features with K-Means and emits assignments, distances, Davies-Bouldin index, and exemplars. N-gram clusters are lexical groupings; inspect them and have annotators validate any interpretation. Cluster IDs are not TYM labels. Sources: https://learn.microsoft.com/en-us/dotnet/machine-learning/resources/tasks and https://learn.microsoft.com/en-us/dotnet/machine-learning/resources/metrics.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human-in-the-loop data workflow. The repository supports JSONL provenance fields and parent checks but does not yet implement a dedicated annotation platform or synthetic generator. Cluster assignments should be used for sampling only. Keep licensed or private narrative text outside public commits.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ML.NET evaluator creates or reads chapter/document-level group manifests. Evaluation rows are restricted to source_type=human_gold and review_status=adjudicated. Optional --train-seeds rows enter only the training partition, and provided parent IDs are checked against split membership. For stronger generator generalization claims, keep a generator family out of training and report it separately. See tools/Tym.Modeling/Program.cs and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ratios are a proposed starting grid, not established optimal values. Define the denominator at the example level within each task and report class and phenomenon distributions. Run human-only and augmented conditions on the same train/dev/test document manifest. Keep tuning away from the final held-out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ML.NET's metrics reference documents multiclass classification and clustering metrics. The current CLI reports grouped classification metrics and internal K-Means measures; it does not implement event-span or graph-level evaluation. Annotation agreement and richer TYM metrics are future additions. Source: https://learn.microsoft.com/en-us/dotnet/machine-learning/resources/metrics and repository pocs/model-evaluation/README.md.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implementation path: tools/Tym.Modeling trains ML.NET FeaturizeText + SdcaMaximumEntropy models and writes model manifests. The API accepts saved English artifacts through TYM_MODEL_DIR; absent that configuration, it retains seed classifiers. The UI uses React 18 UMD scripts and calls the API. Sources: repository README.md, Program.cs, tools/Tym.Modeling/Program.cs, ui/Tym.Ui/wwwroot/index.html.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UI features observed in the local browser on 1 October 2026: React workbench, language examples, API URL, diagram width, analysis tab, category/actor/min-confidence filters, event and segment selection, source text jump, evidence details, downloadable SVG/JSON/XML, and dark-mode toggle. This is product functionality, not a user-study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dates checked against official conference CFPs on 1 October 2026. EACL main ARR deadline (3 Aug 2026) has passed. COLING and NAACL share the 12 Oct 2026 ARR cycle, then a paper can commit to only one primary venue. The ACL official CFP lists main conference 20–22 Aug 2027, workshops 18–19 Aug, tutorials 17 Aug; the 21–22 Aug dates are ACL workshop dates in the joint workshop call. EMNLP 2027 conference dates are TBA; the joint workshop call says tentatively early November and Mexico or Central America. Sources: https://2027.eacl.org/calls/papers/ ; https://2027.coling-iccl.org/ ; https://2027.naacl.org/calls/main_conference_papers/ ; https://2027.aclweb.org/calls/main/ ; https://2027.eacl.org/calls/workshops/.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Recommendations depend on whether the user already has access to publishable, adjudicated annotations. The repository itself contains no gold corpus. NAACL/COLING main papers share the Oct ARR cycle and require a single primary commitment. NAACL demo deadline is 4 Dec; its CFP asks for substantive evidence, not only a functional prototype. EACL workshop direct and SRW paper deadlines are 15 Dec; SRW first author must be a student. ACL main ARR deadline is 4 Jan. Sources: https://2027.naacl.org/calls/main_conference_papers/ ; https://2027.naacl.org/calls/system_demonstration/ ; https://2027.eacl.org/calls/workshops/ ; https://2027.eacl.org/calls/srw/ ; https://2027.aclweb.org/calls/main/.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Workback is a proposed plan from the current date, 1 October 2026. Oct 12 is the shared NAACL/COLING ARR deadline. ACL main ARR deadline is Jan 4, 2027. EACL SRW has a mentor request date of Nov 6 and feedback date of Dec 5 if that student route is relevant; direct student paper deadline Dec 15. Keep the conference policy and publication status aligned when considering alternate routes.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decision gates. Do not commit private corpus text to the public repository unless its rights permit it. Synthetic examples can hide template leakage and pseudo-label error; generator holdout and independent human gold address these risks. Clustering introduces its own risk: lexical groups can look coherent without representing the target semantic classes.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NarrativeTime (https://aclanthology.org/2024.lrec-main.1054/), TIMELINE (https://aclanthology.org/2023.emnlp-main.1016/), Holistic Evaluation of Automatic TimeML Annotators (https://aclanthology.org/2022.lrec-1.155/), and the user-provided PDF titled Deep Learning for Spatial and Temporal Semantics in Natural Language Processing (6).pdf. The source PDF metric statements are retained as paper-reported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source URLs: https://aclanthology.org/2025.findings-emnlp.1146/ ; https://aclanthology.org/2025.acl-long.373/ ; https://learn.microsoft.com/en-us/dotnet/machine-learning/resources/metrics ; https://learn.microsoft.com/en-us/dotnet/machine-learning/resources/tasks ; https://2027.eacl.org/calls/papers/ ; https://2027.eacl.org/calls/workshops/ ; https://2027.coling-iccl.org/ ; https://2027.naacl.org/calls/main_conference_papers/ ; https://2027.naacl.org/calls/system_demonstration/ ; https://2027.aclweb.org/calls/main/. React sources: https://react.dev/learn/adding-interactivity and https://react.dev/learn/sharing-state-between-components.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880bf9609234b4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027f25b26bb4e20" /><Relationship Type="http://schemas.openxmlformats.org/officeDocument/2006/relationships/slideLayout" Target="/ppt/slideLayouts/slideLayout1.xml" Id="R7428d6058488408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428d6058488408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9e8c1638b3c4300" /><Relationship Type="http://schemas.openxmlformats.org/officeDocument/2006/relationships/image" Target="/ppt/media/image.jpeg" Id="R59350092eb544f58" /><Relationship Type="http://schemas.openxmlformats.org/officeDocument/2006/relationships/notesSlide" Target="/ppt/notesSlides/notesSlide1.xml" Id="R4444d00ad5da409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f92ddd4d03749da" /><Relationship Type="http://schemas.openxmlformats.org/officeDocument/2006/relationships/notesSlide" Target="/ppt/notesSlides/notesSlide2.xml" Id="Rb40d41848400466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1677b0e2f594cee" /><Relationship Type="http://schemas.openxmlformats.org/officeDocument/2006/relationships/notesSlide" Target="/ppt/notesSlides/notesSlide3.xml" Id="Re441443476c54d0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9f1d0ee776c49a1" /><Relationship Type="http://schemas.openxmlformats.org/officeDocument/2006/relationships/notesSlide" Target="/ppt/notesSlides/notesSlide4.xml" Id="R9ded44b89c3d49c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75b0197907042cb" /><Relationship Type="http://schemas.openxmlformats.org/officeDocument/2006/relationships/notesSlide" Target="/ppt/notesSlides/notesSlide5.xml" Id="Raf71fcc7d959426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863651e43524dd2" /><Relationship Type="http://schemas.openxmlformats.org/officeDocument/2006/relationships/notesSlide" Target="/ppt/notesSlides/notesSlide6.xml" Id="R9ae28bd1cf18465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7d58cf673d34fd3" /><Relationship Type="http://schemas.openxmlformats.org/officeDocument/2006/relationships/notesSlide" Target="/ppt/notesSlides/notesSlide7.xml" Id="Re1efa703e74b40a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94919a679624d12" /><Relationship Type="http://schemas.openxmlformats.org/officeDocument/2006/relationships/notesSlide" Target="/ppt/notesSlides/notesSlide8.xml" Id="R79a1511d19b242e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d9dadb4a8d1478d" /><Relationship Type="http://schemas.openxmlformats.org/officeDocument/2006/relationships/notesSlide" Target="/ppt/notesSlides/notesSlide9.xml" Id="R0d89d4329c01447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40f23e9996a4814" /><Relationship Type="http://schemas.openxmlformats.org/officeDocument/2006/relationships/notesSlide" Target="/ppt/notesSlides/notesSlide10.xml" Id="R8347ddd7f70a43d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e44e56e4abd4b88" /><Relationship Type="http://schemas.openxmlformats.org/officeDocument/2006/relationships/notesSlide" Target="/ppt/notesSlides/notesSlide11.xml" Id="Ree9acb43141c46f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af0295fb7c74946" /><Relationship Type="http://schemas.openxmlformats.org/officeDocument/2006/relationships/notesSlide" Target="/ppt/notesSlides/notesSlide12.xml" Id="R7bc625a7c2f0432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fcef03d7af84383" /><Relationship Type="http://schemas.openxmlformats.org/officeDocument/2006/relationships/notesSlide" Target="/ppt/notesSlides/notesSlide13.xml" Id="Rb1fb000fb012420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8defa1487a74b5b" /><Relationship Type="http://schemas.openxmlformats.org/officeDocument/2006/relationships/notesSlide" Target="/ppt/notesSlides/notesSlide14.xml" Id="R0fce6ba4f48947c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d85dc083ecb418a" /><Relationship Type="http://schemas.openxmlformats.org/officeDocument/2006/relationships/notesSlide" Target="/ppt/notesSlides/notesSlide15.xml" Id="R69628d734d32443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093bfcf62cc410e" /><Relationship Type="http://schemas.openxmlformats.org/officeDocument/2006/relationships/notesSlide" Target="/ppt/notesSlides/notesSlide16.xml" Id="Re3c3b39e6e27426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4b737d080e3444c" /><Relationship Type="http://schemas.openxmlformats.org/officeDocument/2006/relationships/notesSlide" Target="/ppt/notesSlides/notesSlide17.xml" Id="Rde03c649bd2741a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a0306319ca04aa1" /><Relationship Type="http://schemas.openxmlformats.org/officeDocument/2006/relationships/notesSlide" Target="/ppt/notesSlides/notesSlide18.xml" Id="R8022d2845dab4d3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ff9b6863acc4a1e" /><Relationship Type="http://schemas.openxmlformats.org/officeDocument/2006/relationships/notesSlide" Target="/ppt/notesSlides/notesSlide19.xml" Id="Rfd93f50e530b49e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5ccee6dcabc4026" /><Relationship Type="http://schemas.openxmlformats.org/officeDocument/2006/relationships/notesSlide" Target="/ppt/notesSlides/notesSlide20.xml" Id="R24566f3d14044b04" /></Relationships>
</file>

<file path=ppt/slides/slide1.xml><?xml version="1.0" encoding="utf-8"?>
<p:sld xmlns:p="http://schemas.openxmlformats.org/presentationml/2006/main">
  <p:cSld>
    <p:bg>
      <p:bgPr>
        <a:solidFill xmlns:a="http://schemas.openxmlformats.org/drawingml/2006/main">
          <a:srgbClr val="111714"/>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59350092eb544f58"/>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Photo contrast overlay">
            <a:extLst xmlns:a="http://schemas.openxmlformats.org/drawingml/2006/main">
              <a:ext uri="{FF2B5EF4-FFF2-40B4-BE49-F238E27FC236}">
                <a16:creationId xmlns:a16="http://schemas.microsoft.com/office/drawing/2014/main" id="{CE652863-7FF2-43CD-8C40-DE472547A70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1612">
              <a:alpha val="62000"/>
            </a:srgbClr>
          </a:solidFill>
          <a:ln xmlns:a="http://schemas.openxmlformats.org/drawingml/2006/main" w="0">
            <a:noFill/>
          </a:ln>
        </p:spPr>
      </p:sp>
      <p:sp>
        <p:nvSpPr>
          <p:cNvPr id="3" name="Cover eyebrow">
            <a:extLst xmlns:a="http://schemas.openxmlformats.org/drawingml/2006/main">
              <a:ext uri="{FF2B5EF4-FFF2-40B4-BE49-F238E27FC236}">
                <a16:creationId xmlns:a16="http://schemas.microsoft.com/office/drawing/2014/main" id="{329B487C-2E8E-4F62-AC08-4E85C8C941D9}"/>
              </a:ext>
            </a:extLst>
          </p:cNvPr>
          <p:cNvSpPr>
            <a:spLocks xmlns:a="http://schemas.openxmlformats.org/drawingml/2006/main" noGrp="1"/>
          </p:cNvSpPr>
          <p:nvPr/>
        </p:nvSpPr>
        <p:spPr>
          <a:xfrm xmlns:a="http://schemas.openxmlformats.org/drawingml/2006/main">
            <a:off x="685800" y="590550"/>
            <a:ext cx="723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9AEBCA"/>
                </a:solidFill>
                <a:latin typeface="Arial"/>
                <a:ea typeface="Arial"/>
                <a:cs typeface="Arial"/>
              </a:defRPr>
            </a:pPr>
            <a:r>
              <a:rPr sz="1200" b="1">
                <a:solidFill>
                  <a:srgbClr val="9AEBCA"/>
                </a:solidFill>
                <a:latin typeface="Arial"/>
                <a:ea typeface="Arial"/>
                <a:cs typeface="Arial"/>
              </a:rPr>
              <a:t>TYM  /  RESEARCH ROADMAP</a:t>
            </a:r>
          </a:p>
        </p:txBody>
      </p:sp>
      <p:sp>
        <p:nvSpPr>
          <p:cNvPr id="4" name="Cover title">
            <a:extLst xmlns:a="http://schemas.openxmlformats.org/drawingml/2006/main">
              <a:ext uri="{FF2B5EF4-FFF2-40B4-BE49-F238E27FC236}">
                <a16:creationId xmlns:a16="http://schemas.microsoft.com/office/drawing/2014/main" id="{0EE3F6BA-4553-4C0A-BDA5-55C879586B4A}"/>
              </a:ext>
            </a:extLst>
          </p:cNvPr>
          <p:cNvSpPr>
            <a:spLocks xmlns:a="http://schemas.openxmlformats.org/drawingml/2006/main" noGrp="1"/>
          </p:cNvSpPr>
          <p:nvPr/>
        </p:nvSpPr>
        <p:spPr>
          <a:xfrm xmlns:a="http://schemas.openxmlformats.org/drawingml/2006/main">
            <a:off x="685800" y="2400300"/>
            <a:ext cx="7810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350" b="1">
                <a:solidFill>
                  <a:srgbClr val="F3F6F4"/>
                </a:solidFill>
                <a:latin typeface="Arial"/>
                <a:ea typeface="Arial"/>
                <a:cs typeface="Arial"/>
              </a:defRPr>
            </a:pPr>
            <a:r>
              <a:rPr sz="4350" b="1">
                <a:solidFill>
                  <a:srgbClr val="F3F6F4"/>
                </a:solidFill>
                <a:latin typeface="Arial"/>
                <a:ea typeface="Arial"/>
                <a:cs typeface="Arial"/>
              </a:rPr>
              <a:t>Synthetic data for</a:t>
            </a:r>
          </a:p>
          <a:p xmlns:a="http://schemas.openxmlformats.org/drawingml/2006/main">
            <a:pPr algn="l">
              <a:defRPr sz="4350" b="1">
                <a:solidFill>
                  <a:srgbClr val="F3F6F4"/>
                </a:solidFill>
                <a:latin typeface="Arial"/>
                <a:ea typeface="Arial"/>
                <a:cs typeface="Arial"/>
              </a:defRPr>
            </a:pPr>
            <a:r>
              <a:rPr sz="4350" b="1">
                <a:solidFill>
                  <a:srgbClr val="F3F6F4"/>
                </a:solidFill>
                <a:latin typeface="Arial"/>
                <a:ea typeface="Arial"/>
                <a:cs typeface="Arial"/>
              </a:rPr>
              <a:t>narrative time</a:t>
            </a:r>
          </a:p>
        </p:txBody>
      </p:sp>
      <p:sp>
        <p:nvSpPr>
          <p:cNvPr id="5" name="Cover subtitle">
            <a:extLst xmlns:a="http://schemas.openxmlformats.org/drawingml/2006/main">
              <a:ext uri="{FF2B5EF4-FFF2-40B4-BE49-F238E27FC236}">
                <a16:creationId xmlns:a16="http://schemas.microsoft.com/office/drawing/2014/main" id="{27C100B5-46D2-4391-BCA4-C92B07607D30}"/>
              </a:ext>
            </a:extLst>
          </p:cNvPr>
          <p:cNvSpPr>
            <a:spLocks xmlns:a="http://schemas.openxmlformats.org/drawingml/2006/main" noGrp="1"/>
          </p:cNvSpPr>
          <p:nvPr/>
        </p:nvSpPr>
        <p:spPr>
          <a:xfrm xmlns:a="http://schemas.openxmlformats.org/drawingml/2006/main">
            <a:off x="704850" y="4105275"/>
            <a:ext cx="7524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0">
                <a:solidFill>
                  <a:srgbClr val="9AEBCA"/>
                </a:solidFill>
                <a:latin typeface="Arial"/>
                <a:ea typeface="Arial"/>
                <a:cs typeface="Arial"/>
              </a:defRPr>
            </a:pPr>
            <a:r>
              <a:rPr sz="1950" b="0">
                <a:solidFill>
                  <a:srgbClr val="9AEBCA"/>
                </a:solidFill>
                <a:latin typeface="Arial"/>
                <a:ea typeface="Arial"/>
                <a:cs typeface="Arial"/>
              </a:rPr>
              <a:t>ML.NET training, unlabeled discovery, and human-gold evaluation</a:t>
            </a:r>
          </a:p>
        </p:txBody>
      </p:sp>
      <p:sp>
        <p:nvSpPr>
          <p:cNvPr id="6" name="Section rule">
            <a:extLst xmlns:a="http://schemas.openxmlformats.org/drawingml/2006/main">
              <a:ext uri="{FF2B5EF4-FFF2-40B4-BE49-F238E27FC236}">
                <a16:creationId xmlns:a16="http://schemas.microsoft.com/office/drawing/2014/main" id="{4FA4C692-E167-46BA-B428-7299B4D4EA3F}"/>
              </a:ext>
            </a:extLst>
          </p:cNvPr>
          <p:cNvSpPr>
            <a:spLocks xmlns:a="http://schemas.openxmlformats.org/drawingml/2006/main" noGrp="1"/>
          </p:cNvSpPr>
          <p:nvPr/>
        </p:nvSpPr>
        <p:spPr>
          <a:xfrm xmlns:a="http://schemas.openxmlformats.org/drawingml/2006/main">
            <a:off x="704850" y="5219700"/>
            <a:ext cx="1809750" cy="28575"/>
          </a:xfrm>
          <a:prstGeom xmlns:a="http://schemas.openxmlformats.org/drawingml/2006/main" prst="rect">
            <a:avLst/>
          </a:prstGeom>
          <a:solidFill xmlns:a="http://schemas.openxmlformats.org/drawingml/2006/main">
            <a:srgbClr val="62DDA8"/>
          </a:solidFill>
          <a:ln xmlns:a="http://schemas.openxmlformats.org/drawingml/2006/main" w="0">
            <a:noFill/>
          </a:ln>
        </p:spPr>
      </p:sp>
      <p:sp>
        <p:nvSpPr>
          <p:cNvPr id="7" name="Cover scope">
            <a:extLst xmlns:a="http://schemas.openxmlformats.org/drawingml/2006/main">
              <a:ext uri="{FF2B5EF4-FFF2-40B4-BE49-F238E27FC236}">
                <a16:creationId xmlns:a16="http://schemas.microsoft.com/office/drawing/2014/main" id="{1521ECBE-CA81-40C5-9E32-49870A71F75E}"/>
              </a:ext>
            </a:extLst>
          </p:cNvPr>
          <p:cNvSpPr>
            <a:spLocks xmlns:a="http://schemas.openxmlformats.org/drawingml/2006/main" noGrp="1"/>
          </p:cNvSpPr>
          <p:nvPr/>
        </p:nvSpPr>
        <p:spPr>
          <a:xfrm xmlns:a="http://schemas.openxmlformats.org/drawingml/2006/main">
            <a:off x="704850" y="5467350"/>
            <a:ext cx="7429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F3F6F4"/>
                </a:solidFill>
                <a:latin typeface="Arial"/>
                <a:ea typeface="Arial"/>
                <a:cs typeface="Arial"/>
              </a:defRPr>
            </a:pPr>
            <a:r>
              <a:rPr sz="1500" b="0">
                <a:solidFill>
                  <a:srgbClr val="F3F6F4"/>
                </a:solidFill>
                <a:latin typeface="Arial"/>
                <a:ea typeface="Arial"/>
                <a:cs typeface="Arial"/>
              </a:rPr>
              <a:t>A data-centric empirical program for the 2027 *CL cycle</a:t>
            </a:r>
          </a:p>
        </p:txBody>
      </p:sp>
      <p:sp>
        <p:nvSpPr>
          <p:cNvPr id="8" name="Cover date">
            <a:extLst xmlns:a="http://schemas.openxmlformats.org/drawingml/2006/main">
              <a:ext uri="{FF2B5EF4-FFF2-40B4-BE49-F238E27FC236}">
                <a16:creationId xmlns:a16="http://schemas.microsoft.com/office/drawing/2014/main" id="{B161DB0B-A599-43C0-8AF2-5F0F0E796FC4}"/>
              </a:ext>
            </a:extLst>
          </p:cNvPr>
          <p:cNvSpPr>
            <a:spLocks xmlns:a="http://schemas.openxmlformats.org/drawingml/2006/main" noGrp="1"/>
          </p:cNvSpPr>
          <p:nvPr/>
        </p:nvSpPr>
        <p:spPr>
          <a:xfrm xmlns:a="http://schemas.openxmlformats.org/drawingml/2006/main">
            <a:off x="704850" y="6200775"/>
            <a:ext cx="685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AAB8B0"/>
                </a:solidFill>
                <a:latin typeface="Arial"/>
                <a:ea typeface="Arial"/>
                <a:cs typeface="Arial"/>
              </a:defRPr>
            </a:pPr>
            <a:r>
              <a:rPr sz="1125" b="0">
                <a:solidFill>
                  <a:srgbClr val="AAB8B0"/>
                </a:solidFill>
                <a:latin typeface="Arial"/>
                <a:ea typeface="Arial"/>
                <a:cs typeface="Arial"/>
              </a:rPr>
              <a:t>Conference deadlines checked 1 October 2026</a:t>
            </a:r>
          </a:p>
        </p:txBody>
      </p:sp>
    </p:spTree>
    <p:extLst>
      <p:ext uri="{BB962C8B-B14F-4D97-AF65-F5344CB8AC3E}">
        <p14:creationId xmlns:p14="http://schemas.microsoft.com/office/powerpoint/2010/main" val="1170620723"/>
      </p:ext>
    </p:extLst>
  </p:cSld>
</p:sld>
</file>

<file path=ppt/slides/slide2.xml><?xml version="1.0" encoding="utf-8"?>
<p:sld xmlns:p="http://schemas.openxmlformats.org/presentationml/2006/main">
  <p:cSld>
    <p:bg>
      <p:bgPr>
        <a:solidFill xmlns:a="http://schemas.openxmlformats.org/drawingml/2006/main">
          <a:srgbClr val="202522"/>
        </a:solidFill>
      </p:bgPr>
    </p:bg>
    <p:spTree>
      <p:nvGrpSpPr>
        <p:cNvPr id="1" name=""/>
        <p:cNvGrpSpPr/>
        <p:nvPr/>
      </p:nvGrpSpPr>
      <p:grpSpPr>
        <a:xfrm xmlns:a="http://schemas.openxmlformats.org/drawingml/2006/main"/>
      </p:grpSpPr>
      <p:sp>
        <p:nvSpPr>
          <p:cNvPr id="30" name="Section label">
            <a:extLst xmlns:a="http://schemas.openxmlformats.org/drawingml/2006/main">
              <a:ext uri="{FF2B5EF4-FFF2-40B4-BE49-F238E27FC236}">
                <a16:creationId xmlns:a16="http://schemas.microsoft.com/office/drawing/2014/main" id="{D2435C56-86D7-4C13-A13A-265B3DDB2BF0}"/>
              </a:ext>
            </a:extLst>
          </p:cNvPr>
          <p:cNvSpPr>
            <a:spLocks xmlns:a="http://schemas.openxmlformats.org/drawingml/2006/main" noGrp="1"/>
          </p:cNvSpPr>
          <p:nvPr/>
        </p:nvSpPr>
        <p:spPr>
          <a:xfrm xmlns:a="http://schemas.openxmlformats.org/drawingml/2006/main">
            <a:off x="609600" y="2571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  RESEARCH QUESTION</a:t>
            </a:r>
          </a:p>
        </p:txBody>
      </p:sp>
      <p:sp>
        <p:nvSpPr>
          <p:cNvPr id="2" name="Slide title">
            <a:extLst xmlns:a="http://schemas.openxmlformats.org/drawingml/2006/main">
              <a:ext uri="{FF2B5EF4-FFF2-40B4-BE49-F238E27FC236}">
                <a16:creationId xmlns:a16="http://schemas.microsoft.com/office/drawing/2014/main" id="{7C0F7532-18E4-4C34-A71D-205340F52D69}"/>
              </a:ext>
            </a:extLst>
          </p:cNvPr>
          <p:cNvSpPr>
            <a:spLocks xmlns:a="http://schemas.openxmlformats.org/drawingml/2006/main" noGrp="1"/>
          </p:cNvSpPr>
          <p:nvPr/>
        </p:nvSpPr>
        <p:spPr>
          <a:xfrm xmlns:a="http://schemas.openxmlformats.org/drawingml/2006/main">
            <a:off x="609600" y="5810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75" b="1">
                <a:solidFill>
                  <a:srgbClr val="F3F6F4"/>
                </a:solidFill>
                <a:latin typeface="Arial"/>
                <a:ea typeface="Arial"/>
                <a:cs typeface="Arial"/>
              </a:defRPr>
            </a:pPr>
            <a:r>
              <a:rPr sz="3075" b="1">
                <a:solidFill>
                  <a:srgbClr val="F3F6F4"/>
                </a:solidFill>
                <a:latin typeface="Arial"/>
                <a:ea typeface="Arial"/>
                <a:cs typeface="Arial"/>
              </a:rPr>
              <a:t>Research thesis</a:t>
            </a:r>
          </a:p>
        </p:txBody>
      </p:sp>
      <p:sp>
        <p:nvSpPr>
          <p:cNvPr id="3" name="Section rule">
            <a:extLst xmlns:a="http://schemas.openxmlformats.org/drawingml/2006/main">
              <a:ext uri="{FF2B5EF4-FFF2-40B4-BE49-F238E27FC236}">
                <a16:creationId xmlns:a16="http://schemas.microsoft.com/office/drawing/2014/main" id="{1950A9C7-A472-4B65-BF18-6AA754AD1908}"/>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4" name="Section rule">
            <a:extLst xmlns:a="http://schemas.openxmlformats.org/drawingml/2006/main">
              <a:ext uri="{FF2B5EF4-FFF2-40B4-BE49-F238E27FC236}">
                <a16:creationId xmlns:a16="http://schemas.microsoft.com/office/drawing/2014/main" id="{F62FF73D-E143-41FE-A59D-BEC41246DDC6}"/>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29E48962-591F-4347-9385-3A1614841E7C}"/>
              </a:ext>
            </a:extLst>
          </p:cNvPr>
          <p:cNvSpPr>
            <a:spLocks xmlns:a="http://schemas.openxmlformats.org/drawingml/2006/main" noGrp="1"/>
          </p:cNvSpPr>
          <p:nvPr/>
        </p:nvSpPr>
        <p:spPr>
          <a:xfrm xmlns:a="http://schemas.openxmlformats.org/drawingml/2006/main">
            <a:off x="609600" y="6562725"/>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AAB8B0"/>
                </a:solidFill>
                <a:latin typeface="Arial"/>
                <a:ea typeface="Arial"/>
                <a:cs typeface="Arial"/>
              </a:defRPr>
            </a:pPr>
            <a:r>
              <a:rPr sz="900" b="0">
                <a:solidFill>
                  <a:srgbClr val="AAB8B0"/>
                </a:solidFill>
                <a:latin typeface="Arial"/>
                <a:ea typeface="Arial"/>
                <a:cs typeface="Arial"/>
              </a:rPr>
              <a:t>SYNTHETIC DATA  /  UNSUPERVISED DISCOVERY  /  HUMAN EVALUATION</a:t>
            </a:r>
          </a:p>
        </p:txBody>
      </p:sp>
      <p:sp>
        <p:nvSpPr>
          <p:cNvPr id="6" name="Page number">
            <a:extLst xmlns:a="http://schemas.openxmlformats.org/drawingml/2006/main">
              <a:ext uri="{FF2B5EF4-FFF2-40B4-BE49-F238E27FC236}">
                <a16:creationId xmlns:a16="http://schemas.microsoft.com/office/drawing/2014/main" id="{F0D178D9-B1A2-45EC-9D9F-EF52CD39AEAA}"/>
              </a:ext>
            </a:extLst>
          </p:cNvPr>
          <p:cNvSpPr>
            <a:spLocks xmlns:a="http://schemas.openxmlformats.org/drawingml/2006/main" noGrp="1"/>
          </p:cNvSpPr>
          <p:nvPr/>
        </p:nvSpPr>
        <p:spPr>
          <a:xfrm xmlns:a="http://schemas.openxmlformats.org/drawingml/2006/main">
            <a:off x="11049000" y="65436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9AEBCA"/>
                </a:solidFill>
                <a:latin typeface="Arial"/>
                <a:ea typeface="Arial"/>
                <a:cs typeface="Arial"/>
              </a:defRPr>
            </a:pPr>
            <a:r>
              <a:rPr sz="1050" b="1">
                <a:solidFill>
                  <a:srgbClr val="9AEBCA"/>
                </a:solidFill>
                <a:latin typeface="Arial"/>
                <a:ea typeface="Arial"/>
                <a:cs typeface="Arial"/>
              </a:rPr>
              <a:t>02</a:t>
            </a:r>
          </a:p>
        </p:txBody>
      </p:sp>
      <p:sp>
        <p:nvSpPr>
          <p:cNvPr id="7" name="Research question">
            <a:extLst xmlns:a="http://schemas.openxmlformats.org/drawingml/2006/main">
              <a:ext uri="{FF2B5EF4-FFF2-40B4-BE49-F238E27FC236}">
                <a16:creationId xmlns:a16="http://schemas.microsoft.com/office/drawing/2014/main" id="{98D7D013-EB00-4704-BB69-41078D43A071}"/>
              </a:ext>
            </a:extLst>
          </p:cNvPr>
          <p:cNvSpPr>
            <a:spLocks xmlns:a="http://schemas.openxmlformats.org/drawingml/2006/main" noGrp="1"/>
          </p:cNvSpPr>
          <p:nvPr/>
        </p:nvSpPr>
        <p:spPr>
          <a:xfrm xmlns:a="http://schemas.openxmlformats.org/drawingml/2006/main">
            <a:off x="609600" y="15811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588"/>
          </a:bodyPr>
          <a:lstStyle xmlns:a="http://schemas.openxmlformats.org/drawingml/2006/main"/>
          <a:p xmlns:a="http://schemas.openxmlformats.org/drawingml/2006/main">
            <a:pPr algn="l">
              <a:defRPr sz="2550" b="1">
                <a:solidFill>
                  <a:srgbClr val="F3F6F4"/>
                </a:solidFill>
                <a:latin typeface="Arial"/>
                <a:ea typeface="Arial"/>
                <a:cs typeface="Arial"/>
              </a:defRPr>
            </a:pPr>
            <a:r>
              <a:rPr sz="2550" b="1">
                <a:solidFill>
                  <a:srgbClr val="F3F6F4"/>
                </a:solidFill>
                <a:latin typeface="Arial"/>
                <a:ea typeface="Arial"/>
                <a:cs typeface="Arial"/>
              </a:rPr>
              <a:t>Can governed synthetic examples improve temporal-semantic coverage when human labels are scarce?</a:t>
            </a:r>
          </a:p>
        </p:txBody>
      </p:sp>
      <p:sp>
        <p:nvSpPr>
          <p:cNvPr id="8" name="Research framing">
            <a:extLst xmlns:a="http://schemas.openxmlformats.org/drawingml/2006/main">
              <a:ext uri="{FF2B5EF4-FFF2-40B4-BE49-F238E27FC236}">
                <a16:creationId xmlns:a16="http://schemas.microsoft.com/office/drawing/2014/main" id="{703B0D2E-E883-43D0-9B41-FF752E2D9B8F}"/>
              </a:ext>
            </a:extLst>
          </p:cNvPr>
          <p:cNvSpPr>
            <a:spLocks xmlns:a="http://schemas.openxmlformats.org/drawingml/2006/main" noGrp="1"/>
          </p:cNvSpPr>
          <p:nvPr/>
        </p:nvSpPr>
        <p:spPr>
          <a:xfrm xmlns:a="http://schemas.openxmlformats.org/drawingml/2006/main">
            <a:off x="609600" y="2447925"/>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AAB8B0"/>
                </a:solidFill>
                <a:latin typeface="Arial"/>
                <a:ea typeface="Arial"/>
                <a:cs typeface="Arial"/>
              </a:defRPr>
            </a:pPr>
            <a:r>
              <a:rPr sz="1650" b="0">
                <a:solidFill>
                  <a:srgbClr val="AAB8B0"/>
                </a:solidFill>
                <a:latin typeface="Arial"/>
                <a:ea typeface="Arial"/>
                <a:cs typeface="Arial"/>
              </a:rPr>
              <a:t>The proposed study connects three evidence sources. Unlabeled narratives guide what to review. Human adjudication establishes labels. Synthetic descendants expand training coverage.</a:t>
            </a:r>
          </a:p>
        </p:txBody>
      </p:sp>
      <p:sp>
        <p:nvSpPr>
          <p:cNvPr id="9" name="Editable workflow node">
            <a:extLst xmlns:a="http://schemas.openxmlformats.org/drawingml/2006/main">
              <a:ext uri="{FF2B5EF4-FFF2-40B4-BE49-F238E27FC236}">
                <a16:creationId xmlns:a16="http://schemas.microsoft.com/office/drawing/2014/main" id="{EF4126D1-6EC0-4646-B2D2-81B89B6F419A}"/>
              </a:ext>
            </a:extLst>
          </p:cNvPr>
          <p:cNvSpPr>
            <a:spLocks xmlns:a="http://schemas.openxmlformats.org/drawingml/2006/main" noGrp="1"/>
          </p:cNvSpPr>
          <p:nvPr/>
        </p:nvSpPr>
        <p:spPr>
          <a:xfrm xmlns:a="http://schemas.openxmlformats.org/drawingml/2006/main">
            <a:off x="609600" y="3543300"/>
            <a:ext cx="2333625" cy="1200150"/>
          </a:xfrm>
          <a:prstGeom xmlns:a="http://schemas.openxmlformats.org/drawingml/2006/main" prst="roundRect">
            <a:avLst>
              <a:gd name="adj" fmla="val 6349"/>
            </a:avLst>
          </a:prstGeom>
          <a:solidFill xmlns:a="http://schemas.openxmlformats.org/drawingml/2006/main">
            <a:srgbClr val="272D29"/>
          </a:solidFill>
          <a:ln xmlns:a="http://schemas.openxmlformats.org/drawingml/2006/main" w="9525">
            <a:solidFill>
              <a:srgbClr val="47534B"/>
            </a:solidFill>
          </a:ln>
        </p:spPr>
      </p:sp>
      <p:sp>
        <p:nvSpPr>
          <p:cNvPr id="10" name="Step number">
            <a:extLst xmlns:a="http://schemas.openxmlformats.org/drawingml/2006/main">
              <a:ext uri="{FF2B5EF4-FFF2-40B4-BE49-F238E27FC236}">
                <a16:creationId xmlns:a16="http://schemas.microsoft.com/office/drawing/2014/main" id="{544213DA-489A-4708-9BAE-17B280150778}"/>
              </a:ext>
            </a:extLst>
          </p:cNvPr>
          <p:cNvSpPr>
            <a:spLocks xmlns:a="http://schemas.openxmlformats.org/drawingml/2006/main" noGrp="1"/>
          </p:cNvSpPr>
          <p:nvPr/>
        </p:nvSpPr>
        <p:spPr>
          <a:xfrm xmlns:a="http://schemas.openxmlformats.org/drawingml/2006/main">
            <a:off x="762000" y="3686175"/>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01</a:t>
            </a:r>
          </a:p>
        </p:txBody>
      </p:sp>
      <p:sp>
        <p:nvSpPr>
          <p:cNvPr id="11" name="Step label">
            <a:extLst xmlns:a="http://schemas.openxmlformats.org/drawingml/2006/main">
              <a:ext uri="{FF2B5EF4-FFF2-40B4-BE49-F238E27FC236}">
                <a16:creationId xmlns:a16="http://schemas.microsoft.com/office/drawing/2014/main" id="{D5BE7F0C-DB9B-4A9A-B8A0-C67D4A2B38D1}"/>
              </a:ext>
            </a:extLst>
          </p:cNvPr>
          <p:cNvSpPr>
            <a:spLocks xmlns:a="http://schemas.openxmlformats.org/drawingml/2006/main" noGrp="1"/>
          </p:cNvSpPr>
          <p:nvPr/>
        </p:nvSpPr>
        <p:spPr>
          <a:xfrm xmlns:a="http://schemas.openxmlformats.org/drawingml/2006/main">
            <a:off x="762000" y="3943350"/>
            <a:ext cx="2047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3F6F4"/>
                </a:solidFill>
                <a:latin typeface="Arial"/>
                <a:ea typeface="Arial"/>
                <a:cs typeface="Arial"/>
              </a:defRPr>
            </a:pPr>
            <a:r>
              <a:rPr sz="1575" b="1">
                <a:solidFill>
                  <a:srgbClr val="F3F6F4"/>
                </a:solidFill>
                <a:latin typeface="Arial"/>
                <a:ea typeface="Arial"/>
                <a:cs typeface="Arial"/>
              </a:rPr>
              <a:t>Unlabeled text</a:t>
            </a:r>
          </a:p>
        </p:txBody>
      </p:sp>
      <p:sp>
        <p:nvSpPr>
          <p:cNvPr id="12" name="Step detail">
            <a:extLst xmlns:a="http://schemas.openxmlformats.org/drawingml/2006/main">
              <a:ext uri="{FF2B5EF4-FFF2-40B4-BE49-F238E27FC236}">
                <a16:creationId xmlns:a16="http://schemas.microsoft.com/office/drawing/2014/main" id="{FEE6AB51-8300-4631-ACA1-049BF73C1736}"/>
              </a:ext>
            </a:extLst>
          </p:cNvPr>
          <p:cNvSpPr>
            <a:spLocks xmlns:a="http://schemas.openxmlformats.org/drawingml/2006/main" noGrp="1"/>
          </p:cNvSpPr>
          <p:nvPr/>
        </p:nvSpPr>
        <p:spPr>
          <a:xfrm xmlns:a="http://schemas.openxmlformats.org/drawingml/2006/main">
            <a:off x="762000" y="4276725"/>
            <a:ext cx="2047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AAB8B0"/>
                </a:solidFill>
                <a:latin typeface="Arial"/>
                <a:ea typeface="Arial"/>
                <a:cs typeface="Arial"/>
              </a:defRPr>
            </a:pPr>
            <a:r>
              <a:rPr sz="1200" b="0">
                <a:solidFill>
                  <a:srgbClr val="AAB8B0"/>
                </a:solidFill>
                <a:latin typeface="Arial"/>
                <a:ea typeface="Arial"/>
                <a:cs typeface="Arial"/>
              </a:rPr>
              <a:t>Narrative pool</a:t>
            </a:r>
          </a:p>
        </p:txBody>
      </p:sp>
      <p:sp>
        <p:nvSpPr>
          <p:cNvPr id="13" name="Editable workflow node">
            <a:extLst xmlns:a="http://schemas.openxmlformats.org/drawingml/2006/main">
              <a:ext uri="{FF2B5EF4-FFF2-40B4-BE49-F238E27FC236}">
                <a16:creationId xmlns:a16="http://schemas.microsoft.com/office/drawing/2014/main" id="{8B4F0BBA-E085-440D-B74B-779E246CC7C0}"/>
              </a:ext>
            </a:extLst>
          </p:cNvPr>
          <p:cNvSpPr>
            <a:spLocks xmlns:a="http://schemas.openxmlformats.org/drawingml/2006/main" noGrp="1"/>
          </p:cNvSpPr>
          <p:nvPr/>
        </p:nvSpPr>
        <p:spPr>
          <a:xfrm xmlns:a="http://schemas.openxmlformats.org/drawingml/2006/main">
            <a:off x="3438525" y="3543300"/>
            <a:ext cx="2333625" cy="1200150"/>
          </a:xfrm>
          <a:prstGeom xmlns:a="http://schemas.openxmlformats.org/drawingml/2006/main" prst="roundRect">
            <a:avLst>
              <a:gd name="adj" fmla="val 6349"/>
            </a:avLst>
          </a:prstGeom>
          <a:solidFill xmlns:a="http://schemas.openxmlformats.org/drawingml/2006/main">
            <a:srgbClr val="272D29"/>
          </a:solidFill>
          <a:ln xmlns:a="http://schemas.openxmlformats.org/drawingml/2006/main" w="9525">
            <a:solidFill>
              <a:srgbClr val="47534B"/>
            </a:solidFill>
          </a:ln>
        </p:spPr>
      </p:sp>
      <p:sp>
        <p:nvSpPr>
          <p:cNvPr id="14" name="Step number">
            <a:extLst xmlns:a="http://schemas.openxmlformats.org/drawingml/2006/main">
              <a:ext uri="{FF2B5EF4-FFF2-40B4-BE49-F238E27FC236}">
                <a16:creationId xmlns:a16="http://schemas.microsoft.com/office/drawing/2014/main" id="{192B5F15-BB38-4FA3-A1E0-D70491A14EC8}"/>
              </a:ext>
            </a:extLst>
          </p:cNvPr>
          <p:cNvSpPr>
            <a:spLocks xmlns:a="http://schemas.openxmlformats.org/drawingml/2006/main" noGrp="1"/>
          </p:cNvSpPr>
          <p:nvPr/>
        </p:nvSpPr>
        <p:spPr>
          <a:xfrm xmlns:a="http://schemas.openxmlformats.org/drawingml/2006/main">
            <a:off x="3590925" y="3686175"/>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02</a:t>
            </a:r>
          </a:p>
        </p:txBody>
      </p:sp>
      <p:sp>
        <p:nvSpPr>
          <p:cNvPr id="15" name="Step label">
            <a:extLst xmlns:a="http://schemas.openxmlformats.org/drawingml/2006/main">
              <a:ext uri="{FF2B5EF4-FFF2-40B4-BE49-F238E27FC236}">
                <a16:creationId xmlns:a16="http://schemas.microsoft.com/office/drawing/2014/main" id="{4501A80D-1CC4-4F97-9A5D-29F0E26E3DCD}"/>
              </a:ext>
            </a:extLst>
          </p:cNvPr>
          <p:cNvSpPr>
            <a:spLocks xmlns:a="http://schemas.openxmlformats.org/drawingml/2006/main" noGrp="1"/>
          </p:cNvSpPr>
          <p:nvPr/>
        </p:nvSpPr>
        <p:spPr>
          <a:xfrm xmlns:a="http://schemas.openxmlformats.org/drawingml/2006/main">
            <a:off x="3590925" y="3943350"/>
            <a:ext cx="2047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3F6F4"/>
                </a:solidFill>
                <a:latin typeface="Arial"/>
                <a:ea typeface="Arial"/>
                <a:cs typeface="Arial"/>
              </a:defRPr>
            </a:pPr>
            <a:r>
              <a:rPr sz="1575" b="1">
                <a:solidFill>
                  <a:srgbClr val="F3F6F4"/>
                </a:solidFill>
                <a:latin typeface="Arial"/>
                <a:ea typeface="Arial"/>
                <a:cs typeface="Arial"/>
              </a:rPr>
              <a:t>Discovery strata</a:t>
            </a:r>
          </a:p>
        </p:txBody>
      </p:sp>
      <p:sp>
        <p:nvSpPr>
          <p:cNvPr id="16" name="Step detail">
            <a:extLst xmlns:a="http://schemas.openxmlformats.org/drawingml/2006/main">
              <a:ext uri="{FF2B5EF4-FFF2-40B4-BE49-F238E27FC236}">
                <a16:creationId xmlns:a16="http://schemas.microsoft.com/office/drawing/2014/main" id="{03811F92-8F91-4307-A065-4E9B87B79BB2}"/>
              </a:ext>
            </a:extLst>
          </p:cNvPr>
          <p:cNvSpPr>
            <a:spLocks xmlns:a="http://schemas.openxmlformats.org/drawingml/2006/main" noGrp="1"/>
          </p:cNvSpPr>
          <p:nvPr/>
        </p:nvSpPr>
        <p:spPr>
          <a:xfrm xmlns:a="http://schemas.openxmlformats.org/drawingml/2006/main">
            <a:off x="3590925" y="4276725"/>
            <a:ext cx="2047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AAB8B0"/>
                </a:solidFill>
                <a:latin typeface="Arial"/>
                <a:ea typeface="Arial"/>
                <a:cs typeface="Arial"/>
              </a:defRPr>
            </a:pPr>
            <a:r>
              <a:rPr sz="1200" b="0">
                <a:solidFill>
                  <a:srgbClr val="AAB8B0"/>
                </a:solidFill>
                <a:latin typeface="Arial"/>
                <a:ea typeface="Arial"/>
                <a:cs typeface="Arial"/>
              </a:rPr>
              <a:t>Clusters and outliers</a:t>
            </a:r>
          </a:p>
        </p:txBody>
      </p:sp>
      <p:sp>
        <p:nvSpPr>
          <p:cNvPr id="17" name="Editable workflow node">
            <a:extLst xmlns:a="http://schemas.openxmlformats.org/drawingml/2006/main">
              <a:ext uri="{FF2B5EF4-FFF2-40B4-BE49-F238E27FC236}">
                <a16:creationId xmlns:a16="http://schemas.microsoft.com/office/drawing/2014/main" id="{13ACE5A7-EB31-458B-856C-5ED0326E4AE3}"/>
              </a:ext>
            </a:extLst>
          </p:cNvPr>
          <p:cNvSpPr>
            <a:spLocks xmlns:a="http://schemas.openxmlformats.org/drawingml/2006/main" noGrp="1"/>
          </p:cNvSpPr>
          <p:nvPr/>
        </p:nvSpPr>
        <p:spPr>
          <a:xfrm xmlns:a="http://schemas.openxmlformats.org/drawingml/2006/main">
            <a:off x="6267450" y="3543300"/>
            <a:ext cx="2333625" cy="1200150"/>
          </a:xfrm>
          <a:prstGeom xmlns:a="http://schemas.openxmlformats.org/drawingml/2006/main" prst="roundRect">
            <a:avLst>
              <a:gd name="adj" fmla="val 6349"/>
            </a:avLst>
          </a:prstGeom>
          <a:solidFill xmlns:a="http://schemas.openxmlformats.org/drawingml/2006/main">
            <a:srgbClr val="272D29"/>
          </a:solidFill>
          <a:ln xmlns:a="http://schemas.openxmlformats.org/drawingml/2006/main" w="9525">
            <a:solidFill>
              <a:srgbClr val="47534B"/>
            </a:solidFill>
          </a:ln>
        </p:spPr>
      </p:sp>
      <p:sp>
        <p:nvSpPr>
          <p:cNvPr id="18" name="Step number">
            <a:extLst xmlns:a="http://schemas.openxmlformats.org/drawingml/2006/main">
              <a:ext uri="{FF2B5EF4-FFF2-40B4-BE49-F238E27FC236}">
                <a16:creationId xmlns:a16="http://schemas.microsoft.com/office/drawing/2014/main" id="{08EB92CB-BA57-41FA-88CB-51BC8F09FA90}"/>
              </a:ext>
            </a:extLst>
          </p:cNvPr>
          <p:cNvSpPr>
            <a:spLocks xmlns:a="http://schemas.openxmlformats.org/drawingml/2006/main" noGrp="1"/>
          </p:cNvSpPr>
          <p:nvPr/>
        </p:nvSpPr>
        <p:spPr>
          <a:xfrm xmlns:a="http://schemas.openxmlformats.org/drawingml/2006/main">
            <a:off x="6419850" y="3686175"/>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03</a:t>
            </a:r>
          </a:p>
        </p:txBody>
      </p:sp>
      <p:sp>
        <p:nvSpPr>
          <p:cNvPr id="19" name="Step label">
            <a:extLst xmlns:a="http://schemas.openxmlformats.org/drawingml/2006/main">
              <a:ext uri="{FF2B5EF4-FFF2-40B4-BE49-F238E27FC236}">
                <a16:creationId xmlns:a16="http://schemas.microsoft.com/office/drawing/2014/main" id="{FB4AC36D-D550-4944-B87D-7E83F63BF81A}"/>
              </a:ext>
            </a:extLst>
          </p:cNvPr>
          <p:cNvSpPr>
            <a:spLocks xmlns:a="http://schemas.openxmlformats.org/drawingml/2006/main" noGrp="1"/>
          </p:cNvSpPr>
          <p:nvPr/>
        </p:nvSpPr>
        <p:spPr>
          <a:xfrm xmlns:a="http://schemas.openxmlformats.org/drawingml/2006/main">
            <a:off x="6419850" y="3943350"/>
            <a:ext cx="2047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3F6F4"/>
                </a:solidFill>
                <a:latin typeface="Arial"/>
                <a:ea typeface="Arial"/>
                <a:cs typeface="Arial"/>
              </a:defRPr>
            </a:pPr>
            <a:r>
              <a:rPr sz="1575" b="1">
                <a:solidFill>
                  <a:srgbClr val="F3F6F4"/>
                </a:solidFill>
                <a:latin typeface="Arial"/>
                <a:ea typeface="Arial"/>
                <a:cs typeface="Arial"/>
              </a:rPr>
              <a:t>Human review</a:t>
            </a:r>
          </a:p>
        </p:txBody>
      </p:sp>
      <p:sp>
        <p:nvSpPr>
          <p:cNvPr id="20" name="Step detail">
            <a:extLst xmlns:a="http://schemas.openxmlformats.org/drawingml/2006/main">
              <a:ext uri="{FF2B5EF4-FFF2-40B4-BE49-F238E27FC236}">
                <a16:creationId xmlns:a16="http://schemas.microsoft.com/office/drawing/2014/main" id="{B4911E77-57BD-45B0-8828-B3B6A19F6C00}"/>
              </a:ext>
            </a:extLst>
          </p:cNvPr>
          <p:cNvSpPr>
            <a:spLocks xmlns:a="http://schemas.openxmlformats.org/drawingml/2006/main" noGrp="1"/>
          </p:cNvSpPr>
          <p:nvPr/>
        </p:nvSpPr>
        <p:spPr>
          <a:xfrm xmlns:a="http://schemas.openxmlformats.org/drawingml/2006/main">
            <a:off x="6419850" y="4276725"/>
            <a:ext cx="2047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AAB8B0"/>
                </a:solidFill>
                <a:latin typeface="Arial"/>
                <a:ea typeface="Arial"/>
                <a:cs typeface="Arial"/>
              </a:defRPr>
            </a:pPr>
            <a:r>
              <a:rPr sz="1200" b="0">
                <a:solidFill>
                  <a:srgbClr val="AAB8B0"/>
                </a:solidFill>
                <a:latin typeface="Arial"/>
                <a:ea typeface="Arial"/>
                <a:cs typeface="Arial"/>
              </a:rPr>
              <a:t>Adjudicated examples</a:t>
            </a:r>
          </a:p>
        </p:txBody>
      </p:sp>
      <p:sp>
        <p:nvSpPr>
          <p:cNvPr id="21" name="Editable workflow node">
            <a:extLst xmlns:a="http://schemas.openxmlformats.org/drawingml/2006/main">
              <a:ext uri="{FF2B5EF4-FFF2-40B4-BE49-F238E27FC236}">
                <a16:creationId xmlns:a16="http://schemas.microsoft.com/office/drawing/2014/main" id="{CD11C4C7-8BB2-4306-B14E-456864799306}"/>
              </a:ext>
            </a:extLst>
          </p:cNvPr>
          <p:cNvSpPr>
            <a:spLocks xmlns:a="http://schemas.openxmlformats.org/drawingml/2006/main" noGrp="1"/>
          </p:cNvSpPr>
          <p:nvPr/>
        </p:nvSpPr>
        <p:spPr>
          <a:xfrm xmlns:a="http://schemas.openxmlformats.org/drawingml/2006/main">
            <a:off x="9096375" y="3543300"/>
            <a:ext cx="2333625" cy="1200150"/>
          </a:xfrm>
          <a:prstGeom xmlns:a="http://schemas.openxmlformats.org/drawingml/2006/main" prst="roundRect">
            <a:avLst>
              <a:gd name="adj" fmla="val 6349"/>
            </a:avLst>
          </a:prstGeom>
          <a:solidFill xmlns:a="http://schemas.openxmlformats.org/drawingml/2006/main">
            <a:srgbClr val="272D29"/>
          </a:solidFill>
          <a:ln xmlns:a="http://schemas.openxmlformats.org/drawingml/2006/main" w="9525">
            <a:solidFill>
              <a:srgbClr val="47534B"/>
            </a:solidFill>
          </a:ln>
        </p:spPr>
      </p:sp>
      <p:sp>
        <p:nvSpPr>
          <p:cNvPr id="22" name="Step number">
            <a:extLst xmlns:a="http://schemas.openxmlformats.org/drawingml/2006/main">
              <a:ext uri="{FF2B5EF4-FFF2-40B4-BE49-F238E27FC236}">
                <a16:creationId xmlns:a16="http://schemas.microsoft.com/office/drawing/2014/main" id="{F8636CCA-1932-4103-95EB-6B1A22BD52A5}"/>
              </a:ext>
            </a:extLst>
          </p:cNvPr>
          <p:cNvSpPr>
            <a:spLocks xmlns:a="http://schemas.openxmlformats.org/drawingml/2006/main" noGrp="1"/>
          </p:cNvSpPr>
          <p:nvPr/>
        </p:nvSpPr>
        <p:spPr>
          <a:xfrm xmlns:a="http://schemas.openxmlformats.org/drawingml/2006/main">
            <a:off x="9248775" y="3686175"/>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04</a:t>
            </a:r>
          </a:p>
        </p:txBody>
      </p:sp>
      <p:sp>
        <p:nvSpPr>
          <p:cNvPr id="23" name="Step label">
            <a:extLst xmlns:a="http://schemas.openxmlformats.org/drawingml/2006/main">
              <a:ext uri="{FF2B5EF4-FFF2-40B4-BE49-F238E27FC236}">
                <a16:creationId xmlns:a16="http://schemas.microsoft.com/office/drawing/2014/main" id="{624ECC2F-DDD9-487F-A903-5CFD3379FDC0}"/>
              </a:ext>
            </a:extLst>
          </p:cNvPr>
          <p:cNvSpPr>
            <a:spLocks xmlns:a="http://schemas.openxmlformats.org/drawingml/2006/main" noGrp="1"/>
          </p:cNvSpPr>
          <p:nvPr/>
        </p:nvSpPr>
        <p:spPr>
          <a:xfrm xmlns:a="http://schemas.openxmlformats.org/drawingml/2006/main">
            <a:off x="9248775" y="3943350"/>
            <a:ext cx="2047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3F6F4"/>
                </a:solidFill>
                <a:latin typeface="Arial"/>
                <a:ea typeface="Arial"/>
                <a:cs typeface="Arial"/>
              </a:defRPr>
            </a:pPr>
            <a:r>
              <a:rPr sz="1575" b="1">
                <a:solidFill>
                  <a:srgbClr val="F3F6F4"/>
                </a:solidFill>
                <a:latin typeface="Arial"/>
                <a:ea typeface="Arial"/>
                <a:cs typeface="Arial"/>
              </a:rPr>
              <a:t>Synthetic training</a:t>
            </a:r>
          </a:p>
        </p:txBody>
      </p:sp>
      <p:sp>
        <p:nvSpPr>
          <p:cNvPr id="24" name="Step detail">
            <a:extLst xmlns:a="http://schemas.openxmlformats.org/drawingml/2006/main">
              <a:ext uri="{FF2B5EF4-FFF2-40B4-BE49-F238E27FC236}">
                <a16:creationId xmlns:a16="http://schemas.microsoft.com/office/drawing/2014/main" id="{52E9C08D-75A8-471E-AC51-691CC5924FEF}"/>
              </a:ext>
            </a:extLst>
          </p:cNvPr>
          <p:cNvSpPr>
            <a:spLocks xmlns:a="http://schemas.openxmlformats.org/drawingml/2006/main" noGrp="1"/>
          </p:cNvSpPr>
          <p:nvPr/>
        </p:nvSpPr>
        <p:spPr>
          <a:xfrm xmlns:a="http://schemas.openxmlformats.org/drawingml/2006/main">
            <a:off x="9248775" y="4276725"/>
            <a:ext cx="2047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AAB8B0"/>
                </a:solidFill>
                <a:latin typeface="Arial"/>
                <a:ea typeface="Arial"/>
                <a:cs typeface="Arial"/>
              </a:defRPr>
            </a:pPr>
            <a:r>
              <a:rPr sz="1200" b="0">
                <a:solidFill>
                  <a:srgbClr val="AAB8B0"/>
                </a:solidFill>
                <a:latin typeface="Arial"/>
                <a:ea typeface="Arial"/>
                <a:cs typeface="Arial"/>
              </a:rPr>
              <a:t>Controlled descendants</a:t>
            </a:r>
          </a:p>
        </p:txBody>
      </p:sp>
      <p:sp>
        <p:nvSpPr>
          <p:cNvPr id="25" name="Diagram connector">
            <a:extLst xmlns:a="http://schemas.openxmlformats.org/drawingml/2006/main">
              <a:ext uri="{FF2B5EF4-FFF2-40B4-BE49-F238E27FC236}">
                <a16:creationId xmlns:a16="http://schemas.microsoft.com/office/drawing/2014/main" id="{C8F11A9C-E205-45D4-8069-285CD5C4F55A}"/>
              </a:ext>
            </a:extLst>
          </p:cNvPr>
          <p:cNvSpPr>
            <a:spLocks xmlns:a="http://schemas.openxmlformats.org/drawingml/2006/main" noGrp="1"/>
          </p:cNvSpPr>
          <p:nvPr/>
        </p:nvSpPr>
        <p:spPr>
          <a:xfrm xmlns:a="http://schemas.openxmlformats.org/drawingml/2006/main">
            <a:off x="2981325" y="4133850"/>
            <a:ext cx="409575" cy="19050"/>
          </a:xfrm>
          <a:prstGeom xmlns:a="http://schemas.openxmlformats.org/drawingml/2006/main" prst="rect">
            <a:avLst/>
          </a:prstGeom>
          <a:solidFill xmlns:a="http://schemas.openxmlformats.org/drawingml/2006/main">
            <a:srgbClr val="62DDA8"/>
          </a:solidFill>
          <a:ln xmlns:a="http://schemas.openxmlformats.org/drawingml/2006/main" w="0">
            <a:noFill/>
          </a:ln>
        </p:spPr>
      </p:sp>
      <p:sp>
        <p:nvSpPr>
          <p:cNvPr id="26" name="Diagram connector">
            <a:extLst xmlns:a="http://schemas.openxmlformats.org/drawingml/2006/main">
              <a:ext uri="{FF2B5EF4-FFF2-40B4-BE49-F238E27FC236}">
                <a16:creationId xmlns:a16="http://schemas.microsoft.com/office/drawing/2014/main" id="{B4F2AF56-3743-4C4F-82AC-B53FC36F4200}"/>
              </a:ext>
            </a:extLst>
          </p:cNvPr>
          <p:cNvSpPr>
            <a:spLocks xmlns:a="http://schemas.openxmlformats.org/drawingml/2006/main" noGrp="1"/>
          </p:cNvSpPr>
          <p:nvPr/>
        </p:nvSpPr>
        <p:spPr>
          <a:xfrm xmlns:a="http://schemas.openxmlformats.org/drawingml/2006/main">
            <a:off x="5810250" y="4133850"/>
            <a:ext cx="409575" cy="19050"/>
          </a:xfrm>
          <a:prstGeom xmlns:a="http://schemas.openxmlformats.org/drawingml/2006/main" prst="rect">
            <a:avLst/>
          </a:prstGeom>
          <a:solidFill xmlns:a="http://schemas.openxmlformats.org/drawingml/2006/main">
            <a:srgbClr val="62DDA8"/>
          </a:solidFill>
          <a:ln xmlns:a="http://schemas.openxmlformats.org/drawingml/2006/main" w="0">
            <a:noFill/>
          </a:ln>
        </p:spPr>
      </p:sp>
      <p:sp>
        <p:nvSpPr>
          <p:cNvPr id="27" name="Diagram connector">
            <a:extLst xmlns:a="http://schemas.openxmlformats.org/drawingml/2006/main">
              <a:ext uri="{FF2B5EF4-FFF2-40B4-BE49-F238E27FC236}">
                <a16:creationId xmlns:a16="http://schemas.microsoft.com/office/drawing/2014/main" id="{7068CC67-4F4B-47AF-85AD-A90E4C8D2156}"/>
              </a:ext>
            </a:extLst>
          </p:cNvPr>
          <p:cNvSpPr>
            <a:spLocks xmlns:a="http://schemas.openxmlformats.org/drawingml/2006/main" noGrp="1"/>
          </p:cNvSpPr>
          <p:nvPr/>
        </p:nvSpPr>
        <p:spPr>
          <a:xfrm xmlns:a="http://schemas.openxmlformats.org/drawingml/2006/main">
            <a:off x="8639175" y="4133850"/>
            <a:ext cx="409575" cy="19050"/>
          </a:xfrm>
          <a:prstGeom xmlns:a="http://schemas.openxmlformats.org/drawingml/2006/main" prst="rect">
            <a:avLst/>
          </a:prstGeom>
          <a:solidFill xmlns:a="http://schemas.openxmlformats.org/drawingml/2006/main">
            <a:srgbClr val="62DDA8"/>
          </a:solidFill>
          <a:ln xmlns:a="http://schemas.openxmlformats.org/drawingml/2006/main" w="0">
            <a:noFill/>
          </a:ln>
        </p:spPr>
      </p:sp>
      <p:sp>
        <p:nvSpPr>
          <p:cNvPr id="28" name="Claim label">
            <a:extLst xmlns:a="http://schemas.openxmlformats.org/drawingml/2006/main">
              <a:ext uri="{FF2B5EF4-FFF2-40B4-BE49-F238E27FC236}">
                <a16:creationId xmlns:a16="http://schemas.microsoft.com/office/drawing/2014/main" id="{F1577C06-A380-4AE3-A567-92D460B3AFB9}"/>
              </a:ext>
            </a:extLst>
          </p:cNvPr>
          <p:cNvSpPr>
            <a:spLocks xmlns:a="http://schemas.openxmlformats.org/drawingml/2006/main" noGrp="1"/>
          </p:cNvSpPr>
          <p:nvPr/>
        </p:nvSpPr>
        <p:spPr>
          <a:xfrm xmlns:a="http://schemas.openxmlformats.org/drawingml/2006/main">
            <a:off x="609600" y="5200650"/>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62DDA8"/>
                </a:solidFill>
                <a:latin typeface="Arial"/>
                <a:ea typeface="Arial"/>
                <a:cs typeface="Arial"/>
              </a:defRPr>
            </a:pPr>
            <a:r>
              <a:rPr sz="1350" b="1">
                <a:solidFill>
                  <a:srgbClr val="62DDA8"/>
                </a:solidFill>
                <a:latin typeface="Arial"/>
                <a:ea typeface="Arial"/>
                <a:cs typeface="Arial"/>
              </a:rPr>
              <a:t>Testable claim</a:t>
            </a:r>
          </a:p>
        </p:txBody>
      </p:sp>
      <p:sp>
        <p:nvSpPr>
          <p:cNvPr id="29" name="Testable claim">
            <a:extLst xmlns:a="http://schemas.openxmlformats.org/drawingml/2006/main">
              <a:ext uri="{FF2B5EF4-FFF2-40B4-BE49-F238E27FC236}">
                <a16:creationId xmlns:a16="http://schemas.microsoft.com/office/drawing/2014/main" id="{A6871C3E-029E-4FA1-B1FA-B760973AF896}"/>
              </a:ext>
            </a:extLst>
          </p:cNvPr>
          <p:cNvSpPr>
            <a:spLocks xmlns:a="http://schemas.openxmlformats.org/drawingml/2006/main" noGrp="1"/>
          </p:cNvSpPr>
          <p:nvPr/>
        </p:nvSpPr>
        <p:spPr>
          <a:xfrm xmlns:a="http://schemas.openxmlformats.org/drawingml/2006/main">
            <a:off x="2809875" y="5143500"/>
            <a:ext cx="8001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485"/>
          </a:bodyPr>
          <a:lstStyle xmlns:a="http://schemas.openxmlformats.org/drawingml/2006/main"/>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Synthetic gains should survive held-out chapters and unseen generator patterns, with the same human-gold test set.</a:t>
            </a:r>
          </a:p>
        </p:txBody>
      </p:sp>
    </p:spTree>
    <p:extLst>
      <p:ext uri="{BB962C8B-B14F-4D97-AF65-F5344CB8AC3E}">
        <p14:creationId xmlns:p14="http://schemas.microsoft.com/office/powerpoint/2010/main" val="1504138740"/>
      </p:ext>
    </p:extLst>
  </p:cSld>
</p:sld>
</file>

<file path=ppt/slides/slide3.xml><?xml version="1.0" encoding="utf-8"?>
<p:sld xmlns:p="http://schemas.openxmlformats.org/presentationml/2006/main">
  <p:cSld>
    <p:bg>
      <p:bgPr>
        <a:solidFill xmlns:a="http://schemas.openxmlformats.org/drawingml/2006/main">
          <a:srgbClr val="202522"/>
        </a:solidFill>
      </p:bgPr>
    </p:bg>
    <p:spTree>
      <p:nvGrpSpPr>
        <p:cNvPr id="1" name=""/>
        <p:cNvGrpSpPr/>
        <p:nvPr/>
      </p:nvGrpSpPr>
      <p:grpSpPr>
        <a:xfrm xmlns:a="http://schemas.openxmlformats.org/drawingml/2006/main"/>
      </p:grpSpPr>
      <p:sp>
        <p:nvSpPr>
          <p:cNvPr id="19" name="Section label">
            <a:extLst xmlns:a="http://schemas.openxmlformats.org/drawingml/2006/main">
              <a:ext uri="{FF2B5EF4-FFF2-40B4-BE49-F238E27FC236}">
                <a16:creationId xmlns:a16="http://schemas.microsoft.com/office/drawing/2014/main" id="{9B234B5E-20A7-4D7C-8CC6-9BD871F67E74}"/>
              </a:ext>
            </a:extLst>
          </p:cNvPr>
          <p:cNvSpPr>
            <a:spLocks xmlns:a="http://schemas.openxmlformats.org/drawingml/2006/main" noGrp="1"/>
          </p:cNvSpPr>
          <p:nvPr/>
        </p:nvSpPr>
        <p:spPr>
          <a:xfrm xmlns:a="http://schemas.openxmlformats.org/drawingml/2006/main">
            <a:off x="609600" y="2571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  TASK DEFINITION</a:t>
            </a:r>
          </a:p>
        </p:txBody>
      </p:sp>
      <p:sp>
        <p:nvSpPr>
          <p:cNvPr id="2" name="Slide title">
            <a:extLst xmlns:a="http://schemas.openxmlformats.org/drawingml/2006/main">
              <a:ext uri="{FF2B5EF4-FFF2-40B4-BE49-F238E27FC236}">
                <a16:creationId xmlns:a16="http://schemas.microsoft.com/office/drawing/2014/main" id="{1048DEBE-5759-493D-9DC8-3432C5BD75A8}"/>
              </a:ext>
            </a:extLst>
          </p:cNvPr>
          <p:cNvSpPr>
            <a:spLocks xmlns:a="http://schemas.openxmlformats.org/drawingml/2006/main" noGrp="1"/>
          </p:cNvSpPr>
          <p:nvPr/>
        </p:nvSpPr>
        <p:spPr>
          <a:xfrm xmlns:a="http://schemas.openxmlformats.org/drawingml/2006/main">
            <a:off x="609600" y="5810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75" b="1">
                <a:solidFill>
                  <a:srgbClr val="F3F6F4"/>
                </a:solidFill>
                <a:latin typeface="Arial"/>
                <a:ea typeface="Arial"/>
                <a:cs typeface="Arial"/>
              </a:defRPr>
            </a:pPr>
            <a:r>
              <a:rPr sz="3075" b="1">
                <a:solidFill>
                  <a:srgbClr val="F3F6F4"/>
                </a:solidFill>
                <a:latin typeface="Arial"/>
                <a:ea typeface="Arial"/>
                <a:cs typeface="Arial"/>
              </a:rPr>
              <a:t>What the model must recover</a:t>
            </a:r>
          </a:p>
        </p:txBody>
      </p:sp>
      <p:sp>
        <p:nvSpPr>
          <p:cNvPr id="3" name="Section rule">
            <a:extLst xmlns:a="http://schemas.openxmlformats.org/drawingml/2006/main">
              <a:ext uri="{FF2B5EF4-FFF2-40B4-BE49-F238E27FC236}">
                <a16:creationId xmlns:a16="http://schemas.microsoft.com/office/drawing/2014/main" id="{ED9D1F60-0EC9-485E-B276-885C3BE5DE8C}"/>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4" name="Section rule">
            <a:extLst xmlns:a="http://schemas.openxmlformats.org/drawingml/2006/main">
              <a:ext uri="{FF2B5EF4-FFF2-40B4-BE49-F238E27FC236}">
                <a16:creationId xmlns:a16="http://schemas.microsoft.com/office/drawing/2014/main" id="{89B806F8-04BD-48BD-BAE1-AB777C8336C1}"/>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1E30EF23-14B6-4EF0-B29D-7D4C5CEBD908}"/>
              </a:ext>
            </a:extLst>
          </p:cNvPr>
          <p:cNvSpPr>
            <a:spLocks xmlns:a="http://schemas.openxmlformats.org/drawingml/2006/main" noGrp="1"/>
          </p:cNvSpPr>
          <p:nvPr/>
        </p:nvSpPr>
        <p:spPr>
          <a:xfrm xmlns:a="http://schemas.openxmlformats.org/drawingml/2006/main">
            <a:off x="609600" y="6562725"/>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AAB8B0"/>
                </a:solidFill>
                <a:latin typeface="Arial"/>
                <a:ea typeface="Arial"/>
                <a:cs typeface="Arial"/>
              </a:defRPr>
            </a:pPr>
            <a:r>
              <a:rPr sz="900" b="0">
                <a:solidFill>
                  <a:srgbClr val="AAB8B0"/>
                </a:solidFill>
                <a:latin typeface="Arial"/>
                <a:ea typeface="Arial"/>
                <a:cs typeface="Arial"/>
              </a:rPr>
              <a:t>SYNTHETIC DATA  /  UNSUPERVISED DISCOVERY  /  HUMAN EVALUATION</a:t>
            </a:r>
          </a:p>
        </p:txBody>
      </p:sp>
      <p:sp>
        <p:nvSpPr>
          <p:cNvPr id="6" name="Page number">
            <a:extLst xmlns:a="http://schemas.openxmlformats.org/drawingml/2006/main">
              <a:ext uri="{FF2B5EF4-FFF2-40B4-BE49-F238E27FC236}">
                <a16:creationId xmlns:a16="http://schemas.microsoft.com/office/drawing/2014/main" id="{9C9C01EF-3528-437C-9585-7A1245731CA1}"/>
              </a:ext>
            </a:extLst>
          </p:cNvPr>
          <p:cNvSpPr>
            <a:spLocks xmlns:a="http://schemas.openxmlformats.org/drawingml/2006/main" noGrp="1"/>
          </p:cNvSpPr>
          <p:nvPr/>
        </p:nvSpPr>
        <p:spPr>
          <a:xfrm xmlns:a="http://schemas.openxmlformats.org/drawingml/2006/main">
            <a:off x="11049000" y="65436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9AEBCA"/>
                </a:solidFill>
                <a:latin typeface="Arial"/>
                <a:ea typeface="Arial"/>
                <a:cs typeface="Arial"/>
              </a:defRPr>
            </a:pPr>
            <a:r>
              <a:rPr sz="1050" b="1">
                <a:solidFill>
                  <a:srgbClr val="9AEBCA"/>
                </a:solidFill>
                <a:latin typeface="Arial"/>
                <a:ea typeface="Arial"/>
                <a:cs typeface="Arial"/>
              </a:rPr>
              <a:t>03</a:t>
            </a:r>
          </a:p>
        </p:txBody>
      </p:sp>
      <p:sp>
        <p:nvSpPr>
          <p:cNvPr id="7" name="Text">
            <a:extLst xmlns:a="http://schemas.openxmlformats.org/drawingml/2006/main">
              <a:ext uri="{FF2B5EF4-FFF2-40B4-BE49-F238E27FC236}">
                <a16:creationId xmlns:a16="http://schemas.microsoft.com/office/drawing/2014/main" id="{D65B8AEF-59A7-46F8-B899-0C93061CC79C}"/>
              </a:ext>
            </a:extLst>
          </p:cNvPr>
          <p:cNvSpPr>
            <a:spLocks xmlns:a="http://schemas.openxmlformats.org/drawingml/2006/main" noGrp="1"/>
          </p:cNvSpPr>
          <p:nvPr/>
        </p:nvSpPr>
        <p:spPr>
          <a:xfrm xmlns:a="http://schemas.openxmlformats.org/drawingml/2006/main">
            <a:off x="609600" y="1571625"/>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AAB8B0"/>
                </a:solidFill>
                <a:latin typeface="Arial"/>
                <a:ea typeface="Arial"/>
                <a:cs typeface="Arial"/>
              </a:defRPr>
            </a:pPr>
            <a:r>
              <a:rPr sz="1650" b="0">
                <a:solidFill>
                  <a:srgbClr val="AAB8B0"/>
                </a:solidFill>
                <a:latin typeface="Arial"/>
                <a:ea typeface="Arial"/>
                <a:cs typeface="Arial"/>
              </a:rPr>
              <a:t>Narrative order and story time can diverge. TYM represents both the text sequence and the temporal structure inferred from it.</a:t>
            </a:r>
          </a:p>
        </p:txBody>
      </p:sp>
      <p:sp>
        <p:nvSpPr>
          <p:cNvPr id="8" name="Text">
            <a:extLst xmlns:a="http://schemas.openxmlformats.org/drawingml/2006/main">
              <a:ext uri="{FF2B5EF4-FFF2-40B4-BE49-F238E27FC236}">
                <a16:creationId xmlns:a16="http://schemas.microsoft.com/office/drawing/2014/main" id="{4828FACD-F402-4EAC-B4A2-D527ECE0342C}"/>
              </a:ext>
            </a:extLst>
          </p:cNvPr>
          <p:cNvSpPr>
            <a:spLocks xmlns:a="http://schemas.openxmlformats.org/drawingml/2006/main" noGrp="1"/>
          </p:cNvSpPr>
          <p:nvPr/>
        </p:nvSpPr>
        <p:spPr>
          <a:xfrm xmlns:a="http://schemas.openxmlformats.org/drawingml/2006/main">
            <a:off x="609600" y="2543175"/>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2DDA8"/>
                </a:solidFill>
                <a:latin typeface="Arial"/>
                <a:ea typeface="Arial"/>
                <a:cs typeface="Arial"/>
              </a:defRPr>
            </a:pPr>
            <a:r>
              <a:rPr sz="1200" b="1">
                <a:solidFill>
                  <a:srgbClr val="62DDA8"/>
                </a:solidFill>
                <a:latin typeface="Arial"/>
                <a:ea typeface="Arial"/>
                <a:cs typeface="Arial"/>
              </a:rPr>
              <a:t>EVENTS IN TEXT</a:t>
            </a:r>
          </a:p>
        </p:txBody>
      </p:sp>
      <p:sp>
        <p:nvSpPr>
          <p:cNvPr id="9" name="Text">
            <a:extLst xmlns:a="http://schemas.openxmlformats.org/drawingml/2006/main">
              <a:ext uri="{FF2B5EF4-FFF2-40B4-BE49-F238E27FC236}">
                <a16:creationId xmlns:a16="http://schemas.microsoft.com/office/drawing/2014/main" id="{805ED301-779A-4CC1-947A-F5959FC33D32}"/>
              </a:ext>
            </a:extLst>
          </p:cNvPr>
          <p:cNvSpPr>
            <a:spLocks xmlns:a="http://schemas.openxmlformats.org/drawingml/2006/main" noGrp="1"/>
          </p:cNvSpPr>
          <p:nvPr/>
        </p:nvSpPr>
        <p:spPr>
          <a:xfrm xmlns:a="http://schemas.openxmlformats.org/drawingml/2006/main">
            <a:off x="609600" y="2943225"/>
            <a:ext cx="3238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0">
                <a:solidFill>
                  <a:srgbClr val="F3F6F4"/>
                </a:solidFill>
                <a:latin typeface="Arial"/>
                <a:ea typeface="Arial"/>
                <a:cs typeface="Arial"/>
              </a:defRPr>
            </a:pPr>
            <a:r>
              <a:rPr sz="1950" b="0">
                <a:solidFill>
                  <a:srgbClr val="F3F6F4"/>
                </a:solidFill>
                <a:latin typeface="Arial"/>
                <a:ea typeface="Arial"/>
                <a:cs typeface="Arial"/>
              </a:rPr>
              <a:t>EV1  “grew up”</a:t>
            </a:r>
          </a:p>
          <a:p xmlns:a="http://schemas.openxmlformats.org/drawingml/2006/main">
            <a:pPr algn="l">
              <a:defRPr sz="1950" b="0">
                <a:solidFill>
                  <a:srgbClr val="F3F6F4"/>
                </a:solidFill>
                <a:latin typeface="Arial"/>
                <a:ea typeface="Arial"/>
                <a:cs typeface="Arial"/>
              </a:defRPr>
            </a:pPr>
            <a:r>
              <a:rPr sz="1950" b="0">
                <a:solidFill>
                  <a:srgbClr val="F3F6F4"/>
                </a:solidFill>
                <a:latin typeface="Arial"/>
                <a:ea typeface="Arial"/>
                <a:cs typeface="Arial"/>
              </a:rPr>
              <a:t>EV2  “remembered”</a:t>
            </a:r>
          </a:p>
          <a:p xmlns:a="http://schemas.openxmlformats.org/drawingml/2006/main">
            <a:pPr algn="l">
              <a:defRPr sz="1950" b="0">
                <a:solidFill>
                  <a:srgbClr val="F3F6F4"/>
                </a:solidFill>
                <a:latin typeface="Arial"/>
                <a:ea typeface="Arial"/>
                <a:cs typeface="Arial"/>
              </a:defRPr>
            </a:pPr>
            <a:r>
              <a:rPr sz="1950" b="0">
                <a:solidFill>
                  <a:srgbClr val="F3F6F4"/>
                </a:solidFill>
                <a:latin typeface="Arial"/>
                <a:ea typeface="Arial"/>
                <a:cs typeface="Arial"/>
              </a:rPr>
              <a:t>EV3  “found”</a:t>
            </a:r>
          </a:p>
        </p:txBody>
      </p:sp>
      <p:sp>
        <p:nvSpPr>
          <p:cNvPr id="10" name="Diagram shape">
            <a:extLst xmlns:a="http://schemas.openxmlformats.org/drawingml/2006/main">
              <a:ext uri="{FF2B5EF4-FFF2-40B4-BE49-F238E27FC236}">
                <a16:creationId xmlns:a16="http://schemas.microsoft.com/office/drawing/2014/main" id="{B30281AF-DE3D-480C-A8E1-4A43E9C4FB79}"/>
              </a:ext>
            </a:extLst>
          </p:cNvPr>
          <p:cNvSpPr>
            <a:spLocks xmlns:a="http://schemas.openxmlformats.org/drawingml/2006/main" noGrp="1"/>
          </p:cNvSpPr>
          <p:nvPr/>
        </p:nvSpPr>
        <p:spPr>
          <a:xfrm xmlns:a="http://schemas.openxmlformats.org/drawingml/2006/main">
            <a:off x="4038600" y="2505075"/>
            <a:ext cx="9525" cy="185737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941812A0-B178-42CA-91BB-524D6063D0E3}"/>
              </a:ext>
            </a:extLst>
          </p:cNvPr>
          <p:cNvSpPr>
            <a:spLocks xmlns:a="http://schemas.openxmlformats.org/drawingml/2006/main" noGrp="1"/>
          </p:cNvSpPr>
          <p:nvPr/>
        </p:nvSpPr>
        <p:spPr>
          <a:xfrm xmlns:a="http://schemas.openxmlformats.org/drawingml/2006/main">
            <a:off x="4267200" y="2543175"/>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2DDA8"/>
                </a:solidFill>
                <a:latin typeface="Arial"/>
                <a:ea typeface="Arial"/>
                <a:cs typeface="Arial"/>
              </a:defRPr>
            </a:pPr>
            <a:r>
              <a:rPr sz="1200" b="1">
                <a:solidFill>
                  <a:srgbClr val="62DDA8"/>
                </a:solidFill>
                <a:latin typeface="Arial"/>
                <a:ea typeface="Arial"/>
                <a:cs typeface="Arial"/>
              </a:rPr>
              <a:t>TIME SEGMENTS</a:t>
            </a:r>
          </a:p>
        </p:txBody>
      </p:sp>
      <p:sp>
        <p:nvSpPr>
          <p:cNvPr id="12" name="Text">
            <a:extLst xmlns:a="http://schemas.openxmlformats.org/drawingml/2006/main">
              <a:ext uri="{FF2B5EF4-FFF2-40B4-BE49-F238E27FC236}">
                <a16:creationId xmlns:a16="http://schemas.microsoft.com/office/drawing/2014/main" id="{07491B43-296D-4C8D-8920-7C326F16B7C1}"/>
              </a:ext>
            </a:extLst>
          </p:cNvPr>
          <p:cNvSpPr>
            <a:spLocks xmlns:a="http://schemas.openxmlformats.org/drawingml/2006/main" noGrp="1"/>
          </p:cNvSpPr>
          <p:nvPr/>
        </p:nvSpPr>
        <p:spPr>
          <a:xfrm xmlns:a="http://schemas.openxmlformats.org/drawingml/2006/main">
            <a:off x="4267200" y="2943225"/>
            <a:ext cx="3238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0">
                <a:solidFill>
                  <a:srgbClr val="F3F6F4"/>
                </a:solidFill>
                <a:latin typeface="Arial"/>
                <a:ea typeface="Arial"/>
                <a:cs typeface="Arial"/>
              </a:defRPr>
            </a:pPr>
            <a:r>
              <a:rPr sz="1950" b="0">
                <a:solidFill>
                  <a:srgbClr val="F3F6F4"/>
                </a:solidFill>
                <a:latin typeface="Arial"/>
                <a:ea typeface="Arial"/>
                <a:cs typeface="Arial"/>
              </a:rPr>
              <a:t>TS labels:</a:t>
            </a:r>
          </a:p>
          <a:p xmlns:a="http://schemas.openxmlformats.org/drawingml/2006/main">
            <a:pPr algn="l">
              <a:defRPr sz="1950" b="0">
                <a:solidFill>
                  <a:srgbClr val="F3F6F4"/>
                </a:solidFill>
                <a:latin typeface="Arial"/>
                <a:ea typeface="Arial"/>
                <a:cs typeface="Arial"/>
              </a:defRPr>
            </a:pPr>
            <a:r>
              <a:rPr sz="1950" b="0">
                <a:solidFill>
                  <a:srgbClr val="F3F6F4"/>
                </a:solidFill>
                <a:latin typeface="Arial"/>
                <a:ea typeface="Arial"/>
                <a:cs typeface="Arial"/>
              </a:rPr>
              <a:t>NAR  /  REM  /  SUP</a:t>
            </a:r>
          </a:p>
          <a:p xmlns:a="http://schemas.openxmlformats.org/drawingml/2006/main">
            <a:pPr algn="l">
              <a:defRPr sz="1950" b="0">
                <a:solidFill>
                  <a:srgbClr val="F3F6F4"/>
                </a:solidFill>
                <a:latin typeface="Arial"/>
                <a:ea typeface="Arial"/>
                <a:cs typeface="Arial"/>
              </a:defRPr>
            </a:pPr>
            <a:r>
              <a:rPr sz="1950" b="0">
                <a:solidFill>
                  <a:srgbClr val="F3F6F4"/>
                </a:solidFill>
                <a:latin typeface="Arial"/>
                <a:ea typeface="Arial"/>
                <a:cs typeface="Arial"/>
              </a:rPr>
              <a:t>GEN  /  FIC</a:t>
            </a:r>
          </a:p>
        </p:txBody>
      </p:sp>
      <p:sp>
        <p:nvSpPr>
          <p:cNvPr id="13" name="Diagram shape">
            <a:extLst xmlns:a="http://schemas.openxmlformats.org/drawingml/2006/main">
              <a:ext uri="{FF2B5EF4-FFF2-40B4-BE49-F238E27FC236}">
                <a16:creationId xmlns:a16="http://schemas.microsoft.com/office/drawing/2014/main" id="{B9D50285-CE7C-4CE8-B7FF-F8B289CA7385}"/>
              </a:ext>
            </a:extLst>
          </p:cNvPr>
          <p:cNvSpPr>
            <a:spLocks xmlns:a="http://schemas.openxmlformats.org/drawingml/2006/main" noGrp="1"/>
          </p:cNvSpPr>
          <p:nvPr/>
        </p:nvSpPr>
        <p:spPr>
          <a:xfrm xmlns:a="http://schemas.openxmlformats.org/drawingml/2006/main">
            <a:off x="7696200" y="2505075"/>
            <a:ext cx="9525" cy="185737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0B8FDCA8-290E-4CD9-B1C3-61F9C6B4FD59}"/>
              </a:ext>
            </a:extLst>
          </p:cNvPr>
          <p:cNvSpPr>
            <a:spLocks xmlns:a="http://schemas.openxmlformats.org/drawingml/2006/main" noGrp="1"/>
          </p:cNvSpPr>
          <p:nvPr/>
        </p:nvSpPr>
        <p:spPr>
          <a:xfrm xmlns:a="http://schemas.openxmlformats.org/drawingml/2006/main">
            <a:off x="7924800" y="2543175"/>
            <a:ext cx="365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2DDA8"/>
                </a:solidFill>
                <a:latin typeface="Arial"/>
                <a:ea typeface="Arial"/>
                <a:cs typeface="Arial"/>
              </a:defRPr>
            </a:pPr>
            <a:r>
              <a:rPr sz="1200" b="1">
                <a:solidFill>
                  <a:srgbClr val="62DDA8"/>
                </a:solidFill>
                <a:latin typeface="Arial"/>
                <a:ea typeface="Arial"/>
                <a:cs typeface="Arial"/>
              </a:rPr>
              <a:t>TEMPORAL LINKS</a:t>
            </a:r>
          </a:p>
        </p:txBody>
      </p:sp>
      <p:sp>
        <p:nvSpPr>
          <p:cNvPr id="15" name="Text">
            <a:extLst xmlns:a="http://schemas.openxmlformats.org/drawingml/2006/main">
              <a:ext uri="{FF2B5EF4-FFF2-40B4-BE49-F238E27FC236}">
                <a16:creationId xmlns:a16="http://schemas.microsoft.com/office/drawing/2014/main" id="{FB9CD9CA-FE72-4DA7-925A-769128E9C67E}"/>
              </a:ext>
            </a:extLst>
          </p:cNvPr>
          <p:cNvSpPr>
            <a:spLocks xmlns:a="http://schemas.openxmlformats.org/drawingml/2006/main" noGrp="1"/>
          </p:cNvSpPr>
          <p:nvPr/>
        </p:nvSpPr>
        <p:spPr>
          <a:xfrm xmlns:a="http://schemas.openxmlformats.org/drawingml/2006/main">
            <a:off x="7924800" y="2943225"/>
            <a:ext cx="36576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0">
                <a:solidFill>
                  <a:srgbClr val="F3F6F4"/>
                </a:solidFill>
                <a:latin typeface="Arial"/>
                <a:ea typeface="Arial"/>
                <a:cs typeface="Arial"/>
              </a:defRPr>
            </a:pPr>
            <a:r>
              <a:rPr sz="1950" b="0">
                <a:solidFill>
                  <a:srgbClr val="F3F6F4"/>
                </a:solidFill>
                <a:latin typeface="Arial"/>
                <a:ea typeface="Arial"/>
                <a:cs typeface="Arial"/>
              </a:rPr>
              <a:t>EV2 BEFORE EV3</a:t>
            </a:r>
          </a:p>
          <a:p xmlns:a="http://schemas.openxmlformats.org/drawingml/2006/main">
            <a:pPr algn="l">
              <a:defRPr sz="1950" b="0">
                <a:solidFill>
                  <a:srgbClr val="F3F6F4"/>
                </a:solidFill>
                <a:latin typeface="Arial"/>
                <a:ea typeface="Arial"/>
                <a:cs typeface="Arial"/>
              </a:defRPr>
            </a:pPr>
            <a:r>
              <a:rPr sz="1950" b="0">
                <a:solidFill>
                  <a:srgbClr val="F3F6F4"/>
                </a:solidFill>
                <a:latin typeface="Arial"/>
                <a:ea typeface="Arial"/>
                <a:cs typeface="Arial"/>
              </a:rPr>
              <a:t>TS2 BEFORE TS3</a:t>
            </a:r>
          </a:p>
          <a:p xmlns:a="http://schemas.openxmlformats.org/drawingml/2006/main">
            <a:pPr algn="l">
              <a:defRPr sz="1950" b="0">
                <a:solidFill>
                  <a:srgbClr val="F3F6F4"/>
                </a:solidFill>
                <a:latin typeface="Arial"/>
                <a:ea typeface="Arial"/>
                <a:cs typeface="Arial"/>
              </a:defRPr>
            </a:pPr>
            <a:r>
              <a:rPr sz="1950" b="0">
                <a:solidFill>
                  <a:srgbClr val="F3F6F4"/>
                </a:solidFill>
                <a:latin typeface="Arial"/>
                <a:ea typeface="Arial"/>
                <a:cs typeface="Arial"/>
              </a:rPr>
              <a:t>TIMEX3 anchors where explicit</a:t>
            </a:r>
          </a:p>
        </p:txBody>
      </p:sp>
      <p:sp>
        <p:nvSpPr>
          <p:cNvPr id="16" name="Section rule">
            <a:extLst xmlns:a="http://schemas.openxmlformats.org/drawingml/2006/main">
              <a:ext uri="{FF2B5EF4-FFF2-40B4-BE49-F238E27FC236}">
                <a16:creationId xmlns:a16="http://schemas.microsoft.com/office/drawing/2014/main" id="{63A2AB9C-7286-4C8A-B7B6-2BF26F3EB8B5}"/>
              </a:ext>
            </a:extLst>
          </p:cNvPr>
          <p:cNvSpPr>
            <a:spLocks xmlns:a="http://schemas.openxmlformats.org/drawingml/2006/main" noGrp="1"/>
          </p:cNvSpPr>
          <p:nvPr/>
        </p:nvSpPr>
        <p:spPr>
          <a:xfrm xmlns:a="http://schemas.openxmlformats.org/drawingml/2006/main">
            <a:off x="609600" y="463867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232F3A86-0205-480D-9E2D-AAB086BC43A2}"/>
              </a:ext>
            </a:extLst>
          </p:cNvPr>
          <p:cNvSpPr>
            <a:spLocks xmlns:a="http://schemas.openxmlformats.org/drawingml/2006/main" noGrp="1"/>
          </p:cNvSpPr>
          <p:nvPr/>
        </p:nvSpPr>
        <p:spPr>
          <a:xfrm xmlns:a="http://schemas.openxmlformats.org/drawingml/2006/main">
            <a:off x="609600" y="4953000"/>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62DDA8"/>
                </a:solidFill>
                <a:latin typeface="Arial"/>
                <a:ea typeface="Arial"/>
                <a:cs typeface="Arial"/>
              </a:defRPr>
            </a:pPr>
            <a:r>
              <a:rPr sz="1350" b="1">
                <a:solidFill>
                  <a:srgbClr val="62DDA8"/>
                </a:solidFill>
                <a:latin typeface="Arial"/>
                <a:ea typeface="Arial"/>
                <a:cs typeface="Arial"/>
              </a:rPr>
              <a:t>Output layers</a:t>
            </a:r>
          </a:p>
        </p:txBody>
      </p:sp>
      <p:sp>
        <p:nvSpPr>
          <p:cNvPr id="18" name="Text">
            <a:extLst xmlns:a="http://schemas.openxmlformats.org/drawingml/2006/main">
              <a:ext uri="{FF2B5EF4-FFF2-40B4-BE49-F238E27FC236}">
                <a16:creationId xmlns:a16="http://schemas.microsoft.com/office/drawing/2014/main" id="{AC7FF783-5A4A-4185-AF36-E036ADC45735}"/>
              </a:ext>
            </a:extLst>
          </p:cNvPr>
          <p:cNvSpPr>
            <a:spLocks xmlns:a="http://schemas.openxmlformats.org/drawingml/2006/main" noGrp="1"/>
          </p:cNvSpPr>
          <p:nvPr/>
        </p:nvSpPr>
        <p:spPr>
          <a:xfrm xmlns:a="http://schemas.openxmlformats.org/drawingml/2006/main">
            <a:off x="2571750" y="4895850"/>
            <a:ext cx="8334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The API emits TYM tracks, segments, endpoints, and relations alongside TimeML-style EVENT, TIMEX3, SIGNAL, MAKEINSTANCE, and TLINK annotations.</a:t>
            </a:r>
          </a:p>
        </p:txBody>
      </p:sp>
    </p:spTree>
    <p:extLst>
      <p:ext uri="{BB962C8B-B14F-4D97-AF65-F5344CB8AC3E}">
        <p14:creationId xmlns:p14="http://schemas.microsoft.com/office/powerpoint/2010/main" val="359985426"/>
      </p:ext>
    </p:extLst>
  </p:cSld>
</p:sld>
</file>

<file path=ppt/slides/slide4.xml><?xml version="1.0" encoding="utf-8"?>
<p:sld xmlns:p="http://schemas.openxmlformats.org/presentationml/2006/main">
  <p:cSld>
    <p:bg>
      <p:bgPr>
        <a:solidFill xmlns:a="http://schemas.openxmlformats.org/drawingml/2006/main">
          <a:srgbClr val="202522"/>
        </a:solidFill>
      </p:bgPr>
    </p:bg>
    <p:spTree>
      <p:nvGrpSpPr>
        <p:cNvPr id="1" name=""/>
        <p:cNvGrpSpPr/>
        <p:nvPr/>
      </p:nvGrpSpPr>
      <p:grpSpPr>
        <a:xfrm xmlns:a="http://schemas.openxmlformats.org/drawingml/2006/main"/>
      </p:grpSpPr>
      <p:sp>
        <p:nvSpPr>
          <p:cNvPr id="18" name="Section label">
            <a:extLst xmlns:a="http://schemas.openxmlformats.org/drawingml/2006/main">
              <a:ext uri="{FF2B5EF4-FFF2-40B4-BE49-F238E27FC236}">
                <a16:creationId xmlns:a16="http://schemas.microsoft.com/office/drawing/2014/main" id="{737D8089-C58E-490F-874A-F0351C88F0B0}"/>
              </a:ext>
            </a:extLst>
          </p:cNvPr>
          <p:cNvSpPr>
            <a:spLocks xmlns:a="http://schemas.openxmlformats.org/drawingml/2006/main" noGrp="1"/>
          </p:cNvSpPr>
          <p:nvPr/>
        </p:nvSpPr>
        <p:spPr>
          <a:xfrm xmlns:a="http://schemas.openxmlformats.org/drawingml/2006/main">
            <a:off x="609600" y="2571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  EVIDENCE</a:t>
            </a:r>
          </a:p>
        </p:txBody>
      </p:sp>
      <p:sp>
        <p:nvSpPr>
          <p:cNvPr id="2" name="Slide title">
            <a:extLst xmlns:a="http://schemas.openxmlformats.org/drawingml/2006/main">
              <a:ext uri="{FF2B5EF4-FFF2-40B4-BE49-F238E27FC236}">
                <a16:creationId xmlns:a16="http://schemas.microsoft.com/office/drawing/2014/main" id="{A054CD8A-9101-477C-A8E7-76FFB730D9AA}"/>
              </a:ext>
            </a:extLst>
          </p:cNvPr>
          <p:cNvSpPr>
            <a:spLocks xmlns:a="http://schemas.openxmlformats.org/drawingml/2006/main" noGrp="1"/>
          </p:cNvSpPr>
          <p:nvPr/>
        </p:nvSpPr>
        <p:spPr>
          <a:xfrm xmlns:a="http://schemas.openxmlformats.org/drawingml/2006/main">
            <a:off x="609600" y="5810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75" b="1">
                <a:solidFill>
                  <a:srgbClr val="F3F6F4"/>
                </a:solidFill>
                <a:latin typeface="Arial"/>
                <a:ea typeface="Arial"/>
                <a:cs typeface="Arial"/>
              </a:defRPr>
            </a:pPr>
            <a:r>
              <a:rPr sz="3075" b="1">
                <a:solidFill>
                  <a:srgbClr val="F3F6F4"/>
                </a:solidFill>
                <a:latin typeface="Arial"/>
                <a:ea typeface="Arial"/>
                <a:cs typeface="Arial"/>
              </a:rPr>
              <a:t>Paper baseline and measurement caveat</a:t>
            </a:r>
          </a:p>
        </p:txBody>
      </p:sp>
      <p:sp>
        <p:nvSpPr>
          <p:cNvPr id="3" name="Section rule">
            <a:extLst xmlns:a="http://schemas.openxmlformats.org/drawingml/2006/main">
              <a:ext uri="{FF2B5EF4-FFF2-40B4-BE49-F238E27FC236}">
                <a16:creationId xmlns:a16="http://schemas.microsoft.com/office/drawing/2014/main" id="{36F1BC03-2FF4-4235-859A-C43CA6F54658}"/>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4" name="Section rule">
            <a:extLst xmlns:a="http://schemas.openxmlformats.org/drawingml/2006/main">
              <a:ext uri="{FF2B5EF4-FFF2-40B4-BE49-F238E27FC236}">
                <a16:creationId xmlns:a16="http://schemas.microsoft.com/office/drawing/2014/main" id="{40D2E51F-335B-4621-B670-F5D39039418D}"/>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B4DE9060-4833-4563-8548-4C1089C6BD99}"/>
              </a:ext>
            </a:extLst>
          </p:cNvPr>
          <p:cNvSpPr>
            <a:spLocks xmlns:a="http://schemas.openxmlformats.org/drawingml/2006/main" noGrp="1"/>
          </p:cNvSpPr>
          <p:nvPr/>
        </p:nvSpPr>
        <p:spPr>
          <a:xfrm xmlns:a="http://schemas.openxmlformats.org/drawingml/2006/main">
            <a:off x="609600" y="6562725"/>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AAB8B0"/>
                </a:solidFill>
                <a:latin typeface="Arial"/>
                <a:ea typeface="Arial"/>
                <a:cs typeface="Arial"/>
              </a:defRPr>
            </a:pPr>
            <a:r>
              <a:rPr sz="900" b="0">
                <a:solidFill>
                  <a:srgbClr val="AAB8B0"/>
                </a:solidFill>
                <a:latin typeface="Arial"/>
                <a:ea typeface="Arial"/>
                <a:cs typeface="Arial"/>
              </a:rPr>
              <a:t>SYNTHETIC DATA  /  UNSUPERVISED DISCOVERY  /  HUMAN EVALUATION</a:t>
            </a:r>
          </a:p>
        </p:txBody>
      </p:sp>
      <p:sp>
        <p:nvSpPr>
          <p:cNvPr id="6" name="Page number">
            <a:extLst xmlns:a="http://schemas.openxmlformats.org/drawingml/2006/main">
              <a:ext uri="{FF2B5EF4-FFF2-40B4-BE49-F238E27FC236}">
                <a16:creationId xmlns:a16="http://schemas.microsoft.com/office/drawing/2014/main" id="{C0A7DCD7-3DF2-444A-B37A-E7217491B8F5}"/>
              </a:ext>
            </a:extLst>
          </p:cNvPr>
          <p:cNvSpPr>
            <a:spLocks xmlns:a="http://schemas.openxmlformats.org/drawingml/2006/main" noGrp="1"/>
          </p:cNvSpPr>
          <p:nvPr/>
        </p:nvSpPr>
        <p:spPr>
          <a:xfrm xmlns:a="http://schemas.openxmlformats.org/drawingml/2006/main">
            <a:off x="11049000" y="65436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9AEBCA"/>
                </a:solidFill>
                <a:latin typeface="Arial"/>
                <a:ea typeface="Arial"/>
                <a:cs typeface="Arial"/>
              </a:defRPr>
            </a:pPr>
            <a:r>
              <a:rPr sz="1050" b="1">
                <a:solidFill>
                  <a:srgbClr val="9AEBCA"/>
                </a:solidFill>
                <a:latin typeface="Arial"/>
                <a:ea typeface="Arial"/>
                <a:cs typeface="Arial"/>
              </a:rPr>
              <a:t>04</a:t>
            </a:r>
          </a:p>
        </p:txBody>
      </p:sp>
      <p:sp>
        <p:nvSpPr>
          <p:cNvPr id="7" name="Text">
            <a:extLst xmlns:a="http://schemas.openxmlformats.org/drawingml/2006/main">
              <a:ext uri="{FF2B5EF4-FFF2-40B4-BE49-F238E27FC236}">
                <a16:creationId xmlns:a16="http://schemas.microsoft.com/office/drawing/2014/main" id="{292C5A62-93AB-4F94-9B4B-31116997D310}"/>
              </a:ext>
            </a:extLst>
          </p:cNvPr>
          <p:cNvSpPr>
            <a:spLocks xmlns:a="http://schemas.openxmlformats.org/drawingml/2006/main" noGrp="1"/>
          </p:cNvSpPr>
          <p:nvPr/>
        </p:nvSpPr>
        <p:spPr>
          <a:xfrm xmlns:a="http://schemas.openxmlformats.org/drawingml/2006/main">
            <a:off x="609600" y="1819275"/>
            <a:ext cx="314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5100" b="1">
                <a:solidFill>
                  <a:srgbClr val="62DDA8"/>
                </a:solidFill>
                <a:latin typeface="Arial"/>
                <a:ea typeface="Arial"/>
                <a:cs typeface="Arial"/>
              </a:defRPr>
            </a:pPr>
            <a:r>
              <a:rPr sz="5100" b="1">
                <a:solidFill>
                  <a:srgbClr val="62DDA8"/>
                </a:solidFill>
                <a:latin typeface="Arial"/>
                <a:ea typeface="Arial"/>
                <a:cs typeface="Arial"/>
              </a:rPr>
              <a:t>58.9%</a:t>
            </a:r>
          </a:p>
        </p:txBody>
      </p:sp>
      <p:sp>
        <p:nvSpPr>
          <p:cNvPr id="8" name="Text">
            <a:extLst xmlns:a="http://schemas.openxmlformats.org/drawingml/2006/main">
              <a:ext uri="{FF2B5EF4-FFF2-40B4-BE49-F238E27FC236}">
                <a16:creationId xmlns:a16="http://schemas.microsoft.com/office/drawing/2014/main" id="{997F024D-CE0D-4FE0-AC75-041ADC4E4587}"/>
              </a:ext>
            </a:extLst>
          </p:cNvPr>
          <p:cNvSpPr>
            <a:spLocks xmlns:a="http://schemas.openxmlformats.org/drawingml/2006/main" noGrp="1"/>
          </p:cNvSpPr>
          <p:nvPr/>
        </p:nvSpPr>
        <p:spPr>
          <a:xfrm xmlns:a="http://schemas.openxmlformats.org/drawingml/2006/main">
            <a:off x="609600" y="270510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F3F6F4"/>
                </a:solidFill>
                <a:latin typeface="Arial"/>
                <a:ea typeface="Arial"/>
                <a:cs typeface="Arial"/>
              </a:defRPr>
            </a:pPr>
            <a:r>
              <a:rPr sz="1800" b="0">
                <a:solidFill>
                  <a:srgbClr val="F3F6F4"/>
                </a:solidFill>
                <a:latin typeface="Arial"/>
                <a:ea typeface="Arial"/>
                <a:cs typeface="Arial"/>
              </a:rPr>
              <a:t>accuracy</a:t>
            </a:r>
          </a:p>
        </p:txBody>
      </p:sp>
      <p:sp>
        <p:nvSpPr>
          <p:cNvPr id="9" name="Text">
            <a:extLst xmlns:a="http://schemas.openxmlformats.org/drawingml/2006/main">
              <a:ext uri="{FF2B5EF4-FFF2-40B4-BE49-F238E27FC236}">
                <a16:creationId xmlns:a16="http://schemas.microsoft.com/office/drawing/2014/main" id="{780C0531-2618-4704-AC94-3BC3D6BB87AC}"/>
              </a:ext>
            </a:extLst>
          </p:cNvPr>
          <p:cNvSpPr>
            <a:spLocks xmlns:a="http://schemas.openxmlformats.org/drawingml/2006/main" noGrp="1"/>
          </p:cNvSpPr>
          <p:nvPr/>
        </p:nvSpPr>
        <p:spPr>
          <a:xfrm xmlns:a="http://schemas.openxmlformats.org/drawingml/2006/main">
            <a:off x="4314825" y="1819275"/>
            <a:ext cx="314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5100" b="1">
                <a:solidFill>
                  <a:srgbClr val="62DDA8"/>
                </a:solidFill>
                <a:latin typeface="Arial"/>
                <a:ea typeface="Arial"/>
                <a:cs typeface="Arial"/>
              </a:defRPr>
            </a:pPr>
            <a:r>
              <a:rPr sz="5100" b="1">
                <a:solidFill>
                  <a:srgbClr val="62DDA8"/>
                </a:solidFill>
                <a:latin typeface="Arial"/>
                <a:ea typeface="Arial"/>
                <a:cs typeface="Arial"/>
              </a:rPr>
              <a:t>58.7%</a:t>
            </a:r>
          </a:p>
        </p:txBody>
      </p:sp>
      <p:sp>
        <p:nvSpPr>
          <p:cNvPr id="10" name="Text">
            <a:extLst xmlns:a="http://schemas.openxmlformats.org/drawingml/2006/main">
              <a:ext uri="{FF2B5EF4-FFF2-40B4-BE49-F238E27FC236}">
                <a16:creationId xmlns:a16="http://schemas.microsoft.com/office/drawing/2014/main" id="{00D1B62D-1119-4CDE-975E-95AA6C6C6F50}"/>
              </a:ext>
            </a:extLst>
          </p:cNvPr>
          <p:cNvSpPr>
            <a:spLocks xmlns:a="http://schemas.openxmlformats.org/drawingml/2006/main" noGrp="1"/>
          </p:cNvSpPr>
          <p:nvPr/>
        </p:nvSpPr>
        <p:spPr>
          <a:xfrm xmlns:a="http://schemas.openxmlformats.org/drawingml/2006/main">
            <a:off x="4314825" y="270510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F3F6F4"/>
                </a:solidFill>
                <a:latin typeface="Arial"/>
                <a:ea typeface="Arial"/>
                <a:cs typeface="Arial"/>
              </a:defRPr>
            </a:pPr>
            <a:r>
              <a:rPr sz="1800" b="0">
                <a:solidFill>
                  <a:srgbClr val="F3F6F4"/>
                </a:solidFill>
                <a:latin typeface="Arial"/>
                <a:ea typeface="Arial"/>
                <a:cs typeface="Arial"/>
              </a:rPr>
              <a:t>macro F1</a:t>
            </a:r>
          </a:p>
        </p:txBody>
      </p:sp>
      <p:sp>
        <p:nvSpPr>
          <p:cNvPr id="11" name="Text">
            <a:extLst xmlns:a="http://schemas.openxmlformats.org/drawingml/2006/main">
              <a:ext uri="{FF2B5EF4-FFF2-40B4-BE49-F238E27FC236}">
                <a16:creationId xmlns:a16="http://schemas.microsoft.com/office/drawing/2014/main" id="{14DF580D-AC44-4D44-96B9-C33B3F88C6F0}"/>
              </a:ext>
            </a:extLst>
          </p:cNvPr>
          <p:cNvSpPr>
            <a:spLocks xmlns:a="http://schemas.openxmlformats.org/drawingml/2006/main" noGrp="1"/>
          </p:cNvSpPr>
          <p:nvPr/>
        </p:nvSpPr>
        <p:spPr>
          <a:xfrm xmlns:a="http://schemas.openxmlformats.org/drawingml/2006/main">
            <a:off x="8020050" y="1819275"/>
            <a:ext cx="314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5100" b="1">
                <a:solidFill>
                  <a:srgbClr val="62DDA8"/>
                </a:solidFill>
                <a:latin typeface="Arial"/>
                <a:ea typeface="Arial"/>
                <a:cs typeface="Arial"/>
              </a:defRPr>
            </a:pPr>
            <a:r>
              <a:rPr sz="5100" b="1">
                <a:solidFill>
                  <a:srgbClr val="62DDA8"/>
                </a:solidFill>
                <a:latin typeface="Arial"/>
                <a:ea typeface="Arial"/>
                <a:cs typeface="Arial"/>
              </a:rPr>
              <a:t>93</a:t>
            </a:r>
          </a:p>
        </p:txBody>
      </p:sp>
      <p:sp>
        <p:nvSpPr>
          <p:cNvPr id="12" name="Text">
            <a:extLst xmlns:a="http://schemas.openxmlformats.org/drawingml/2006/main">
              <a:ext uri="{FF2B5EF4-FFF2-40B4-BE49-F238E27FC236}">
                <a16:creationId xmlns:a16="http://schemas.microsoft.com/office/drawing/2014/main" id="{D8F2C6AD-5501-406B-8CDD-AFC085237B6D}"/>
              </a:ext>
            </a:extLst>
          </p:cNvPr>
          <p:cNvSpPr>
            <a:spLocks xmlns:a="http://schemas.openxmlformats.org/drawingml/2006/main" noGrp="1"/>
          </p:cNvSpPr>
          <p:nvPr/>
        </p:nvSpPr>
        <p:spPr>
          <a:xfrm xmlns:a="http://schemas.openxmlformats.org/drawingml/2006/main">
            <a:off x="8020050" y="270510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F3F6F4"/>
                </a:solidFill>
                <a:latin typeface="Arial"/>
                <a:ea typeface="Arial"/>
                <a:cs typeface="Arial"/>
              </a:defRPr>
            </a:pPr>
            <a:r>
              <a:rPr sz="1800" b="0">
                <a:solidFill>
                  <a:srgbClr val="F3F6F4"/>
                </a:solidFill>
                <a:latin typeface="Arial"/>
                <a:ea typeface="Arial"/>
                <a:cs typeface="Arial"/>
              </a:rPr>
              <a:t>time segments produced</a:t>
            </a:r>
          </a:p>
        </p:txBody>
      </p:sp>
      <p:sp>
        <p:nvSpPr>
          <p:cNvPr id="13" name="Text">
            <a:extLst xmlns:a="http://schemas.openxmlformats.org/drawingml/2006/main">
              <a:ext uri="{FF2B5EF4-FFF2-40B4-BE49-F238E27FC236}">
                <a16:creationId xmlns:a16="http://schemas.microsoft.com/office/drawing/2014/main" id="{D6776475-9C6C-4625-92A6-04BF58E0E3EB}"/>
              </a:ext>
            </a:extLst>
          </p:cNvPr>
          <p:cNvSpPr>
            <a:spLocks xmlns:a="http://schemas.openxmlformats.org/drawingml/2006/main" noGrp="1"/>
          </p:cNvSpPr>
          <p:nvPr/>
        </p:nvSpPr>
        <p:spPr>
          <a:xfrm xmlns:a="http://schemas.openxmlformats.org/drawingml/2006/main">
            <a:off x="609600" y="3714750"/>
            <a:ext cx="685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F3F6F4"/>
                </a:solidFill>
                <a:latin typeface="Arial"/>
                <a:ea typeface="Arial"/>
                <a:cs typeface="Arial"/>
              </a:defRPr>
            </a:pPr>
            <a:r>
              <a:rPr sz="1650" b="1">
                <a:solidFill>
                  <a:srgbClr val="F3F6F4"/>
                </a:solidFill>
                <a:latin typeface="Arial"/>
                <a:ea typeface="Arial"/>
                <a:cs typeface="Arial"/>
              </a:rPr>
              <a:t>Reference evaluation: 2,000 event instances</a:t>
            </a:r>
          </a:p>
        </p:txBody>
      </p:sp>
      <p:sp>
        <p:nvSpPr>
          <p:cNvPr id="14" name="Section rule">
            <a:extLst xmlns:a="http://schemas.openxmlformats.org/drawingml/2006/main">
              <a:ext uri="{FF2B5EF4-FFF2-40B4-BE49-F238E27FC236}">
                <a16:creationId xmlns:a16="http://schemas.microsoft.com/office/drawing/2014/main" id="{C6C60217-342C-44BC-B610-4553A49A17D6}"/>
              </a:ext>
            </a:extLst>
          </p:cNvPr>
          <p:cNvSpPr>
            <a:spLocks xmlns:a="http://schemas.openxmlformats.org/drawingml/2006/main" noGrp="1"/>
          </p:cNvSpPr>
          <p:nvPr/>
        </p:nvSpPr>
        <p:spPr>
          <a:xfrm xmlns:a="http://schemas.openxmlformats.org/drawingml/2006/main">
            <a:off x="609600" y="42862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D7279CE2-CDA6-4DC0-97BF-19E5D2DF8139}"/>
              </a:ext>
            </a:extLst>
          </p:cNvPr>
          <p:cNvSpPr>
            <a:spLocks xmlns:a="http://schemas.openxmlformats.org/drawingml/2006/main" noGrp="1"/>
          </p:cNvSpPr>
          <p:nvPr/>
        </p:nvSpPr>
        <p:spPr>
          <a:xfrm xmlns:a="http://schemas.openxmlformats.org/drawingml/2006/main">
            <a:off x="609600" y="4591050"/>
            <a:ext cx="171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0C36A"/>
                </a:solidFill>
                <a:latin typeface="Arial"/>
                <a:ea typeface="Arial"/>
                <a:cs typeface="Arial"/>
              </a:defRPr>
            </a:pPr>
            <a:r>
              <a:rPr sz="1350" b="1">
                <a:solidFill>
                  <a:srgbClr val="F0C36A"/>
                </a:solidFill>
                <a:latin typeface="Arial"/>
                <a:ea typeface="Arial"/>
                <a:cs typeface="Arial"/>
              </a:rPr>
              <a:t>Interpretation</a:t>
            </a:r>
          </a:p>
        </p:txBody>
      </p:sp>
      <p:sp>
        <p:nvSpPr>
          <p:cNvPr id="16" name="Text">
            <a:extLst xmlns:a="http://schemas.openxmlformats.org/drawingml/2006/main">
              <a:ext uri="{FF2B5EF4-FFF2-40B4-BE49-F238E27FC236}">
                <a16:creationId xmlns:a16="http://schemas.microsoft.com/office/drawing/2014/main" id="{6F5E345D-1C20-4278-B0C4-2962BB19616B}"/>
              </a:ext>
            </a:extLst>
          </p:cNvPr>
          <p:cNvSpPr>
            <a:spLocks xmlns:a="http://schemas.openxmlformats.org/drawingml/2006/main" noGrp="1"/>
          </p:cNvSpPr>
          <p:nvPr/>
        </p:nvSpPr>
        <p:spPr>
          <a:xfrm xmlns:a="http://schemas.openxmlformats.org/drawingml/2006/main">
            <a:off x="2571750" y="4514850"/>
            <a:ext cx="8458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These are results reported in the paper, not results from the current repository. The PDF also reports corpus-level totals separately; how those totals relate to the 2,000-event evaluation is not fully reconciled in the reported sections.</a:t>
            </a:r>
          </a:p>
        </p:txBody>
      </p:sp>
      <p:sp>
        <p:nvSpPr>
          <p:cNvPr id="17" name="Text">
            <a:extLst xmlns:a="http://schemas.openxmlformats.org/drawingml/2006/main">
              <a:ext uri="{FF2B5EF4-FFF2-40B4-BE49-F238E27FC236}">
                <a16:creationId xmlns:a16="http://schemas.microsoft.com/office/drawing/2014/main" id="{F56B87E9-D702-4886-B84A-D5B5DF685873}"/>
              </a:ext>
            </a:extLst>
          </p:cNvPr>
          <p:cNvSpPr>
            <a:spLocks xmlns:a="http://schemas.openxmlformats.org/drawingml/2006/main" noGrp="1"/>
          </p:cNvSpPr>
          <p:nvPr/>
        </p:nvSpPr>
        <p:spPr>
          <a:xfrm xmlns:a="http://schemas.openxmlformats.org/drawingml/2006/main">
            <a:off x="609600" y="5753100"/>
            <a:ext cx="885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AAB8B0"/>
                </a:solidFill>
                <a:latin typeface="Arial"/>
                <a:ea typeface="Arial"/>
                <a:cs typeface="Arial"/>
              </a:defRPr>
            </a:pPr>
            <a:r>
              <a:rPr sz="1425" b="0">
                <a:solidFill>
                  <a:srgbClr val="AAB8B0"/>
                </a:solidFill>
                <a:latin typeface="Arial"/>
                <a:ea typeface="Arial"/>
                <a:cs typeface="Arial"/>
              </a:rPr>
              <a:t>Do not use the paper score as the API baseline.</a:t>
            </a:r>
          </a:p>
        </p:txBody>
      </p:sp>
    </p:spTree>
    <p:extLst>
      <p:ext uri="{BB962C8B-B14F-4D97-AF65-F5344CB8AC3E}">
        <p14:creationId xmlns:p14="http://schemas.microsoft.com/office/powerpoint/2010/main" val="358097074"/>
      </p:ext>
    </p:extLst>
  </p:cSld>
</p:sld>
</file>

<file path=ppt/slides/slide5.xml><?xml version="1.0" encoding="utf-8"?>
<p:sld xmlns:p="http://schemas.openxmlformats.org/presentationml/2006/main">
  <p:cSld>
    <p:bg>
      <p:bgPr>
        <a:solidFill xmlns:a="http://schemas.openxmlformats.org/drawingml/2006/main">
          <a:srgbClr val="202522"/>
        </a:solidFill>
      </p:bgPr>
    </p:bg>
    <p:spTree>
      <p:nvGrpSpPr>
        <p:cNvPr id="1" name=""/>
        <p:cNvGrpSpPr/>
        <p:nvPr/>
      </p:nvGrpSpPr>
      <p:grpSpPr>
        <a:xfrm xmlns:a="http://schemas.openxmlformats.org/drawingml/2006/main"/>
      </p:grpSpPr>
      <p:sp>
        <p:nvSpPr>
          <p:cNvPr id="18" name="Section label">
            <a:extLst xmlns:a="http://schemas.openxmlformats.org/drawingml/2006/main">
              <a:ext uri="{FF2B5EF4-FFF2-40B4-BE49-F238E27FC236}">
                <a16:creationId xmlns:a16="http://schemas.microsoft.com/office/drawing/2014/main" id="{496BF0F4-86E9-4A01-9BD6-17C96613ED6C}"/>
              </a:ext>
            </a:extLst>
          </p:cNvPr>
          <p:cNvSpPr>
            <a:spLocks xmlns:a="http://schemas.openxmlformats.org/drawingml/2006/main" noGrp="1"/>
          </p:cNvSpPr>
          <p:nvPr/>
        </p:nvSpPr>
        <p:spPr>
          <a:xfrm xmlns:a="http://schemas.openxmlformats.org/drawingml/2006/main">
            <a:off x="609600" y="2571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  IMPLEMENTATION BASELINE</a:t>
            </a:r>
          </a:p>
        </p:txBody>
      </p:sp>
      <p:sp>
        <p:nvSpPr>
          <p:cNvPr id="2" name="Slide title">
            <a:extLst xmlns:a="http://schemas.openxmlformats.org/drawingml/2006/main">
              <a:ext uri="{FF2B5EF4-FFF2-40B4-BE49-F238E27FC236}">
                <a16:creationId xmlns:a16="http://schemas.microsoft.com/office/drawing/2014/main" id="{C7C6B568-08A1-466B-98CF-BBE2DF790690}"/>
              </a:ext>
            </a:extLst>
          </p:cNvPr>
          <p:cNvSpPr>
            <a:spLocks xmlns:a="http://schemas.openxmlformats.org/drawingml/2006/main" noGrp="1"/>
          </p:cNvSpPr>
          <p:nvPr/>
        </p:nvSpPr>
        <p:spPr>
          <a:xfrm xmlns:a="http://schemas.openxmlformats.org/drawingml/2006/main">
            <a:off x="609600" y="5810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75" b="1">
                <a:solidFill>
                  <a:srgbClr val="F3F6F4"/>
                </a:solidFill>
                <a:latin typeface="Arial"/>
                <a:ea typeface="Arial"/>
                <a:cs typeface="Arial"/>
              </a:defRPr>
            </a:pPr>
            <a:r>
              <a:rPr sz="3075" b="1">
                <a:solidFill>
                  <a:srgbClr val="F3F6F4"/>
                </a:solidFill>
                <a:latin typeface="Arial"/>
                <a:ea typeface="Arial"/>
                <a:cs typeface="Arial"/>
              </a:rPr>
              <a:t>What the repository can currently prove</a:t>
            </a:r>
          </a:p>
        </p:txBody>
      </p:sp>
      <p:sp>
        <p:nvSpPr>
          <p:cNvPr id="3" name="Section rule">
            <a:extLst xmlns:a="http://schemas.openxmlformats.org/drawingml/2006/main">
              <a:ext uri="{FF2B5EF4-FFF2-40B4-BE49-F238E27FC236}">
                <a16:creationId xmlns:a16="http://schemas.microsoft.com/office/drawing/2014/main" id="{A8E2D77D-A8A4-4913-B537-8E2C861815E6}"/>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4" name="Section rule">
            <a:extLst xmlns:a="http://schemas.openxmlformats.org/drawingml/2006/main">
              <a:ext uri="{FF2B5EF4-FFF2-40B4-BE49-F238E27FC236}">
                <a16:creationId xmlns:a16="http://schemas.microsoft.com/office/drawing/2014/main" id="{7E995B4A-8806-4E94-8125-AF23F9C3F725}"/>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3D62E23D-66DF-42CB-9A71-306C528AD5E4}"/>
              </a:ext>
            </a:extLst>
          </p:cNvPr>
          <p:cNvSpPr>
            <a:spLocks xmlns:a="http://schemas.openxmlformats.org/drawingml/2006/main" noGrp="1"/>
          </p:cNvSpPr>
          <p:nvPr/>
        </p:nvSpPr>
        <p:spPr>
          <a:xfrm xmlns:a="http://schemas.openxmlformats.org/drawingml/2006/main">
            <a:off x="609600" y="6562725"/>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AAB8B0"/>
                </a:solidFill>
                <a:latin typeface="Arial"/>
                <a:ea typeface="Arial"/>
                <a:cs typeface="Arial"/>
              </a:defRPr>
            </a:pPr>
            <a:r>
              <a:rPr sz="900" b="0">
                <a:solidFill>
                  <a:srgbClr val="AAB8B0"/>
                </a:solidFill>
                <a:latin typeface="Arial"/>
                <a:ea typeface="Arial"/>
                <a:cs typeface="Arial"/>
              </a:rPr>
              <a:t>SYNTHETIC DATA  /  UNSUPERVISED DISCOVERY  /  HUMAN EVALUATION</a:t>
            </a:r>
          </a:p>
        </p:txBody>
      </p:sp>
      <p:sp>
        <p:nvSpPr>
          <p:cNvPr id="6" name="Page number">
            <a:extLst xmlns:a="http://schemas.openxmlformats.org/drawingml/2006/main">
              <a:ext uri="{FF2B5EF4-FFF2-40B4-BE49-F238E27FC236}">
                <a16:creationId xmlns:a16="http://schemas.microsoft.com/office/drawing/2014/main" id="{18355D0D-1720-422F-B3B8-4867AAF6B980}"/>
              </a:ext>
            </a:extLst>
          </p:cNvPr>
          <p:cNvSpPr>
            <a:spLocks xmlns:a="http://schemas.openxmlformats.org/drawingml/2006/main" noGrp="1"/>
          </p:cNvSpPr>
          <p:nvPr/>
        </p:nvSpPr>
        <p:spPr>
          <a:xfrm xmlns:a="http://schemas.openxmlformats.org/drawingml/2006/main">
            <a:off x="11049000" y="65436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9AEBCA"/>
                </a:solidFill>
                <a:latin typeface="Arial"/>
                <a:ea typeface="Arial"/>
                <a:cs typeface="Arial"/>
              </a:defRPr>
            </a:pPr>
            <a:r>
              <a:rPr sz="1050" b="1">
                <a:solidFill>
                  <a:srgbClr val="9AEBCA"/>
                </a:solidFill>
                <a:latin typeface="Arial"/>
                <a:ea typeface="Arial"/>
                <a:cs typeface="Arial"/>
              </a:rPr>
              <a:t>05</a:t>
            </a:r>
          </a:p>
        </p:txBody>
      </p:sp>
      <p:sp>
        <p:nvSpPr>
          <p:cNvPr id="7" name="Text">
            <a:extLst xmlns:a="http://schemas.openxmlformats.org/drawingml/2006/main">
              <a:ext uri="{FF2B5EF4-FFF2-40B4-BE49-F238E27FC236}">
                <a16:creationId xmlns:a16="http://schemas.microsoft.com/office/drawing/2014/main" id="{50E71772-705D-4EA7-AA15-A74AB9359CFC}"/>
              </a:ext>
            </a:extLst>
          </p:cNvPr>
          <p:cNvSpPr>
            <a:spLocks xmlns:a="http://schemas.openxmlformats.org/drawingml/2006/main" noGrp="1"/>
          </p:cNvSpPr>
          <p:nvPr/>
        </p:nvSpPr>
        <p:spPr>
          <a:xfrm xmlns:a="http://schemas.openxmlformats.org/drawingml/2006/main">
            <a:off x="609600" y="1743075"/>
            <a:ext cx="1809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238"/>
          </a:bodyPr>
          <a:lstStyle xmlns:a="http://schemas.openxmlformats.org/drawingml/2006/main"/>
          <a:p xmlns:a="http://schemas.openxmlformats.org/drawingml/2006/main">
            <a:pPr algn="l">
              <a:defRPr sz="5250" b="1">
                <a:solidFill>
                  <a:srgbClr val="62DDA8"/>
                </a:solidFill>
                <a:latin typeface="Arial"/>
                <a:ea typeface="Arial"/>
                <a:cs typeface="Arial"/>
              </a:defRPr>
            </a:pPr>
            <a:r>
              <a:rPr sz="5250" b="1">
                <a:solidFill>
                  <a:srgbClr val="62DDA8"/>
                </a:solidFill>
                <a:latin typeface="Arial"/>
                <a:ea typeface="Arial"/>
                <a:cs typeface="Arial"/>
              </a:rPr>
              <a:t>67</a:t>
            </a:r>
          </a:p>
        </p:txBody>
      </p:sp>
      <p:sp>
        <p:nvSpPr>
          <p:cNvPr id="8" name="Text">
            <a:extLst xmlns:a="http://schemas.openxmlformats.org/drawingml/2006/main">
              <a:ext uri="{FF2B5EF4-FFF2-40B4-BE49-F238E27FC236}">
                <a16:creationId xmlns:a16="http://schemas.microsoft.com/office/drawing/2014/main" id="{967955C4-5593-4817-BA86-2D53ABD79C63}"/>
              </a:ext>
            </a:extLst>
          </p:cNvPr>
          <p:cNvSpPr>
            <a:spLocks xmlns:a="http://schemas.openxmlformats.org/drawingml/2006/main" noGrp="1"/>
          </p:cNvSpPr>
          <p:nvPr/>
        </p:nvSpPr>
        <p:spPr>
          <a:xfrm xmlns:a="http://schemas.openxmlformats.org/drawingml/2006/main">
            <a:off x="628650" y="257175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F3F6F4"/>
                </a:solidFill>
                <a:latin typeface="Arial"/>
                <a:ea typeface="Arial"/>
                <a:cs typeface="Arial"/>
              </a:defRPr>
            </a:pPr>
            <a:r>
              <a:rPr sz="1500" b="0">
                <a:solidFill>
                  <a:srgbClr val="F3F6F4"/>
                </a:solidFill>
                <a:latin typeface="Arial"/>
                <a:ea typeface="Arial"/>
                <a:cs typeface="Arial"/>
              </a:rPr>
              <a:t>synthetic demo rows checked in</a:t>
            </a:r>
          </a:p>
        </p:txBody>
      </p:sp>
      <p:sp>
        <p:nvSpPr>
          <p:cNvPr id="9" name="Text">
            <a:extLst xmlns:a="http://schemas.openxmlformats.org/drawingml/2006/main">
              <a:ext uri="{FF2B5EF4-FFF2-40B4-BE49-F238E27FC236}">
                <a16:creationId xmlns:a16="http://schemas.microsoft.com/office/drawing/2014/main" id="{FF234248-0137-464F-9874-42D19430BF21}"/>
              </a:ext>
            </a:extLst>
          </p:cNvPr>
          <p:cNvSpPr>
            <a:spLocks xmlns:a="http://schemas.openxmlformats.org/drawingml/2006/main" noGrp="1"/>
          </p:cNvSpPr>
          <p:nvPr/>
        </p:nvSpPr>
        <p:spPr>
          <a:xfrm xmlns:a="http://schemas.openxmlformats.org/drawingml/2006/main">
            <a:off x="628650" y="2962275"/>
            <a:ext cx="466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AAB8B0"/>
                </a:solidFill>
                <a:latin typeface="Arial"/>
                <a:ea typeface="Arial"/>
                <a:cs typeface="Arial"/>
              </a:defRPr>
            </a:pPr>
            <a:r>
              <a:rPr sz="1350" b="0">
                <a:solidFill>
                  <a:srgbClr val="AAB8B0"/>
                </a:solidFill>
                <a:latin typeface="Arial"/>
                <a:ea typeface="Arial"/>
                <a:cs typeface="Arial"/>
              </a:rPr>
              <a:t>43 segment-type rows   /   24 event-temporal rows</a:t>
            </a:r>
          </a:p>
        </p:txBody>
      </p:sp>
      <p:sp>
        <p:nvSpPr>
          <p:cNvPr id="10" name="Section rule">
            <a:extLst xmlns:a="http://schemas.openxmlformats.org/drawingml/2006/main">
              <a:ext uri="{FF2B5EF4-FFF2-40B4-BE49-F238E27FC236}">
                <a16:creationId xmlns:a16="http://schemas.microsoft.com/office/drawing/2014/main" id="{1E29C9CF-18FD-42F4-8134-6138B548900C}"/>
              </a:ext>
            </a:extLst>
          </p:cNvPr>
          <p:cNvSpPr>
            <a:spLocks xmlns:a="http://schemas.openxmlformats.org/drawingml/2006/main" noGrp="1"/>
          </p:cNvSpPr>
          <p:nvPr/>
        </p:nvSpPr>
        <p:spPr>
          <a:xfrm xmlns:a="http://schemas.openxmlformats.org/drawingml/2006/main">
            <a:off x="5657850" y="1743075"/>
            <a:ext cx="9525" cy="3429000"/>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E5425304-2F64-4CA8-90A2-AE8B6FB39C88}"/>
              </a:ext>
            </a:extLst>
          </p:cNvPr>
          <p:cNvSpPr>
            <a:spLocks xmlns:a="http://schemas.openxmlformats.org/drawingml/2006/main" noGrp="1"/>
          </p:cNvSpPr>
          <p:nvPr/>
        </p:nvSpPr>
        <p:spPr>
          <a:xfrm xmlns:a="http://schemas.openxmlformats.org/drawingml/2006/main">
            <a:off x="6115050" y="1724025"/>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62DDA8"/>
                </a:solidFill>
                <a:latin typeface="Arial"/>
                <a:ea typeface="Arial"/>
                <a:cs typeface="Arial"/>
              </a:defRPr>
            </a:pPr>
            <a:r>
              <a:rPr sz="1350" b="1">
                <a:solidFill>
                  <a:srgbClr val="62DDA8"/>
                </a:solidFill>
                <a:latin typeface="Arial"/>
                <a:ea typeface="Arial"/>
                <a:cs typeface="Arial"/>
              </a:rPr>
              <a:t>Supervised path</a:t>
            </a:r>
          </a:p>
        </p:txBody>
      </p:sp>
      <p:sp>
        <p:nvSpPr>
          <p:cNvPr id="12" name="Text">
            <a:extLst xmlns:a="http://schemas.openxmlformats.org/drawingml/2006/main">
              <a:ext uri="{FF2B5EF4-FFF2-40B4-BE49-F238E27FC236}">
                <a16:creationId xmlns:a16="http://schemas.microsoft.com/office/drawing/2014/main" id="{904945FE-D47F-4E27-A692-D825D4295F0B}"/>
              </a:ext>
            </a:extLst>
          </p:cNvPr>
          <p:cNvSpPr>
            <a:spLocks xmlns:a="http://schemas.openxmlformats.org/drawingml/2006/main" noGrp="1"/>
          </p:cNvSpPr>
          <p:nvPr/>
        </p:nvSpPr>
        <p:spPr>
          <a:xfrm xmlns:a="http://schemas.openxmlformats.org/drawingml/2006/main">
            <a:off x="6115050" y="2114550"/>
            <a:ext cx="495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ML.NET FeaturizeText + SDCA maximum-entropy.</a:t>
            </a:r>
          </a:p>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Grouped chapter/document evaluation accepts only adjudicated human gold. Synthetic rows can enter training only.</a:t>
            </a:r>
          </a:p>
        </p:txBody>
      </p:sp>
      <p:sp>
        <p:nvSpPr>
          <p:cNvPr id="13" name="Text">
            <a:extLst xmlns:a="http://schemas.openxmlformats.org/drawingml/2006/main">
              <a:ext uri="{FF2B5EF4-FFF2-40B4-BE49-F238E27FC236}">
                <a16:creationId xmlns:a16="http://schemas.microsoft.com/office/drawing/2014/main" id="{A9B8FA67-5AED-438A-812A-1DAD5E365CF7}"/>
              </a:ext>
            </a:extLst>
          </p:cNvPr>
          <p:cNvSpPr>
            <a:spLocks xmlns:a="http://schemas.openxmlformats.org/drawingml/2006/main" noGrp="1"/>
          </p:cNvSpPr>
          <p:nvPr/>
        </p:nvSpPr>
        <p:spPr>
          <a:xfrm xmlns:a="http://schemas.openxmlformats.org/drawingml/2006/main">
            <a:off x="6115050" y="3581400"/>
            <a:ext cx="276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62DDA8"/>
                </a:solidFill>
                <a:latin typeface="Arial"/>
                <a:ea typeface="Arial"/>
                <a:cs typeface="Arial"/>
              </a:defRPr>
            </a:pPr>
            <a:r>
              <a:rPr sz="1350" b="1">
                <a:solidFill>
                  <a:srgbClr val="62DDA8"/>
                </a:solidFill>
                <a:latin typeface="Arial"/>
                <a:ea typeface="Arial"/>
                <a:cs typeface="Arial"/>
              </a:rPr>
              <a:t>Unsupervised path</a:t>
            </a:r>
          </a:p>
        </p:txBody>
      </p:sp>
      <p:sp>
        <p:nvSpPr>
          <p:cNvPr id="14" name="Text">
            <a:extLst xmlns:a="http://schemas.openxmlformats.org/drawingml/2006/main">
              <a:ext uri="{FF2B5EF4-FFF2-40B4-BE49-F238E27FC236}">
                <a16:creationId xmlns:a16="http://schemas.microsoft.com/office/drawing/2014/main" id="{AD6DAAB2-00B4-4378-8BF8-B921941149DC}"/>
              </a:ext>
            </a:extLst>
          </p:cNvPr>
          <p:cNvSpPr>
            <a:spLocks xmlns:a="http://schemas.openxmlformats.org/drawingml/2006/main" noGrp="1"/>
          </p:cNvSpPr>
          <p:nvPr/>
        </p:nvSpPr>
        <p:spPr>
          <a:xfrm xmlns:a="http://schemas.openxmlformats.org/drawingml/2006/main">
            <a:off x="6115050" y="3943350"/>
            <a:ext cx="4953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ML.NET text n-grams + K-Means. The command reports lexical clusters, distances, and exemplars. It does not measure TYM accuracy.</a:t>
            </a:r>
          </a:p>
        </p:txBody>
      </p:sp>
      <p:sp>
        <p:nvSpPr>
          <p:cNvPr id="15" name="Section rule">
            <a:extLst xmlns:a="http://schemas.openxmlformats.org/drawingml/2006/main">
              <a:ext uri="{FF2B5EF4-FFF2-40B4-BE49-F238E27FC236}">
                <a16:creationId xmlns:a16="http://schemas.microsoft.com/office/drawing/2014/main" id="{6C01EC14-1CD3-4BC2-871F-AF4FF94594A5}"/>
              </a:ext>
            </a:extLst>
          </p:cNvPr>
          <p:cNvSpPr>
            <a:spLocks xmlns:a="http://schemas.openxmlformats.org/drawingml/2006/main" noGrp="1"/>
          </p:cNvSpPr>
          <p:nvPr/>
        </p:nvSpPr>
        <p:spPr>
          <a:xfrm xmlns:a="http://schemas.openxmlformats.org/drawingml/2006/main">
            <a:off x="609600" y="528637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6" name="Text">
            <a:extLst xmlns:a="http://schemas.openxmlformats.org/drawingml/2006/main">
              <a:ext uri="{FF2B5EF4-FFF2-40B4-BE49-F238E27FC236}">
                <a16:creationId xmlns:a16="http://schemas.microsoft.com/office/drawing/2014/main" id="{17B353F7-DC62-4352-B588-C825A847F0A0}"/>
              </a:ext>
            </a:extLst>
          </p:cNvPr>
          <p:cNvSpPr>
            <a:spLocks xmlns:a="http://schemas.openxmlformats.org/drawingml/2006/main" noGrp="1"/>
          </p:cNvSpPr>
          <p:nvPr/>
        </p:nvSpPr>
        <p:spPr>
          <a:xfrm xmlns:a="http://schemas.openxmlformats.org/drawingml/2006/main">
            <a:off x="609600" y="551497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0C36A"/>
                </a:solidFill>
                <a:latin typeface="Arial"/>
                <a:ea typeface="Arial"/>
                <a:cs typeface="Arial"/>
              </a:defRPr>
            </a:pPr>
            <a:r>
              <a:rPr sz="1350" b="1">
                <a:solidFill>
                  <a:srgbClr val="F0C36A"/>
                </a:solidFill>
                <a:latin typeface="Arial"/>
                <a:ea typeface="Arial"/>
                <a:cs typeface="Arial"/>
              </a:rPr>
              <a:t>Evidence boundary</a:t>
            </a:r>
          </a:p>
        </p:txBody>
      </p:sp>
      <p:sp>
        <p:nvSpPr>
          <p:cNvPr id="17" name="Text">
            <a:extLst xmlns:a="http://schemas.openxmlformats.org/drawingml/2006/main">
              <a:ext uri="{FF2B5EF4-FFF2-40B4-BE49-F238E27FC236}">
                <a16:creationId xmlns:a16="http://schemas.microsoft.com/office/drawing/2014/main" id="{C35D5AA9-88D6-452D-A911-4542A7AA3024}"/>
              </a:ext>
            </a:extLst>
          </p:cNvPr>
          <p:cNvSpPr>
            <a:spLocks xmlns:a="http://schemas.openxmlformats.org/drawingml/2006/main" noGrp="1"/>
          </p:cNvSpPr>
          <p:nvPr/>
        </p:nvSpPr>
        <p:spPr>
          <a:xfrm xmlns:a="http://schemas.openxmlformats.org/drawingml/2006/main">
            <a:off x="2571750" y="5457825"/>
            <a:ext cx="8382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No adjudicated TYM corpus is checked into this repository. Current seed-trained artifacts are pipeline demos, not research baselines.</a:t>
            </a:r>
          </a:p>
        </p:txBody>
      </p:sp>
    </p:spTree>
    <p:extLst>
      <p:ext uri="{BB962C8B-B14F-4D97-AF65-F5344CB8AC3E}">
        <p14:creationId xmlns:p14="http://schemas.microsoft.com/office/powerpoint/2010/main" val="1997836525"/>
      </p:ext>
    </p:extLst>
  </p:cSld>
</p:sld>
</file>

<file path=ppt/slides/slide6.xml><?xml version="1.0" encoding="utf-8"?>
<p:sld xmlns:p="http://schemas.openxmlformats.org/presentationml/2006/main">
  <p:cSld>
    <p:bg>
      <p:bgPr>
        <a:solidFill xmlns:a="http://schemas.openxmlformats.org/drawingml/2006/main">
          <a:srgbClr val="202522"/>
        </a:solidFill>
      </p:bgPr>
    </p:bg>
    <p:spTree>
      <p:nvGrpSpPr>
        <p:cNvPr id="1" name=""/>
        <p:cNvGrpSpPr/>
        <p:nvPr/>
      </p:nvGrpSpPr>
      <p:grpSpPr>
        <a:xfrm xmlns:a="http://schemas.openxmlformats.org/drawingml/2006/main"/>
      </p:grpSpPr>
      <p:sp>
        <p:nvSpPr>
          <p:cNvPr id="23" name="Section label">
            <a:extLst xmlns:a="http://schemas.openxmlformats.org/drawingml/2006/main">
              <a:ext uri="{FF2B5EF4-FFF2-40B4-BE49-F238E27FC236}">
                <a16:creationId xmlns:a16="http://schemas.microsoft.com/office/drawing/2014/main" id="{C827DB7F-B7E4-497E-AEA6-AB1DD5B2ED5F}"/>
              </a:ext>
            </a:extLst>
          </p:cNvPr>
          <p:cNvSpPr>
            <a:spLocks xmlns:a="http://schemas.openxmlformats.org/drawingml/2006/main" noGrp="1"/>
          </p:cNvSpPr>
          <p:nvPr/>
        </p:nvSpPr>
        <p:spPr>
          <a:xfrm xmlns:a="http://schemas.openxmlformats.org/drawingml/2006/main">
            <a:off x="609600" y="2571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  SYNTHETIC-DATA DESIGN</a:t>
            </a:r>
          </a:p>
        </p:txBody>
      </p:sp>
      <p:sp>
        <p:nvSpPr>
          <p:cNvPr id="2" name="Slide title">
            <a:extLst xmlns:a="http://schemas.openxmlformats.org/drawingml/2006/main">
              <a:ext uri="{FF2B5EF4-FFF2-40B4-BE49-F238E27FC236}">
                <a16:creationId xmlns:a16="http://schemas.microsoft.com/office/drawing/2014/main" id="{484FD790-54DB-4CEB-AF00-68576735D36D}"/>
              </a:ext>
            </a:extLst>
          </p:cNvPr>
          <p:cNvSpPr>
            <a:spLocks xmlns:a="http://schemas.openxmlformats.org/drawingml/2006/main" noGrp="1"/>
          </p:cNvSpPr>
          <p:nvPr/>
        </p:nvSpPr>
        <p:spPr>
          <a:xfrm xmlns:a="http://schemas.openxmlformats.org/drawingml/2006/main">
            <a:off x="609600" y="5810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75" b="1">
                <a:solidFill>
                  <a:srgbClr val="F3F6F4"/>
                </a:solidFill>
                <a:latin typeface="Arial"/>
                <a:ea typeface="Arial"/>
                <a:cs typeface="Arial"/>
              </a:defRPr>
            </a:pPr>
            <a:r>
              <a:rPr sz="3075" b="1">
                <a:solidFill>
                  <a:srgbClr val="F3F6F4"/>
                </a:solidFill>
                <a:latin typeface="Arial"/>
                <a:ea typeface="Arial"/>
                <a:cs typeface="Arial"/>
              </a:rPr>
              <a:t>Synthetic examples should target contrastive coverage</a:t>
            </a:r>
          </a:p>
        </p:txBody>
      </p:sp>
      <p:sp>
        <p:nvSpPr>
          <p:cNvPr id="3" name="Section rule">
            <a:extLst xmlns:a="http://schemas.openxmlformats.org/drawingml/2006/main">
              <a:ext uri="{FF2B5EF4-FFF2-40B4-BE49-F238E27FC236}">
                <a16:creationId xmlns:a16="http://schemas.microsoft.com/office/drawing/2014/main" id="{AFC7178A-3B28-47EC-A585-AD5B4D914D4F}"/>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4" name="Section rule">
            <a:extLst xmlns:a="http://schemas.openxmlformats.org/drawingml/2006/main">
              <a:ext uri="{FF2B5EF4-FFF2-40B4-BE49-F238E27FC236}">
                <a16:creationId xmlns:a16="http://schemas.microsoft.com/office/drawing/2014/main" id="{FB9EB68C-3C8F-446C-994B-5E82D092ACED}"/>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6F89BED3-339C-4D78-8D97-29EFB033828A}"/>
              </a:ext>
            </a:extLst>
          </p:cNvPr>
          <p:cNvSpPr>
            <a:spLocks xmlns:a="http://schemas.openxmlformats.org/drawingml/2006/main" noGrp="1"/>
          </p:cNvSpPr>
          <p:nvPr/>
        </p:nvSpPr>
        <p:spPr>
          <a:xfrm xmlns:a="http://schemas.openxmlformats.org/drawingml/2006/main">
            <a:off x="609600" y="6562725"/>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AAB8B0"/>
                </a:solidFill>
                <a:latin typeface="Arial"/>
                <a:ea typeface="Arial"/>
                <a:cs typeface="Arial"/>
              </a:defRPr>
            </a:pPr>
            <a:r>
              <a:rPr sz="900" b="0">
                <a:solidFill>
                  <a:srgbClr val="AAB8B0"/>
                </a:solidFill>
                <a:latin typeface="Arial"/>
                <a:ea typeface="Arial"/>
                <a:cs typeface="Arial"/>
              </a:rPr>
              <a:t>SYNTHETIC DATA  /  UNSUPERVISED DISCOVERY  /  HUMAN EVALUATION</a:t>
            </a:r>
          </a:p>
        </p:txBody>
      </p:sp>
      <p:sp>
        <p:nvSpPr>
          <p:cNvPr id="6" name="Page number">
            <a:extLst xmlns:a="http://schemas.openxmlformats.org/drawingml/2006/main">
              <a:ext uri="{FF2B5EF4-FFF2-40B4-BE49-F238E27FC236}">
                <a16:creationId xmlns:a16="http://schemas.microsoft.com/office/drawing/2014/main" id="{B0BB14A3-0B73-4FBA-B829-13EE176A19FC}"/>
              </a:ext>
            </a:extLst>
          </p:cNvPr>
          <p:cNvSpPr>
            <a:spLocks xmlns:a="http://schemas.openxmlformats.org/drawingml/2006/main" noGrp="1"/>
          </p:cNvSpPr>
          <p:nvPr/>
        </p:nvSpPr>
        <p:spPr>
          <a:xfrm xmlns:a="http://schemas.openxmlformats.org/drawingml/2006/main">
            <a:off x="11049000" y="65436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9AEBCA"/>
                </a:solidFill>
                <a:latin typeface="Arial"/>
                <a:ea typeface="Arial"/>
                <a:cs typeface="Arial"/>
              </a:defRPr>
            </a:pPr>
            <a:r>
              <a:rPr sz="1050" b="1">
                <a:solidFill>
                  <a:srgbClr val="9AEBCA"/>
                </a:solidFill>
                <a:latin typeface="Arial"/>
                <a:ea typeface="Arial"/>
                <a:cs typeface="Arial"/>
              </a:rPr>
              <a:t>06</a:t>
            </a:r>
          </a:p>
        </p:txBody>
      </p:sp>
      <p:sp>
        <p:nvSpPr>
          <p:cNvPr id="7" name="Text">
            <a:extLst xmlns:a="http://schemas.openxmlformats.org/drawingml/2006/main">
              <a:ext uri="{FF2B5EF4-FFF2-40B4-BE49-F238E27FC236}">
                <a16:creationId xmlns:a16="http://schemas.microsoft.com/office/drawing/2014/main" id="{7F1B47F8-3900-40FB-A266-D80497AD8D5D}"/>
              </a:ext>
            </a:extLst>
          </p:cNvPr>
          <p:cNvSpPr>
            <a:spLocks xmlns:a="http://schemas.openxmlformats.org/drawingml/2006/main" noGrp="1"/>
          </p:cNvSpPr>
          <p:nvPr/>
        </p:nvSpPr>
        <p:spPr>
          <a:xfrm xmlns:a="http://schemas.openxmlformats.org/drawingml/2006/main">
            <a:off x="609600" y="153352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AAB8B0"/>
                </a:solidFill>
                <a:latin typeface="Arial"/>
                <a:ea typeface="Arial"/>
                <a:cs typeface="Arial"/>
              </a:defRPr>
            </a:pPr>
            <a:r>
              <a:rPr sz="1650" b="0">
                <a:solidFill>
                  <a:srgbClr val="AAB8B0"/>
                </a:solidFill>
                <a:latin typeface="Arial"/>
                <a:ea typeface="Arial"/>
                <a:cs typeface="Arial"/>
              </a:rPr>
              <a:t>Generate examples around a labeled distinction, then change the surface form independently.</a:t>
            </a:r>
          </a:p>
        </p:txBody>
      </p:sp>
      <p:sp>
        <p:nvSpPr>
          <p:cNvPr id="8" name="Text">
            <a:extLst xmlns:a="http://schemas.openxmlformats.org/drawingml/2006/main">
              <a:ext uri="{FF2B5EF4-FFF2-40B4-BE49-F238E27FC236}">
                <a16:creationId xmlns:a16="http://schemas.microsoft.com/office/drawing/2014/main" id="{C044490D-3C7E-4429-BEB1-3707B806397F}"/>
              </a:ext>
            </a:extLst>
          </p:cNvPr>
          <p:cNvSpPr>
            <a:spLocks xmlns:a="http://schemas.openxmlformats.org/drawingml/2006/main" noGrp="1"/>
          </p:cNvSpPr>
          <p:nvPr/>
        </p:nvSpPr>
        <p:spPr>
          <a:xfrm xmlns:a="http://schemas.openxmlformats.org/drawingml/2006/main">
            <a:off x="609600" y="2095500"/>
            <a:ext cx="2714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2DDA8"/>
                </a:solidFill>
                <a:latin typeface="Arial"/>
                <a:ea typeface="Arial"/>
                <a:cs typeface="Arial"/>
              </a:defRPr>
            </a:pPr>
            <a:r>
              <a:rPr sz="1200" b="1">
                <a:solidFill>
                  <a:srgbClr val="62DDA8"/>
                </a:solidFill>
                <a:latin typeface="Arial"/>
                <a:ea typeface="Arial"/>
                <a:cs typeface="Arial"/>
              </a:rPr>
              <a:t>NARRATIVE FRAME</a:t>
            </a:r>
          </a:p>
        </p:txBody>
      </p:sp>
      <p:sp>
        <p:nvSpPr>
          <p:cNvPr id="9" name="Text">
            <a:extLst xmlns:a="http://schemas.openxmlformats.org/drawingml/2006/main">
              <a:ext uri="{FF2B5EF4-FFF2-40B4-BE49-F238E27FC236}">
                <a16:creationId xmlns:a16="http://schemas.microsoft.com/office/drawing/2014/main" id="{3ADC317F-AF86-4795-BD1B-66CF172E2F71}"/>
              </a:ext>
            </a:extLst>
          </p:cNvPr>
          <p:cNvSpPr>
            <a:spLocks xmlns:a="http://schemas.openxmlformats.org/drawingml/2006/main" noGrp="1"/>
          </p:cNvSpPr>
          <p:nvPr/>
        </p:nvSpPr>
        <p:spPr>
          <a:xfrm xmlns:a="http://schemas.openxmlformats.org/drawingml/2006/main">
            <a:off x="3429000" y="2066925"/>
            <a:ext cx="762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F3F6F4"/>
                </a:solidFill>
                <a:latin typeface="Arial"/>
                <a:ea typeface="Arial"/>
                <a:cs typeface="Arial"/>
              </a:defRPr>
            </a:pPr>
            <a:r>
              <a:rPr sz="1500" b="0">
                <a:solidFill>
                  <a:srgbClr val="F3F6F4"/>
                </a:solidFill>
                <a:latin typeface="Arial"/>
                <a:ea typeface="Arial"/>
                <a:cs typeface="Arial"/>
              </a:rPr>
              <a:t>Contrast narration with remembered, anticipated, imagined, or habitual event framing.</a:t>
            </a:r>
          </a:p>
        </p:txBody>
      </p:sp>
      <p:sp>
        <p:nvSpPr>
          <p:cNvPr id="10" name="Section rule">
            <a:extLst xmlns:a="http://schemas.openxmlformats.org/drawingml/2006/main">
              <a:ext uri="{FF2B5EF4-FFF2-40B4-BE49-F238E27FC236}">
                <a16:creationId xmlns:a16="http://schemas.microsoft.com/office/drawing/2014/main" id="{34BD9462-77F9-4088-BB5A-78679329EA38}"/>
              </a:ext>
            </a:extLst>
          </p:cNvPr>
          <p:cNvSpPr>
            <a:spLocks xmlns:a="http://schemas.openxmlformats.org/drawingml/2006/main" noGrp="1"/>
          </p:cNvSpPr>
          <p:nvPr/>
        </p:nvSpPr>
        <p:spPr>
          <a:xfrm xmlns:a="http://schemas.openxmlformats.org/drawingml/2006/main">
            <a:off x="609600" y="270510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F57EA9C2-301D-4B27-8FBF-C68CE64AE368}"/>
              </a:ext>
            </a:extLst>
          </p:cNvPr>
          <p:cNvSpPr>
            <a:spLocks xmlns:a="http://schemas.openxmlformats.org/drawingml/2006/main" noGrp="1"/>
          </p:cNvSpPr>
          <p:nvPr/>
        </p:nvSpPr>
        <p:spPr>
          <a:xfrm xmlns:a="http://schemas.openxmlformats.org/drawingml/2006/main">
            <a:off x="609600" y="2876550"/>
            <a:ext cx="2714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2DDA8"/>
                </a:solidFill>
                <a:latin typeface="Arial"/>
                <a:ea typeface="Arial"/>
                <a:cs typeface="Arial"/>
              </a:defRPr>
            </a:pPr>
            <a:r>
              <a:rPr sz="1200" b="1">
                <a:solidFill>
                  <a:srgbClr val="62DDA8"/>
                </a:solidFill>
                <a:latin typeface="Arial"/>
                <a:ea typeface="Arial"/>
                <a:cs typeface="Arial"/>
              </a:rPr>
              <a:t>TENSE AND ANCHOR</a:t>
            </a:r>
          </a:p>
        </p:txBody>
      </p:sp>
      <p:sp>
        <p:nvSpPr>
          <p:cNvPr id="12" name="Text">
            <a:extLst xmlns:a="http://schemas.openxmlformats.org/drawingml/2006/main">
              <a:ext uri="{FF2B5EF4-FFF2-40B4-BE49-F238E27FC236}">
                <a16:creationId xmlns:a16="http://schemas.microsoft.com/office/drawing/2014/main" id="{1A108072-1D14-4660-BA57-F769072653C4}"/>
              </a:ext>
            </a:extLst>
          </p:cNvPr>
          <p:cNvSpPr>
            <a:spLocks xmlns:a="http://schemas.openxmlformats.org/drawingml/2006/main" noGrp="1"/>
          </p:cNvSpPr>
          <p:nvPr/>
        </p:nvSpPr>
        <p:spPr>
          <a:xfrm xmlns:a="http://schemas.openxmlformats.org/drawingml/2006/main">
            <a:off x="3429000" y="2847975"/>
            <a:ext cx="762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F3F6F4"/>
                </a:solidFill>
                <a:latin typeface="Arial"/>
                <a:ea typeface="Arial"/>
                <a:cs typeface="Arial"/>
              </a:defRPr>
            </a:pPr>
            <a:r>
              <a:rPr sz="1500" b="0">
                <a:solidFill>
                  <a:srgbClr val="F3F6F4"/>
                </a:solidFill>
                <a:latin typeface="Arial"/>
                <a:ea typeface="Arial"/>
                <a:cs typeface="Arial"/>
              </a:rPr>
              <a:t>Vary tense, aspect, temporal adverbials, and reference time without making one cue identify the label.</a:t>
            </a:r>
          </a:p>
        </p:txBody>
      </p:sp>
      <p:sp>
        <p:nvSpPr>
          <p:cNvPr id="13" name="Section rule">
            <a:extLst xmlns:a="http://schemas.openxmlformats.org/drawingml/2006/main">
              <a:ext uri="{FF2B5EF4-FFF2-40B4-BE49-F238E27FC236}">
                <a16:creationId xmlns:a16="http://schemas.microsoft.com/office/drawing/2014/main" id="{9A43BEEF-3693-4057-90C3-A07D058CBFFD}"/>
              </a:ext>
            </a:extLst>
          </p:cNvPr>
          <p:cNvSpPr>
            <a:spLocks xmlns:a="http://schemas.openxmlformats.org/drawingml/2006/main" noGrp="1"/>
          </p:cNvSpPr>
          <p:nvPr/>
        </p:nvSpPr>
        <p:spPr>
          <a:xfrm xmlns:a="http://schemas.openxmlformats.org/drawingml/2006/main">
            <a:off x="609600" y="34861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45D337F3-32E0-4900-B990-CAE71C64C52A}"/>
              </a:ext>
            </a:extLst>
          </p:cNvPr>
          <p:cNvSpPr>
            <a:spLocks xmlns:a="http://schemas.openxmlformats.org/drawingml/2006/main" noGrp="1"/>
          </p:cNvSpPr>
          <p:nvPr/>
        </p:nvSpPr>
        <p:spPr>
          <a:xfrm xmlns:a="http://schemas.openxmlformats.org/drawingml/2006/main">
            <a:off x="609600" y="3657600"/>
            <a:ext cx="2714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2DDA8"/>
                </a:solidFill>
                <a:latin typeface="Arial"/>
                <a:ea typeface="Arial"/>
                <a:cs typeface="Arial"/>
              </a:defRPr>
            </a:pPr>
            <a:r>
              <a:rPr sz="1200" b="1">
                <a:solidFill>
                  <a:srgbClr val="62DDA8"/>
                </a:solidFill>
                <a:latin typeface="Arial"/>
                <a:ea typeface="Arial"/>
                <a:cs typeface="Arial"/>
              </a:rPr>
              <a:t>EVENT EXPRESSION</a:t>
            </a:r>
          </a:p>
        </p:txBody>
      </p:sp>
      <p:sp>
        <p:nvSpPr>
          <p:cNvPr id="15" name="Text">
            <a:extLst xmlns:a="http://schemas.openxmlformats.org/drawingml/2006/main">
              <a:ext uri="{FF2B5EF4-FFF2-40B4-BE49-F238E27FC236}">
                <a16:creationId xmlns:a16="http://schemas.microsoft.com/office/drawing/2014/main" id="{AF7C9436-4E68-4563-AC12-E0C21A95ADE6}"/>
              </a:ext>
            </a:extLst>
          </p:cNvPr>
          <p:cNvSpPr>
            <a:spLocks xmlns:a="http://schemas.openxmlformats.org/drawingml/2006/main" noGrp="1"/>
          </p:cNvSpPr>
          <p:nvPr/>
        </p:nvSpPr>
        <p:spPr>
          <a:xfrm xmlns:a="http://schemas.openxmlformats.org/drawingml/2006/main">
            <a:off x="3429000" y="3629025"/>
            <a:ext cx="762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F3F6F4"/>
                </a:solidFill>
                <a:latin typeface="Arial"/>
                <a:ea typeface="Arial"/>
                <a:cs typeface="Arial"/>
              </a:defRPr>
            </a:pPr>
            <a:r>
              <a:rPr sz="1500" b="0">
                <a:solidFill>
                  <a:srgbClr val="F3F6F4"/>
                </a:solidFill>
                <a:latin typeface="Arial"/>
                <a:ea typeface="Arial"/>
                <a:cs typeface="Arial"/>
              </a:rPr>
              <a:t>Include verbal events and nominalized events such as arrival, departure, or discovery.</a:t>
            </a:r>
          </a:p>
        </p:txBody>
      </p:sp>
      <p:sp>
        <p:nvSpPr>
          <p:cNvPr id="16" name="Section rule">
            <a:extLst xmlns:a="http://schemas.openxmlformats.org/drawingml/2006/main">
              <a:ext uri="{FF2B5EF4-FFF2-40B4-BE49-F238E27FC236}">
                <a16:creationId xmlns:a16="http://schemas.microsoft.com/office/drawing/2014/main" id="{7F30599F-6CA1-4D51-867F-8DC4F7D9373C}"/>
              </a:ext>
            </a:extLst>
          </p:cNvPr>
          <p:cNvSpPr>
            <a:spLocks xmlns:a="http://schemas.openxmlformats.org/drawingml/2006/main" noGrp="1"/>
          </p:cNvSpPr>
          <p:nvPr/>
        </p:nvSpPr>
        <p:spPr>
          <a:xfrm xmlns:a="http://schemas.openxmlformats.org/drawingml/2006/main">
            <a:off x="609600" y="426720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FDAC2481-5729-4636-A052-0BFB2DE64C03}"/>
              </a:ext>
            </a:extLst>
          </p:cNvPr>
          <p:cNvSpPr>
            <a:spLocks xmlns:a="http://schemas.openxmlformats.org/drawingml/2006/main" noGrp="1"/>
          </p:cNvSpPr>
          <p:nvPr/>
        </p:nvSpPr>
        <p:spPr>
          <a:xfrm xmlns:a="http://schemas.openxmlformats.org/drawingml/2006/main">
            <a:off x="609600" y="4438650"/>
            <a:ext cx="2714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2DDA8"/>
                </a:solidFill>
                <a:latin typeface="Arial"/>
                <a:ea typeface="Arial"/>
                <a:cs typeface="Arial"/>
              </a:defRPr>
            </a:pPr>
            <a:r>
              <a:rPr sz="1200" b="1">
                <a:solidFill>
                  <a:srgbClr val="62DDA8"/>
                </a:solidFill>
                <a:latin typeface="Arial"/>
                <a:ea typeface="Arial"/>
                <a:cs typeface="Arial"/>
              </a:rPr>
              <a:t>RELATION DISTANCE</a:t>
            </a:r>
          </a:p>
        </p:txBody>
      </p:sp>
      <p:sp>
        <p:nvSpPr>
          <p:cNvPr id="18" name="Text">
            <a:extLst xmlns:a="http://schemas.openxmlformats.org/drawingml/2006/main">
              <a:ext uri="{FF2B5EF4-FFF2-40B4-BE49-F238E27FC236}">
                <a16:creationId xmlns:a16="http://schemas.microsoft.com/office/drawing/2014/main" id="{19E9411E-7599-42FE-BECA-D206493A060A}"/>
              </a:ext>
            </a:extLst>
          </p:cNvPr>
          <p:cNvSpPr>
            <a:spLocks xmlns:a="http://schemas.openxmlformats.org/drawingml/2006/main" noGrp="1"/>
          </p:cNvSpPr>
          <p:nvPr/>
        </p:nvSpPr>
        <p:spPr>
          <a:xfrm xmlns:a="http://schemas.openxmlformats.org/drawingml/2006/main">
            <a:off x="3429000" y="4410075"/>
            <a:ext cx="762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F3F6F4"/>
                </a:solidFill>
                <a:latin typeface="Arial"/>
                <a:ea typeface="Arial"/>
                <a:cs typeface="Arial"/>
              </a:defRPr>
            </a:pPr>
            <a:r>
              <a:rPr sz="1500" b="0">
                <a:solidFill>
                  <a:srgbClr val="F3F6F4"/>
                </a:solidFill>
                <a:latin typeface="Arial"/>
                <a:ea typeface="Arial"/>
                <a:cs typeface="Arial"/>
              </a:rPr>
              <a:t>Place linked events in separate sentences or paragraphs; vary relation direction and cue placement.</a:t>
            </a:r>
          </a:p>
        </p:txBody>
      </p:sp>
      <p:sp>
        <p:nvSpPr>
          <p:cNvPr id="19" name="Section rule">
            <a:extLst xmlns:a="http://schemas.openxmlformats.org/drawingml/2006/main">
              <a:ext uri="{FF2B5EF4-FFF2-40B4-BE49-F238E27FC236}">
                <a16:creationId xmlns:a16="http://schemas.microsoft.com/office/drawing/2014/main" id="{122D88AD-7BD9-4F9E-B9BF-0CB183684424}"/>
              </a:ext>
            </a:extLst>
          </p:cNvPr>
          <p:cNvSpPr>
            <a:spLocks xmlns:a="http://schemas.openxmlformats.org/drawingml/2006/main" noGrp="1"/>
          </p:cNvSpPr>
          <p:nvPr/>
        </p:nvSpPr>
        <p:spPr>
          <a:xfrm xmlns:a="http://schemas.openxmlformats.org/drawingml/2006/main">
            <a:off x="609600" y="50482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20" name="Text">
            <a:extLst xmlns:a="http://schemas.openxmlformats.org/drawingml/2006/main">
              <a:ext uri="{FF2B5EF4-FFF2-40B4-BE49-F238E27FC236}">
                <a16:creationId xmlns:a16="http://schemas.microsoft.com/office/drawing/2014/main" id="{8605E1CE-3980-4B2B-A730-80A0303E681D}"/>
              </a:ext>
            </a:extLst>
          </p:cNvPr>
          <p:cNvSpPr>
            <a:spLocks xmlns:a="http://schemas.openxmlformats.org/drawingml/2006/main" noGrp="1"/>
          </p:cNvSpPr>
          <p:nvPr/>
        </p:nvSpPr>
        <p:spPr>
          <a:xfrm xmlns:a="http://schemas.openxmlformats.org/drawingml/2006/main">
            <a:off x="609600" y="5219700"/>
            <a:ext cx="2714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2DDA8"/>
                </a:solidFill>
                <a:latin typeface="Arial"/>
                <a:ea typeface="Arial"/>
                <a:cs typeface="Arial"/>
              </a:defRPr>
            </a:pPr>
            <a:r>
              <a:rPr sz="1200" b="1">
                <a:solidFill>
                  <a:srgbClr val="62DDA8"/>
                </a:solidFill>
                <a:latin typeface="Arial"/>
                <a:ea typeface="Arial"/>
                <a:cs typeface="Arial"/>
              </a:rPr>
              <a:t>BOUNDARY AMBIGUITY</a:t>
            </a:r>
          </a:p>
        </p:txBody>
      </p:sp>
      <p:sp>
        <p:nvSpPr>
          <p:cNvPr id="21" name="Text">
            <a:extLst xmlns:a="http://schemas.openxmlformats.org/drawingml/2006/main">
              <a:ext uri="{FF2B5EF4-FFF2-40B4-BE49-F238E27FC236}">
                <a16:creationId xmlns:a16="http://schemas.microsoft.com/office/drawing/2014/main" id="{2315E941-6C21-48A1-BEFD-57E9E8D5EE75}"/>
              </a:ext>
            </a:extLst>
          </p:cNvPr>
          <p:cNvSpPr>
            <a:spLocks xmlns:a="http://schemas.openxmlformats.org/drawingml/2006/main" noGrp="1"/>
          </p:cNvSpPr>
          <p:nvPr/>
        </p:nvSpPr>
        <p:spPr>
          <a:xfrm xmlns:a="http://schemas.openxmlformats.org/drawingml/2006/main">
            <a:off x="3429000" y="5191125"/>
            <a:ext cx="762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F3F6F4"/>
                </a:solidFill>
                <a:latin typeface="Arial"/>
                <a:ea typeface="Arial"/>
                <a:cs typeface="Arial"/>
              </a:defRPr>
            </a:pPr>
            <a:r>
              <a:rPr sz="1500" b="0">
                <a:solidFill>
                  <a:srgbClr val="F3F6F4"/>
                </a:solidFill>
                <a:latin typeface="Arial"/>
                <a:ea typeface="Arial"/>
                <a:cs typeface="Arial"/>
              </a:rPr>
              <a:t>Include missing, conflicting, or weak cues and mark them for uncertainty or human review.</a:t>
            </a:r>
          </a:p>
        </p:txBody>
      </p:sp>
      <p:sp>
        <p:nvSpPr>
          <p:cNvPr id="22" name="Section rule">
            <a:extLst xmlns:a="http://schemas.openxmlformats.org/drawingml/2006/main">
              <a:ext uri="{FF2B5EF4-FFF2-40B4-BE49-F238E27FC236}">
                <a16:creationId xmlns:a16="http://schemas.microsoft.com/office/drawing/2014/main" id="{2805161A-9F76-4BAC-9BF3-01A8B20218C5}"/>
              </a:ext>
            </a:extLst>
          </p:cNvPr>
          <p:cNvSpPr>
            <a:spLocks xmlns:a="http://schemas.openxmlformats.org/drawingml/2006/main" noGrp="1"/>
          </p:cNvSpPr>
          <p:nvPr/>
        </p:nvSpPr>
        <p:spPr>
          <a:xfrm xmlns:a="http://schemas.openxmlformats.org/drawingml/2006/main">
            <a:off x="609600" y="582930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Tree>
    <p:extLst>
      <p:ext uri="{BB962C8B-B14F-4D97-AF65-F5344CB8AC3E}">
        <p14:creationId xmlns:p14="http://schemas.microsoft.com/office/powerpoint/2010/main" val="837052838"/>
      </p:ext>
    </p:extLst>
  </p:cSld>
</p:sld>
</file>

<file path=ppt/slides/slide7.xml><?xml version="1.0" encoding="utf-8"?>
<p:sld xmlns:p="http://schemas.openxmlformats.org/presentationml/2006/main">
  <p:cSld>
    <p:bg>
      <p:bgPr>
        <a:solidFill xmlns:a="http://schemas.openxmlformats.org/drawingml/2006/main">
          <a:srgbClr val="202522"/>
        </a:solidFill>
      </p:bgPr>
    </p:bg>
    <p:spTree>
      <p:nvGrpSpPr>
        <p:cNvPr id="1" name=""/>
        <p:cNvGrpSpPr/>
        <p:nvPr/>
      </p:nvGrpSpPr>
      <p:grpSpPr>
        <a:xfrm xmlns:a="http://schemas.openxmlformats.org/drawingml/2006/main"/>
      </p:grpSpPr>
      <p:sp>
        <p:nvSpPr>
          <p:cNvPr id="22" name="Section label">
            <a:extLst xmlns:a="http://schemas.openxmlformats.org/drawingml/2006/main">
              <a:ext uri="{FF2B5EF4-FFF2-40B4-BE49-F238E27FC236}">
                <a16:creationId xmlns:a16="http://schemas.microsoft.com/office/drawing/2014/main" id="{BE3AEFBD-22A5-44D5-88F2-DB29F8668CAE}"/>
              </a:ext>
            </a:extLst>
          </p:cNvPr>
          <p:cNvSpPr>
            <a:spLocks xmlns:a="http://schemas.openxmlformats.org/drawingml/2006/main" noGrp="1"/>
          </p:cNvSpPr>
          <p:nvPr/>
        </p:nvSpPr>
        <p:spPr>
          <a:xfrm xmlns:a="http://schemas.openxmlformats.org/drawingml/2006/main">
            <a:off x="609600" y="2571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  SYNTHETIC-DATA DESIGN</a:t>
            </a:r>
          </a:p>
        </p:txBody>
      </p:sp>
      <p:sp>
        <p:nvSpPr>
          <p:cNvPr id="2" name="Slide title">
            <a:extLst xmlns:a="http://schemas.openxmlformats.org/drawingml/2006/main">
              <a:ext uri="{FF2B5EF4-FFF2-40B4-BE49-F238E27FC236}">
                <a16:creationId xmlns:a16="http://schemas.microsoft.com/office/drawing/2014/main" id="{2F0CA580-6956-4FFA-82EF-22467A779591}"/>
              </a:ext>
            </a:extLst>
          </p:cNvPr>
          <p:cNvSpPr>
            <a:spLocks xmlns:a="http://schemas.openxmlformats.org/drawingml/2006/main" noGrp="1"/>
          </p:cNvSpPr>
          <p:nvPr/>
        </p:nvSpPr>
        <p:spPr>
          <a:xfrm xmlns:a="http://schemas.openxmlformats.org/drawingml/2006/main">
            <a:off x="609600" y="5810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75" b="1">
                <a:solidFill>
                  <a:srgbClr val="F3F6F4"/>
                </a:solidFill>
                <a:latin typeface="Arial"/>
                <a:ea typeface="Arial"/>
                <a:cs typeface="Arial"/>
              </a:defRPr>
            </a:pPr>
            <a:r>
              <a:rPr sz="3075" b="1">
                <a:solidFill>
                  <a:srgbClr val="F3F6F4"/>
                </a:solidFill>
                <a:latin typeface="Arial"/>
                <a:ea typeface="Arial"/>
                <a:cs typeface="Arial"/>
              </a:rPr>
              <a:t>Generation controls reduce label shortcuts</a:t>
            </a:r>
          </a:p>
        </p:txBody>
      </p:sp>
      <p:sp>
        <p:nvSpPr>
          <p:cNvPr id="3" name="Section rule">
            <a:extLst xmlns:a="http://schemas.openxmlformats.org/drawingml/2006/main">
              <a:ext uri="{FF2B5EF4-FFF2-40B4-BE49-F238E27FC236}">
                <a16:creationId xmlns:a16="http://schemas.microsoft.com/office/drawing/2014/main" id="{4F34A457-FF0D-4AF9-A761-C3563E57E30F}"/>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4" name="Section rule">
            <a:extLst xmlns:a="http://schemas.openxmlformats.org/drawingml/2006/main">
              <a:ext uri="{FF2B5EF4-FFF2-40B4-BE49-F238E27FC236}">
                <a16:creationId xmlns:a16="http://schemas.microsoft.com/office/drawing/2014/main" id="{2B0C2016-9395-4F6C-A1CA-7B6454760EDA}"/>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70F880FC-D17C-4AA5-80AD-645BC839BA88}"/>
              </a:ext>
            </a:extLst>
          </p:cNvPr>
          <p:cNvSpPr>
            <a:spLocks xmlns:a="http://schemas.openxmlformats.org/drawingml/2006/main" noGrp="1"/>
          </p:cNvSpPr>
          <p:nvPr/>
        </p:nvSpPr>
        <p:spPr>
          <a:xfrm xmlns:a="http://schemas.openxmlformats.org/drawingml/2006/main">
            <a:off x="609600" y="6562725"/>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AAB8B0"/>
                </a:solidFill>
                <a:latin typeface="Arial"/>
                <a:ea typeface="Arial"/>
                <a:cs typeface="Arial"/>
              </a:defRPr>
            </a:pPr>
            <a:r>
              <a:rPr sz="900" b="0">
                <a:solidFill>
                  <a:srgbClr val="AAB8B0"/>
                </a:solidFill>
                <a:latin typeface="Arial"/>
                <a:ea typeface="Arial"/>
                <a:cs typeface="Arial"/>
              </a:rPr>
              <a:t>SYNTHETIC DATA  /  UNSUPERVISED DISCOVERY  /  HUMAN EVALUATION</a:t>
            </a:r>
          </a:p>
        </p:txBody>
      </p:sp>
      <p:sp>
        <p:nvSpPr>
          <p:cNvPr id="6" name="Page number">
            <a:extLst xmlns:a="http://schemas.openxmlformats.org/drawingml/2006/main">
              <a:ext uri="{FF2B5EF4-FFF2-40B4-BE49-F238E27FC236}">
                <a16:creationId xmlns:a16="http://schemas.microsoft.com/office/drawing/2014/main" id="{BC428257-6F4A-4394-89B8-ADF6D7E25FB1}"/>
              </a:ext>
            </a:extLst>
          </p:cNvPr>
          <p:cNvSpPr>
            <a:spLocks xmlns:a="http://schemas.openxmlformats.org/drawingml/2006/main" noGrp="1"/>
          </p:cNvSpPr>
          <p:nvPr/>
        </p:nvSpPr>
        <p:spPr>
          <a:xfrm xmlns:a="http://schemas.openxmlformats.org/drawingml/2006/main">
            <a:off x="11049000" y="65436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9AEBCA"/>
                </a:solidFill>
                <a:latin typeface="Arial"/>
                <a:ea typeface="Arial"/>
                <a:cs typeface="Arial"/>
              </a:defRPr>
            </a:pPr>
            <a:r>
              <a:rPr sz="1050" b="1">
                <a:solidFill>
                  <a:srgbClr val="9AEBCA"/>
                </a:solidFill>
                <a:latin typeface="Arial"/>
                <a:ea typeface="Arial"/>
                <a:cs typeface="Arial"/>
              </a:rPr>
              <a:t>07</a:t>
            </a:r>
          </a:p>
        </p:txBody>
      </p:sp>
      <p:sp>
        <p:nvSpPr>
          <p:cNvPr id="7" name="Text">
            <a:extLst xmlns:a="http://schemas.openxmlformats.org/drawingml/2006/main">
              <a:ext uri="{FF2B5EF4-FFF2-40B4-BE49-F238E27FC236}">
                <a16:creationId xmlns:a16="http://schemas.microsoft.com/office/drawing/2014/main" id="{54B5F5A1-D079-4D15-9817-82DB589239A0}"/>
              </a:ext>
            </a:extLst>
          </p:cNvPr>
          <p:cNvSpPr>
            <a:spLocks xmlns:a="http://schemas.openxmlformats.org/drawingml/2006/main" noGrp="1"/>
          </p:cNvSpPr>
          <p:nvPr/>
        </p:nvSpPr>
        <p:spPr>
          <a:xfrm xmlns:a="http://schemas.openxmlformats.org/drawingml/2006/main">
            <a:off x="609600" y="1885950"/>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2DDA8"/>
                </a:solidFill>
                <a:latin typeface="Arial"/>
                <a:ea typeface="Arial"/>
                <a:cs typeface="Arial"/>
              </a:defRPr>
            </a:pPr>
            <a:r>
              <a:rPr sz="1275" b="1">
                <a:solidFill>
                  <a:srgbClr val="62DDA8"/>
                </a:solidFill>
                <a:latin typeface="Arial"/>
                <a:ea typeface="Arial"/>
                <a:cs typeface="Arial"/>
              </a:rPr>
              <a:t>01</a:t>
            </a:r>
          </a:p>
        </p:txBody>
      </p:sp>
      <p:sp>
        <p:nvSpPr>
          <p:cNvPr id="8" name="Text">
            <a:extLst xmlns:a="http://schemas.openxmlformats.org/drawingml/2006/main">
              <a:ext uri="{FF2B5EF4-FFF2-40B4-BE49-F238E27FC236}">
                <a16:creationId xmlns:a16="http://schemas.microsoft.com/office/drawing/2014/main" id="{C19E2CB3-B5FA-4717-84F7-57977C41766B}"/>
              </a:ext>
            </a:extLst>
          </p:cNvPr>
          <p:cNvSpPr>
            <a:spLocks xmlns:a="http://schemas.openxmlformats.org/drawingml/2006/main" noGrp="1"/>
          </p:cNvSpPr>
          <p:nvPr/>
        </p:nvSpPr>
        <p:spPr>
          <a:xfrm xmlns:a="http://schemas.openxmlformats.org/drawingml/2006/main">
            <a:off x="1181100" y="1866900"/>
            <a:ext cx="4572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F3F6F4"/>
                </a:solidFill>
                <a:latin typeface="Arial"/>
                <a:ea typeface="Arial"/>
                <a:cs typeface="Arial"/>
              </a:defRPr>
            </a:pPr>
            <a:r>
              <a:rPr sz="1875" b="1">
                <a:solidFill>
                  <a:srgbClr val="F3F6F4"/>
                </a:solidFill>
                <a:latin typeface="Arial"/>
                <a:ea typeface="Arial"/>
                <a:cs typeface="Arial"/>
              </a:rPr>
              <a:t>Minimal contrasts</a:t>
            </a:r>
          </a:p>
        </p:txBody>
      </p:sp>
      <p:sp>
        <p:nvSpPr>
          <p:cNvPr id="9" name="Text">
            <a:extLst xmlns:a="http://schemas.openxmlformats.org/drawingml/2006/main">
              <a:ext uri="{FF2B5EF4-FFF2-40B4-BE49-F238E27FC236}">
                <a16:creationId xmlns:a16="http://schemas.microsoft.com/office/drawing/2014/main" id="{E7F0F0EA-862D-452D-8CFE-A7BFCB0D166C}"/>
              </a:ext>
            </a:extLst>
          </p:cNvPr>
          <p:cNvSpPr>
            <a:spLocks xmlns:a="http://schemas.openxmlformats.org/drawingml/2006/main" noGrp="1"/>
          </p:cNvSpPr>
          <p:nvPr/>
        </p:nvSpPr>
        <p:spPr>
          <a:xfrm xmlns:a="http://schemas.openxmlformats.org/drawingml/2006/main">
            <a:off x="1181100" y="2295525"/>
            <a:ext cx="4572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AAB8B0"/>
                </a:solidFill>
                <a:latin typeface="Arial"/>
                <a:ea typeface="Arial"/>
                <a:cs typeface="Arial"/>
              </a:defRPr>
            </a:pPr>
            <a:r>
              <a:rPr sz="1500" b="0">
                <a:solidFill>
                  <a:srgbClr val="AAB8B0"/>
                </a:solidFill>
                <a:latin typeface="Arial"/>
                <a:ea typeface="Arial"/>
                <a:cs typeface="Arial"/>
              </a:rPr>
              <a:t>Keep the event content stable while changing one temporal or narrative cue.</a:t>
            </a:r>
          </a:p>
        </p:txBody>
      </p:sp>
      <p:sp>
        <p:nvSpPr>
          <p:cNvPr id="10" name="Section rule">
            <a:extLst xmlns:a="http://schemas.openxmlformats.org/drawingml/2006/main">
              <a:ext uri="{FF2B5EF4-FFF2-40B4-BE49-F238E27FC236}">
                <a16:creationId xmlns:a16="http://schemas.microsoft.com/office/drawing/2014/main" id="{C6713A64-AFC2-47A9-BD14-0888F0E63257}"/>
              </a:ext>
            </a:extLst>
          </p:cNvPr>
          <p:cNvSpPr>
            <a:spLocks xmlns:a="http://schemas.openxmlformats.org/drawingml/2006/main" noGrp="1"/>
          </p:cNvSpPr>
          <p:nvPr/>
        </p:nvSpPr>
        <p:spPr>
          <a:xfrm xmlns:a="http://schemas.openxmlformats.org/drawingml/2006/main">
            <a:off x="609600" y="3286125"/>
            <a:ext cx="47625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FC41935F-9B88-4BC0-AE61-14D63B06E6C5}"/>
              </a:ext>
            </a:extLst>
          </p:cNvPr>
          <p:cNvSpPr>
            <a:spLocks xmlns:a="http://schemas.openxmlformats.org/drawingml/2006/main" noGrp="1"/>
          </p:cNvSpPr>
          <p:nvPr/>
        </p:nvSpPr>
        <p:spPr>
          <a:xfrm xmlns:a="http://schemas.openxmlformats.org/drawingml/2006/main">
            <a:off x="6410325" y="1885950"/>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2DDA8"/>
                </a:solidFill>
                <a:latin typeface="Arial"/>
                <a:ea typeface="Arial"/>
                <a:cs typeface="Arial"/>
              </a:defRPr>
            </a:pPr>
            <a:r>
              <a:rPr sz="1275" b="1">
                <a:solidFill>
                  <a:srgbClr val="62DDA8"/>
                </a:solidFill>
                <a:latin typeface="Arial"/>
                <a:ea typeface="Arial"/>
                <a:cs typeface="Arial"/>
              </a:rPr>
              <a:t>02</a:t>
            </a:r>
          </a:p>
        </p:txBody>
      </p:sp>
      <p:sp>
        <p:nvSpPr>
          <p:cNvPr id="12" name="Text">
            <a:extLst xmlns:a="http://schemas.openxmlformats.org/drawingml/2006/main">
              <a:ext uri="{FF2B5EF4-FFF2-40B4-BE49-F238E27FC236}">
                <a16:creationId xmlns:a16="http://schemas.microsoft.com/office/drawing/2014/main" id="{21CD1A85-7B3C-40B2-A371-A50CE4A4EC36}"/>
              </a:ext>
            </a:extLst>
          </p:cNvPr>
          <p:cNvSpPr>
            <a:spLocks xmlns:a="http://schemas.openxmlformats.org/drawingml/2006/main" noGrp="1"/>
          </p:cNvSpPr>
          <p:nvPr/>
        </p:nvSpPr>
        <p:spPr>
          <a:xfrm xmlns:a="http://schemas.openxmlformats.org/drawingml/2006/main">
            <a:off x="6981825" y="1866900"/>
            <a:ext cx="4572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F3F6F4"/>
                </a:solidFill>
                <a:latin typeface="Arial"/>
                <a:ea typeface="Arial"/>
                <a:cs typeface="Arial"/>
              </a:defRPr>
            </a:pPr>
            <a:r>
              <a:rPr sz="1875" b="1">
                <a:solidFill>
                  <a:srgbClr val="F3F6F4"/>
                </a:solidFill>
                <a:latin typeface="Arial"/>
                <a:ea typeface="Arial"/>
                <a:cs typeface="Arial"/>
              </a:rPr>
              <a:t>Surface variation</a:t>
            </a:r>
          </a:p>
        </p:txBody>
      </p:sp>
      <p:sp>
        <p:nvSpPr>
          <p:cNvPr id="13" name="Text">
            <a:extLst xmlns:a="http://schemas.openxmlformats.org/drawingml/2006/main">
              <a:ext uri="{FF2B5EF4-FFF2-40B4-BE49-F238E27FC236}">
                <a16:creationId xmlns:a16="http://schemas.microsoft.com/office/drawing/2014/main" id="{8F0D08AE-F68A-49F5-B9D0-8964BD240D87}"/>
              </a:ext>
            </a:extLst>
          </p:cNvPr>
          <p:cNvSpPr>
            <a:spLocks xmlns:a="http://schemas.openxmlformats.org/drawingml/2006/main" noGrp="1"/>
          </p:cNvSpPr>
          <p:nvPr/>
        </p:nvSpPr>
        <p:spPr>
          <a:xfrm xmlns:a="http://schemas.openxmlformats.org/drawingml/2006/main">
            <a:off x="6981825" y="2295525"/>
            <a:ext cx="4572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AAB8B0"/>
                </a:solidFill>
                <a:latin typeface="Arial"/>
                <a:ea typeface="Arial"/>
                <a:cs typeface="Arial"/>
              </a:defRPr>
            </a:pPr>
            <a:r>
              <a:rPr sz="1500" b="0">
                <a:solidFill>
                  <a:srgbClr val="AAB8B0"/>
                </a:solidFill>
                <a:latin typeface="Arial"/>
                <a:ea typeface="Arial"/>
                <a:cs typeface="Arial"/>
              </a:rPr>
              <a:t>Change syntax, names, verbs, cue location, and context without changing the intended phenomenon.</a:t>
            </a:r>
          </a:p>
        </p:txBody>
      </p:sp>
      <p:sp>
        <p:nvSpPr>
          <p:cNvPr id="14" name="Section rule">
            <a:extLst xmlns:a="http://schemas.openxmlformats.org/drawingml/2006/main">
              <a:ext uri="{FF2B5EF4-FFF2-40B4-BE49-F238E27FC236}">
                <a16:creationId xmlns:a16="http://schemas.microsoft.com/office/drawing/2014/main" id="{B0DF956E-9883-41DB-A105-8C03C7A50948}"/>
              </a:ext>
            </a:extLst>
          </p:cNvPr>
          <p:cNvSpPr>
            <a:spLocks xmlns:a="http://schemas.openxmlformats.org/drawingml/2006/main" noGrp="1"/>
          </p:cNvSpPr>
          <p:nvPr/>
        </p:nvSpPr>
        <p:spPr>
          <a:xfrm xmlns:a="http://schemas.openxmlformats.org/drawingml/2006/main">
            <a:off x="6410325" y="3286125"/>
            <a:ext cx="47625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0F8BB165-4C39-471A-8221-0F78689AF774}"/>
              </a:ext>
            </a:extLst>
          </p:cNvPr>
          <p:cNvSpPr>
            <a:spLocks xmlns:a="http://schemas.openxmlformats.org/drawingml/2006/main" noGrp="1"/>
          </p:cNvSpPr>
          <p:nvPr/>
        </p:nvSpPr>
        <p:spPr>
          <a:xfrm xmlns:a="http://schemas.openxmlformats.org/drawingml/2006/main">
            <a:off x="609600" y="3724275"/>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2DDA8"/>
                </a:solidFill>
                <a:latin typeface="Arial"/>
                <a:ea typeface="Arial"/>
                <a:cs typeface="Arial"/>
              </a:defRPr>
            </a:pPr>
            <a:r>
              <a:rPr sz="1275" b="1">
                <a:solidFill>
                  <a:srgbClr val="62DDA8"/>
                </a:solidFill>
                <a:latin typeface="Arial"/>
                <a:ea typeface="Arial"/>
                <a:cs typeface="Arial"/>
              </a:rPr>
              <a:t>03</a:t>
            </a:r>
          </a:p>
        </p:txBody>
      </p:sp>
      <p:sp>
        <p:nvSpPr>
          <p:cNvPr id="16" name="Text">
            <a:extLst xmlns:a="http://schemas.openxmlformats.org/drawingml/2006/main">
              <a:ext uri="{FF2B5EF4-FFF2-40B4-BE49-F238E27FC236}">
                <a16:creationId xmlns:a16="http://schemas.microsoft.com/office/drawing/2014/main" id="{2E1C688B-B749-424A-A31F-8090D03F23FB}"/>
              </a:ext>
            </a:extLst>
          </p:cNvPr>
          <p:cNvSpPr>
            <a:spLocks xmlns:a="http://schemas.openxmlformats.org/drawingml/2006/main" noGrp="1"/>
          </p:cNvSpPr>
          <p:nvPr/>
        </p:nvSpPr>
        <p:spPr>
          <a:xfrm xmlns:a="http://schemas.openxmlformats.org/drawingml/2006/main">
            <a:off x="1181100" y="3705225"/>
            <a:ext cx="4572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F3F6F4"/>
                </a:solidFill>
                <a:latin typeface="Arial"/>
                <a:ea typeface="Arial"/>
                <a:cs typeface="Arial"/>
              </a:defRPr>
            </a:pPr>
            <a:r>
              <a:rPr sz="1875" b="1">
                <a:solidFill>
                  <a:srgbClr val="F3F6F4"/>
                </a:solidFill>
                <a:latin typeface="Arial"/>
                <a:ea typeface="Arial"/>
                <a:cs typeface="Arial"/>
              </a:rPr>
              <a:t>Lineage</a:t>
            </a:r>
          </a:p>
        </p:txBody>
      </p:sp>
      <p:sp>
        <p:nvSpPr>
          <p:cNvPr id="17" name="Text">
            <a:extLst xmlns:a="http://schemas.openxmlformats.org/drawingml/2006/main">
              <a:ext uri="{FF2B5EF4-FFF2-40B4-BE49-F238E27FC236}">
                <a16:creationId xmlns:a16="http://schemas.microsoft.com/office/drawing/2014/main" id="{9F874825-FCF9-4858-AF36-81362E3E342A}"/>
              </a:ext>
            </a:extLst>
          </p:cNvPr>
          <p:cNvSpPr>
            <a:spLocks xmlns:a="http://schemas.openxmlformats.org/drawingml/2006/main" noGrp="1"/>
          </p:cNvSpPr>
          <p:nvPr/>
        </p:nvSpPr>
        <p:spPr>
          <a:xfrm xmlns:a="http://schemas.openxmlformats.org/drawingml/2006/main">
            <a:off x="1181100" y="4133850"/>
            <a:ext cx="4572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AAB8B0"/>
                </a:solidFill>
                <a:latin typeface="Arial"/>
                <a:ea typeface="Arial"/>
                <a:cs typeface="Arial"/>
              </a:defRPr>
            </a:pPr>
            <a:r>
              <a:rPr sz="1500" b="0">
                <a:solidFill>
                  <a:srgbClr val="AAB8B0"/>
                </a:solidFill>
                <a:latin typeface="Arial"/>
                <a:ea typeface="Arial"/>
                <a:cs typeface="Arial"/>
              </a:rPr>
              <a:t>Record parent, phenomenon, transformation, generator version, and review state for every row.</a:t>
            </a:r>
          </a:p>
        </p:txBody>
      </p:sp>
      <p:sp>
        <p:nvSpPr>
          <p:cNvPr id="18" name="Text">
            <a:extLst xmlns:a="http://schemas.openxmlformats.org/drawingml/2006/main">
              <a:ext uri="{FF2B5EF4-FFF2-40B4-BE49-F238E27FC236}">
                <a16:creationId xmlns:a16="http://schemas.microsoft.com/office/drawing/2014/main" id="{CE996F9F-3BA1-4385-A701-DCEE8E799846}"/>
              </a:ext>
            </a:extLst>
          </p:cNvPr>
          <p:cNvSpPr>
            <a:spLocks xmlns:a="http://schemas.openxmlformats.org/drawingml/2006/main" noGrp="1"/>
          </p:cNvSpPr>
          <p:nvPr/>
        </p:nvSpPr>
        <p:spPr>
          <a:xfrm xmlns:a="http://schemas.openxmlformats.org/drawingml/2006/main">
            <a:off x="6410325" y="3724275"/>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2DDA8"/>
                </a:solidFill>
                <a:latin typeface="Arial"/>
                <a:ea typeface="Arial"/>
                <a:cs typeface="Arial"/>
              </a:defRPr>
            </a:pPr>
            <a:r>
              <a:rPr sz="1275" b="1">
                <a:solidFill>
                  <a:srgbClr val="62DDA8"/>
                </a:solidFill>
                <a:latin typeface="Arial"/>
                <a:ea typeface="Arial"/>
                <a:cs typeface="Arial"/>
              </a:rPr>
              <a:t>04</a:t>
            </a:r>
          </a:p>
        </p:txBody>
      </p:sp>
      <p:sp>
        <p:nvSpPr>
          <p:cNvPr id="19" name="Text">
            <a:extLst xmlns:a="http://schemas.openxmlformats.org/drawingml/2006/main">
              <a:ext uri="{FF2B5EF4-FFF2-40B4-BE49-F238E27FC236}">
                <a16:creationId xmlns:a16="http://schemas.microsoft.com/office/drawing/2014/main" id="{A06F61C6-0D1E-4F39-98C4-DC7112422BF6}"/>
              </a:ext>
            </a:extLst>
          </p:cNvPr>
          <p:cNvSpPr>
            <a:spLocks xmlns:a="http://schemas.openxmlformats.org/drawingml/2006/main" noGrp="1"/>
          </p:cNvSpPr>
          <p:nvPr/>
        </p:nvSpPr>
        <p:spPr>
          <a:xfrm xmlns:a="http://schemas.openxmlformats.org/drawingml/2006/main">
            <a:off x="6981825" y="3705225"/>
            <a:ext cx="4572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F3F6F4"/>
                </a:solidFill>
                <a:latin typeface="Arial"/>
                <a:ea typeface="Arial"/>
                <a:cs typeface="Arial"/>
              </a:defRPr>
            </a:pPr>
            <a:r>
              <a:rPr sz="1875" b="1">
                <a:solidFill>
                  <a:srgbClr val="F3F6F4"/>
                </a:solidFill>
                <a:latin typeface="Arial"/>
                <a:ea typeface="Arial"/>
                <a:cs typeface="Arial"/>
              </a:rPr>
              <a:t>Human audit</a:t>
            </a:r>
          </a:p>
        </p:txBody>
      </p:sp>
      <p:sp>
        <p:nvSpPr>
          <p:cNvPr id="20" name="Text">
            <a:extLst xmlns:a="http://schemas.openxmlformats.org/drawingml/2006/main">
              <a:ext uri="{FF2B5EF4-FFF2-40B4-BE49-F238E27FC236}">
                <a16:creationId xmlns:a16="http://schemas.microsoft.com/office/drawing/2014/main" id="{0BAE0184-D635-4921-AEDC-3F3851BAEC04}"/>
              </a:ext>
            </a:extLst>
          </p:cNvPr>
          <p:cNvSpPr>
            <a:spLocks xmlns:a="http://schemas.openxmlformats.org/drawingml/2006/main" noGrp="1"/>
          </p:cNvSpPr>
          <p:nvPr/>
        </p:nvSpPr>
        <p:spPr>
          <a:xfrm xmlns:a="http://schemas.openxmlformats.org/drawingml/2006/main">
            <a:off x="6981825" y="4133850"/>
            <a:ext cx="4572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AAB8B0"/>
                </a:solidFill>
                <a:latin typeface="Arial"/>
                <a:ea typeface="Arial"/>
                <a:cs typeface="Arial"/>
              </a:defRPr>
            </a:pPr>
            <a:r>
              <a:rPr sz="1500" b="0">
                <a:solidFill>
                  <a:srgbClr val="AAB8B0"/>
                </a:solidFill>
                <a:latin typeface="Arial"/>
                <a:ea typeface="Arial"/>
                <a:cs typeface="Arial"/>
              </a:rPr>
              <a:t>Check labels and span boundaries on a sampled batch before adding a generator family to training.</a:t>
            </a:r>
          </a:p>
        </p:txBody>
      </p:sp>
      <p:sp>
        <p:nvSpPr>
          <p:cNvPr id="21" name="Text">
            <a:extLst xmlns:a="http://schemas.openxmlformats.org/drawingml/2006/main">
              <a:ext uri="{FF2B5EF4-FFF2-40B4-BE49-F238E27FC236}">
                <a16:creationId xmlns:a16="http://schemas.microsoft.com/office/drawing/2014/main" id="{333D8856-EFAA-49CE-9D37-78FB88248549}"/>
              </a:ext>
            </a:extLst>
          </p:cNvPr>
          <p:cNvSpPr>
            <a:spLocks xmlns:a="http://schemas.openxmlformats.org/drawingml/2006/main" noGrp="1"/>
          </p:cNvSpPr>
          <p:nvPr/>
        </p:nvSpPr>
        <p:spPr>
          <a:xfrm xmlns:a="http://schemas.openxmlformats.org/drawingml/2006/main">
            <a:off x="609600" y="57816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0C36A"/>
                </a:solidFill>
                <a:latin typeface="Arial"/>
                <a:ea typeface="Arial"/>
                <a:cs typeface="Arial"/>
              </a:defRPr>
            </a:pPr>
            <a:r>
              <a:rPr sz="1500" b="1">
                <a:solidFill>
                  <a:srgbClr val="F0C36A"/>
                </a:solidFill>
                <a:latin typeface="Arial"/>
                <a:ea typeface="Arial"/>
                <a:cs typeface="Arial"/>
              </a:rPr>
              <a:t>A generator label is provenance, not a quality guarantee.</a:t>
            </a:r>
          </a:p>
        </p:txBody>
      </p:sp>
    </p:spTree>
    <p:extLst>
      <p:ext uri="{BB962C8B-B14F-4D97-AF65-F5344CB8AC3E}">
        <p14:creationId xmlns:p14="http://schemas.microsoft.com/office/powerpoint/2010/main" val="710226392"/>
      </p:ext>
    </p:extLst>
  </p:cSld>
</p:sld>
</file>

<file path=ppt/slides/slide8.xml><?xml version="1.0" encoding="utf-8"?>
<p:sld xmlns:p="http://schemas.openxmlformats.org/presentationml/2006/main">
  <p:cSld>
    <p:bg>
      <p:bgPr>
        <a:solidFill xmlns:a="http://schemas.openxmlformats.org/drawingml/2006/main">
          <a:srgbClr val="202522"/>
        </a:solidFill>
      </p:bgPr>
    </p:bg>
    <p:spTree>
      <p:nvGrpSpPr>
        <p:cNvPr id="1" name=""/>
        <p:cNvGrpSpPr/>
        <p:nvPr/>
      </p:nvGrpSpPr>
      <p:grpSpPr>
        <a:xfrm xmlns:a="http://schemas.openxmlformats.org/drawingml/2006/main"/>
      </p:grpSpPr>
      <p:sp>
        <p:nvSpPr>
          <p:cNvPr id="20" name="Section label">
            <a:extLst xmlns:a="http://schemas.openxmlformats.org/drawingml/2006/main">
              <a:ext uri="{FF2B5EF4-FFF2-40B4-BE49-F238E27FC236}">
                <a16:creationId xmlns:a16="http://schemas.microsoft.com/office/drawing/2014/main" id="{5FB012CE-A6C0-4D78-BCBE-A0DB32132FBD}"/>
              </a:ext>
            </a:extLst>
          </p:cNvPr>
          <p:cNvSpPr>
            <a:spLocks xmlns:a="http://schemas.openxmlformats.org/drawingml/2006/main" noGrp="1"/>
          </p:cNvSpPr>
          <p:nvPr/>
        </p:nvSpPr>
        <p:spPr>
          <a:xfrm xmlns:a="http://schemas.openxmlformats.org/drawingml/2006/main">
            <a:off x="609600" y="2571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  UNSUPERVISED LEARNING</a:t>
            </a:r>
          </a:p>
        </p:txBody>
      </p:sp>
      <p:sp>
        <p:nvSpPr>
          <p:cNvPr id="2" name="Slide title">
            <a:extLst xmlns:a="http://schemas.openxmlformats.org/drawingml/2006/main">
              <a:ext uri="{FF2B5EF4-FFF2-40B4-BE49-F238E27FC236}">
                <a16:creationId xmlns:a16="http://schemas.microsoft.com/office/drawing/2014/main" id="{05DE9014-199F-45FF-83D9-4E7A39C07B30}"/>
              </a:ext>
            </a:extLst>
          </p:cNvPr>
          <p:cNvSpPr>
            <a:spLocks xmlns:a="http://schemas.openxmlformats.org/drawingml/2006/main" noGrp="1"/>
          </p:cNvSpPr>
          <p:nvPr/>
        </p:nvSpPr>
        <p:spPr>
          <a:xfrm xmlns:a="http://schemas.openxmlformats.org/drawingml/2006/main">
            <a:off x="609600" y="5810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75" b="1">
                <a:solidFill>
                  <a:srgbClr val="F3F6F4"/>
                </a:solidFill>
                <a:latin typeface="Arial"/>
                <a:ea typeface="Arial"/>
                <a:cs typeface="Arial"/>
              </a:defRPr>
            </a:pPr>
            <a:r>
              <a:rPr sz="3075" b="1">
                <a:solidFill>
                  <a:srgbClr val="F3F6F4"/>
                </a:solidFill>
                <a:latin typeface="Arial"/>
                <a:ea typeface="Arial"/>
                <a:cs typeface="Arial"/>
              </a:rPr>
              <a:t>Unlabeled discovery prioritizes annotation</a:t>
            </a:r>
          </a:p>
        </p:txBody>
      </p:sp>
      <p:sp>
        <p:nvSpPr>
          <p:cNvPr id="3" name="Section rule">
            <a:extLst xmlns:a="http://schemas.openxmlformats.org/drawingml/2006/main">
              <a:ext uri="{FF2B5EF4-FFF2-40B4-BE49-F238E27FC236}">
                <a16:creationId xmlns:a16="http://schemas.microsoft.com/office/drawing/2014/main" id="{D89C0ACA-39B1-426A-8C29-171F7C7FB817}"/>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4" name="Section rule">
            <a:extLst xmlns:a="http://schemas.openxmlformats.org/drawingml/2006/main">
              <a:ext uri="{FF2B5EF4-FFF2-40B4-BE49-F238E27FC236}">
                <a16:creationId xmlns:a16="http://schemas.microsoft.com/office/drawing/2014/main" id="{AF97734C-E39E-49B2-8DC8-6C4F5687B9FA}"/>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899BC9BD-2E74-4A26-9F9A-1D6ABD053BF9}"/>
              </a:ext>
            </a:extLst>
          </p:cNvPr>
          <p:cNvSpPr>
            <a:spLocks xmlns:a="http://schemas.openxmlformats.org/drawingml/2006/main" noGrp="1"/>
          </p:cNvSpPr>
          <p:nvPr/>
        </p:nvSpPr>
        <p:spPr>
          <a:xfrm xmlns:a="http://schemas.openxmlformats.org/drawingml/2006/main">
            <a:off x="609600" y="6562725"/>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AAB8B0"/>
                </a:solidFill>
                <a:latin typeface="Arial"/>
                <a:ea typeface="Arial"/>
                <a:cs typeface="Arial"/>
              </a:defRPr>
            </a:pPr>
            <a:r>
              <a:rPr sz="900" b="0">
                <a:solidFill>
                  <a:srgbClr val="AAB8B0"/>
                </a:solidFill>
                <a:latin typeface="Arial"/>
                <a:ea typeface="Arial"/>
                <a:cs typeface="Arial"/>
              </a:rPr>
              <a:t>SYNTHETIC DATA  /  UNSUPERVISED DISCOVERY  /  HUMAN EVALUATION</a:t>
            </a:r>
          </a:p>
        </p:txBody>
      </p:sp>
      <p:sp>
        <p:nvSpPr>
          <p:cNvPr id="6" name="Page number">
            <a:extLst xmlns:a="http://schemas.openxmlformats.org/drawingml/2006/main">
              <a:ext uri="{FF2B5EF4-FFF2-40B4-BE49-F238E27FC236}">
                <a16:creationId xmlns:a16="http://schemas.microsoft.com/office/drawing/2014/main" id="{0F9939BA-B161-4DAD-990E-52909306B92F}"/>
              </a:ext>
            </a:extLst>
          </p:cNvPr>
          <p:cNvSpPr>
            <a:spLocks xmlns:a="http://schemas.openxmlformats.org/drawingml/2006/main" noGrp="1"/>
          </p:cNvSpPr>
          <p:nvPr/>
        </p:nvSpPr>
        <p:spPr>
          <a:xfrm xmlns:a="http://schemas.openxmlformats.org/drawingml/2006/main">
            <a:off x="11049000" y="65436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9AEBCA"/>
                </a:solidFill>
                <a:latin typeface="Arial"/>
                <a:ea typeface="Arial"/>
                <a:cs typeface="Arial"/>
              </a:defRPr>
            </a:pPr>
            <a:r>
              <a:rPr sz="1050" b="1">
                <a:solidFill>
                  <a:srgbClr val="9AEBCA"/>
                </a:solidFill>
                <a:latin typeface="Arial"/>
                <a:ea typeface="Arial"/>
                <a:cs typeface="Arial"/>
              </a:rPr>
              <a:t>08</a:t>
            </a:r>
          </a:p>
        </p:txBody>
      </p:sp>
      <p:sp>
        <p:nvSpPr>
          <p:cNvPr id="7" name="Text">
            <a:extLst xmlns:a="http://schemas.openxmlformats.org/drawingml/2006/main">
              <a:ext uri="{FF2B5EF4-FFF2-40B4-BE49-F238E27FC236}">
                <a16:creationId xmlns:a16="http://schemas.microsoft.com/office/drawing/2014/main" id="{83DE5C40-69FA-43BF-A423-F0C2EBF0559C}"/>
              </a:ext>
            </a:extLst>
          </p:cNvPr>
          <p:cNvSpPr>
            <a:spLocks xmlns:a="http://schemas.openxmlformats.org/drawingml/2006/main" noGrp="1"/>
          </p:cNvSpPr>
          <p:nvPr/>
        </p:nvSpPr>
        <p:spPr>
          <a:xfrm xmlns:a="http://schemas.openxmlformats.org/drawingml/2006/main">
            <a:off x="609600" y="169545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62DDA8"/>
                </a:solidFill>
                <a:latin typeface="Arial"/>
                <a:ea typeface="Arial"/>
                <a:cs typeface="Arial"/>
              </a:defRPr>
            </a:pPr>
            <a:r>
              <a:rPr sz="1350" b="1">
                <a:solidFill>
                  <a:srgbClr val="62DDA8"/>
                </a:solidFill>
                <a:latin typeface="Arial"/>
                <a:ea typeface="Arial"/>
                <a:cs typeface="Arial"/>
              </a:rPr>
              <a:t>Current method</a:t>
            </a:r>
          </a:p>
        </p:txBody>
      </p:sp>
      <p:sp>
        <p:nvSpPr>
          <p:cNvPr id="8" name="Text">
            <a:extLst xmlns:a="http://schemas.openxmlformats.org/drawingml/2006/main">
              <a:ext uri="{FF2B5EF4-FFF2-40B4-BE49-F238E27FC236}">
                <a16:creationId xmlns:a16="http://schemas.microsoft.com/office/drawing/2014/main" id="{4F2D359F-5904-4034-892C-8382A645FCF7}"/>
              </a:ext>
            </a:extLst>
          </p:cNvPr>
          <p:cNvSpPr>
            <a:spLocks xmlns:a="http://schemas.openxmlformats.org/drawingml/2006/main" noGrp="1"/>
          </p:cNvSpPr>
          <p:nvPr/>
        </p:nvSpPr>
        <p:spPr>
          <a:xfrm xmlns:a="http://schemas.openxmlformats.org/drawingml/2006/main">
            <a:off x="609600" y="2228850"/>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F3F6F4"/>
                </a:solidFill>
                <a:latin typeface="Arial"/>
                <a:ea typeface="Arial"/>
                <a:cs typeface="Arial"/>
              </a:defRPr>
            </a:pPr>
            <a:r>
              <a:rPr sz="1875" b="1">
                <a:solidFill>
                  <a:srgbClr val="F3F6F4"/>
                </a:solidFill>
                <a:latin typeface="Arial"/>
                <a:ea typeface="Arial"/>
                <a:cs typeface="Arial"/>
              </a:rPr>
              <a:t>Narrative text</a:t>
            </a:r>
          </a:p>
        </p:txBody>
      </p:sp>
      <p:sp>
        <p:nvSpPr>
          <p:cNvPr id="9" name="Section rule">
            <a:extLst xmlns:a="http://schemas.openxmlformats.org/drawingml/2006/main">
              <a:ext uri="{FF2B5EF4-FFF2-40B4-BE49-F238E27FC236}">
                <a16:creationId xmlns:a16="http://schemas.microsoft.com/office/drawing/2014/main" id="{A396578E-A014-4FF2-A36D-1E1247BAB937}"/>
              </a:ext>
            </a:extLst>
          </p:cNvPr>
          <p:cNvSpPr>
            <a:spLocks xmlns:a="http://schemas.openxmlformats.org/drawingml/2006/main" noGrp="1"/>
          </p:cNvSpPr>
          <p:nvPr/>
        </p:nvSpPr>
        <p:spPr>
          <a:xfrm xmlns:a="http://schemas.openxmlformats.org/drawingml/2006/main">
            <a:off x="609600" y="2743200"/>
            <a:ext cx="2619375" cy="19050"/>
          </a:xfrm>
          <a:prstGeom xmlns:a="http://schemas.openxmlformats.org/drawingml/2006/main" prst="rect">
            <a:avLst/>
          </a:prstGeom>
          <a:solidFill xmlns:a="http://schemas.openxmlformats.org/drawingml/2006/main">
            <a:srgbClr val="62DDA8"/>
          </a:solidFill>
          <a:ln xmlns:a="http://schemas.openxmlformats.org/drawingml/2006/main" w="0">
            <a:noFill/>
          </a:ln>
        </p:spPr>
      </p:sp>
      <p:sp>
        <p:nvSpPr>
          <p:cNvPr id="10" name="Text">
            <a:extLst xmlns:a="http://schemas.openxmlformats.org/drawingml/2006/main">
              <a:ext uri="{FF2B5EF4-FFF2-40B4-BE49-F238E27FC236}">
                <a16:creationId xmlns:a16="http://schemas.microsoft.com/office/drawing/2014/main" id="{22B70EFA-2F91-4A5C-AC3E-CA447DD96394}"/>
              </a:ext>
            </a:extLst>
          </p:cNvPr>
          <p:cNvSpPr>
            <a:spLocks xmlns:a="http://schemas.openxmlformats.org/drawingml/2006/main" noGrp="1"/>
          </p:cNvSpPr>
          <p:nvPr/>
        </p:nvSpPr>
        <p:spPr>
          <a:xfrm xmlns:a="http://schemas.openxmlformats.org/drawingml/2006/main">
            <a:off x="609600" y="2971800"/>
            <a:ext cx="314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FeaturizeText</a:t>
            </a:r>
          </a:p>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word and character n-grams</a:t>
            </a:r>
          </a:p>
        </p:txBody>
      </p:sp>
      <p:sp>
        <p:nvSpPr>
          <p:cNvPr id="11" name="Section rule">
            <a:extLst xmlns:a="http://schemas.openxmlformats.org/drawingml/2006/main">
              <a:ext uri="{FF2B5EF4-FFF2-40B4-BE49-F238E27FC236}">
                <a16:creationId xmlns:a16="http://schemas.microsoft.com/office/drawing/2014/main" id="{5366167E-84CE-40A0-8B70-37AA3F2EAAB8}"/>
              </a:ext>
            </a:extLst>
          </p:cNvPr>
          <p:cNvSpPr>
            <a:spLocks xmlns:a="http://schemas.openxmlformats.org/drawingml/2006/main" noGrp="1"/>
          </p:cNvSpPr>
          <p:nvPr/>
        </p:nvSpPr>
        <p:spPr>
          <a:xfrm xmlns:a="http://schemas.openxmlformats.org/drawingml/2006/main">
            <a:off x="609600" y="3800475"/>
            <a:ext cx="2619375" cy="19050"/>
          </a:xfrm>
          <a:prstGeom xmlns:a="http://schemas.openxmlformats.org/drawingml/2006/main" prst="rect">
            <a:avLst/>
          </a:prstGeom>
          <a:solidFill xmlns:a="http://schemas.openxmlformats.org/drawingml/2006/main">
            <a:srgbClr val="62DDA8"/>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E4A25E51-392B-4A96-A5BF-DB754E3BCE1F}"/>
              </a:ext>
            </a:extLst>
          </p:cNvPr>
          <p:cNvSpPr>
            <a:spLocks xmlns:a="http://schemas.openxmlformats.org/drawingml/2006/main" noGrp="1"/>
          </p:cNvSpPr>
          <p:nvPr/>
        </p:nvSpPr>
        <p:spPr>
          <a:xfrm xmlns:a="http://schemas.openxmlformats.org/drawingml/2006/main">
            <a:off x="609600" y="4048125"/>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K-Means</a:t>
            </a:r>
          </a:p>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exploratory groupings</a:t>
            </a:r>
          </a:p>
        </p:txBody>
      </p:sp>
      <p:sp>
        <p:nvSpPr>
          <p:cNvPr id="13" name="Section rule">
            <a:extLst xmlns:a="http://schemas.openxmlformats.org/drawingml/2006/main">
              <a:ext uri="{FF2B5EF4-FFF2-40B4-BE49-F238E27FC236}">
                <a16:creationId xmlns:a16="http://schemas.microsoft.com/office/drawing/2014/main" id="{C9508250-6D1D-4246-BEF2-130F38D40E3A}"/>
              </a:ext>
            </a:extLst>
          </p:cNvPr>
          <p:cNvSpPr>
            <a:spLocks xmlns:a="http://schemas.openxmlformats.org/drawingml/2006/main" noGrp="1"/>
          </p:cNvSpPr>
          <p:nvPr/>
        </p:nvSpPr>
        <p:spPr>
          <a:xfrm xmlns:a="http://schemas.openxmlformats.org/drawingml/2006/main">
            <a:off x="609600" y="4867275"/>
            <a:ext cx="2619375" cy="19050"/>
          </a:xfrm>
          <a:prstGeom xmlns:a="http://schemas.openxmlformats.org/drawingml/2006/main" prst="rect">
            <a:avLst/>
          </a:prstGeom>
          <a:solidFill xmlns:a="http://schemas.openxmlformats.org/drawingml/2006/main">
            <a:srgbClr val="62DDA8"/>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97FB5E10-56F1-4EC4-8F53-9A761787A9BB}"/>
              </a:ext>
            </a:extLst>
          </p:cNvPr>
          <p:cNvSpPr>
            <a:spLocks xmlns:a="http://schemas.openxmlformats.org/drawingml/2006/main" noGrp="1"/>
          </p:cNvSpPr>
          <p:nvPr/>
        </p:nvSpPr>
        <p:spPr>
          <a:xfrm xmlns:a="http://schemas.openxmlformats.org/drawingml/2006/main">
            <a:off x="609600" y="5124450"/>
            <a:ext cx="314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F3F6F4"/>
                </a:solidFill>
                <a:latin typeface="Arial"/>
                <a:ea typeface="Arial"/>
                <a:cs typeface="Arial"/>
              </a:defRPr>
            </a:pPr>
            <a:r>
              <a:rPr sz="1500" b="0">
                <a:solidFill>
                  <a:srgbClr val="F3F6F4"/>
                </a:solidFill>
                <a:latin typeface="Arial"/>
                <a:ea typeface="Arial"/>
                <a:cs typeface="Arial"/>
              </a:rPr>
              <a:t>Inspect exemplars,</a:t>
            </a:r>
          </a:p>
          <a:p xmlns:a="http://schemas.openxmlformats.org/drawingml/2006/main">
            <a:pPr algn="l">
              <a:defRPr sz="1500" b="0">
                <a:solidFill>
                  <a:srgbClr val="F3F6F4"/>
                </a:solidFill>
                <a:latin typeface="Arial"/>
                <a:ea typeface="Arial"/>
                <a:cs typeface="Arial"/>
              </a:defRPr>
            </a:pPr>
            <a:r>
              <a:rPr sz="1500" b="0">
                <a:solidFill>
                  <a:srgbClr val="F3F6F4"/>
                </a:solidFill>
                <a:latin typeface="Arial"/>
                <a:ea typeface="Arial"/>
                <a:cs typeface="Arial"/>
              </a:rPr>
              <a:t>rare groups, and outliers</a:t>
            </a:r>
          </a:p>
        </p:txBody>
      </p:sp>
      <p:sp>
        <p:nvSpPr>
          <p:cNvPr id="15" name="Diagram shape">
            <a:extLst xmlns:a="http://schemas.openxmlformats.org/drawingml/2006/main">
              <a:ext uri="{FF2B5EF4-FFF2-40B4-BE49-F238E27FC236}">
                <a16:creationId xmlns:a16="http://schemas.microsoft.com/office/drawing/2014/main" id="{5DA71D3C-692B-4FE6-966D-46A415A2C594}"/>
              </a:ext>
            </a:extLst>
          </p:cNvPr>
          <p:cNvSpPr>
            <a:spLocks xmlns:a="http://schemas.openxmlformats.org/drawingml/2006/main" noGrp="1"/>
          </p:cNvSpPr>
          <p:nvPr/>
        </p:nvSpPr>
        <p:spPr>
          <a:xfrm xmlns:a="http://schemas.openxmlformats.org/drawingml/2006/main">
            <a:off x="4429125" y="1743075"/>
            <a:ext cx="9525" cy="4095750"/>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6" name="Text">
            <a:extLst xmlns:a="http://schemas.openxmlformats.org/drawingml/2006/main">
              <a:ext uri="{FF2B5EF4-FFF2-40B4-BE49-F238E27FC236}">
                <a16:creationId xmlns:a16="http://schemas.microsoft.com/office/drawing/2014/main" id="{EF064553-5D3D-443E-ADD2-BB62BAC87D5D}"/>
              </a:ext>
            </a:extLst>
          </p:cNvPr>
          <p:cNvSpPr>
            <a:spLocks xmlns:a="http://schemas.openxmlformats.org/drawingml/2006/main" noGrp="1"/>
          </p:cNvSpPr>
          <p:nvPr/>
        </p:nvSpPr>
        <p:spPr>
          <a:xfrm xmlns:a="http://schemas.openxmlformats.org/drawingml/2006/main">
            <a:off x="5000625" y="1743075"/>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62DDA8"/>
                </a:solidFill>
                <a:latin typeface="Arial"/>
                <a:ea typeface="Arial"/>
                <a:cs typeface="Arial"/>
              </a:defRPr>
            </a:pPr>
            <a:r>
              <a:rPr sz="1350" b="1">
                <a:solidFill>
                  <a:srgbClr val="62DDA8"/>
                </a:solidFill>
                <a:latin typeface="Arial"/>
                <a:ea typeface="Arial"/>
                <a:cs typeface="Arial"/>
              </a:rPr>
              <a:t>Use clusters to</a:t>
            </a:r>
          </a:p>
        </p:txBody>
      </p:sp>
      <p:sp>
        <p:nvSpPr>
          <p:cNvPr id="17" name="Text">
            <a:extLst xmlns:a="http://schemas.openxmlformats.org/drawingml/2006/main">
              <a:ext uri="{FF2B5EF4-FFF2-40B4-BE49-F238E27FC236}">
                <a16:creationId xmlns:a16="http://schemas.microsoft.com/office/drawing/2014/main" id="{E109B51F-67B6-4A91-97AD-ECC8985C8376}"/>
              </a:ext>
            </a:extLst>
          </p:cNvPr>
          <p:cNvSpPr>
            <a:spLocks xmlns:a="http://schemas.openxmlformats.org/drawingml/2006/main" noGrp="1"/>
          </p:cNvSpPr>
          <p:nvPr/>
        </p:nvSpPr>
        <p:spPr>
          <a:xfrm xmlns:a="http://schemas.openxmlformats.org/drawingml/2006/main">
            <a:off x="5000625" y="2143125"/>
            <a:ext cx="5905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Find lexical modes missing from the gold set.</a:t>
            </a:r>
          </a:p>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Sample annotation batches by cluster and outlier status.</a:t>
            </a:r>
          </a:p>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Choose phenomena for the next synthetic contrast set.</a:t>
            </a:r>
          </a:p>
        </p:txBody>
      </p:sp>
      <p:sp>
        <p:nvSpPr>
          <p:cNvPr id="18" name="Text">
            <a:extLst xmlns:a="http://schemas.openxmlformats.org/drawingml/2006/main">
              <a:ext uri="{FF2B5EF4-FFF2-40B4-BE49-F238E27FC236}">
                <a16:creationId xmlns:a16="http://schemas.microsoft.com/office/drawing/2014/main" id="{249EF5DE-DE81-4D31-A909-1D33E0AF1660}"/>
              </a:ext>
            </a:extLst>
          </p:cNvPr>
          <p:cNvSpPr>
            <a:spLocks xmlns:a="http://schemas.openxmlformats.org/drawingml/2006/main" noGrp="1"/>
          </p:cNvSpPr>
          <p:nvPr/>
        </p:nvSpPr>
        <p:spPr>
          <a:xfrm xmlns:a="http://schemas.openxmlformats.org/drawingml/2006/main">
            <a:off x="5000625" y="3905250"/>
            <a:ext cx="2095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0C36A"/>
                </a:solidFill>
                <a:latin typeface="Arial"/>
                <a:ea typeface="Arial"/>
                <a:cs typeface="Arial"/>
              </a:defRPr>
            </a:pPr>
            <a:r>
              <a:rPr sz="1350" b="1">
                <a:solidFill>
                  <a:srgbClr val="F0C36A"/>
                </a:solidFill>
                <a:latin typeface="Arial"/>
                <a:ea typeface="Arial"/>
                <a:cs typeface="Arial"/>
              </a:rPr>
              <a:t>Do not infer</a:t>
            </a:r>
          </a:p>
        </p:txBody>
      </p:sp>
      <p:sp>
        <p:nvSpPr>
          <p:cNvPr id="19" name="Text">
            <a:extLst xmlns:a="http://schemas.openxmlformats.org/drawingml/2006/main">
              <a:ext uri="{FF2B5EF4-FFF2-40B4-BE49-F238E27FC236}">
                <a16:creationId xmlns:a16="http://schemas.microsoft.com/office/drawing/2014/main" id="{26AE7238-3768-4378-A1A2-D84E2C819EF2}"/>
              </a:ext>
            </a:extLst>
          </p:cNvPr>
          <p:cNvSpPr>
            <a:spLocks xmlns:a="http://schemas.openxmlformats.org/drawingml/2006/main" noGrp="1"/>
          </p:cNvSpPr>
          <p:nvPr/>
        </p:nvSpPr>
        <p:spPr>
          <a:xfrm xmlns:a="http://schemas.openxmlformats.org/drawingml/2006/main">
            <a:off x="5000625" y="4286250"/>
            <a:ext cx="5905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Cluster IDs as TYM classes.</a:t>
            </a:r>
          </a:p>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Semantic coherence from n-gram similarity alone.</a:t>
            </a:r>
          </a:p>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Model quality from internal clustering scores.</a:t>
            </a:r>
          </a:p>
        </p:txBody>
      </p:sp>
    </p:spTree>
    <p:extLst>
      <p:ext uri="{BB962C8B-B14F-4D97-AF65-F5344CB8AC3E}">
        <p14:creationId xmlns:p14="http://schemas.microsoft.com/office/powerpoint/2010/main" val="1180842939"/>
      </p:ext>
    </p:extLst>
  </p:cSld>
</p:sld>
</file>

<file path=ppt/slides/slide9.xml><?xml version="1.0" encoding="utf-8"?>
<p:sld xmlns:p="http://schemas.openxmlformats.org/presentationml/2006/main">
  <p:cSld>
    <p:bg>
      <p:bgPr>
        <a:solidFill xmlns:a="http://schemas.openxmlformats.org/drawingml/2006/main">
          <a:srgbClr val="202522"/>
        </a:solidFill>
      </p:bgPr>
    </p:bg>
    <p:spTree>
      <p:nvGrpSpPr>
        <p:cNvPr id="1" name=""/>
        <p:cNvGrpSpPr/>
        <p:nvPr/>
      </p:nvGrpSpPr>
      <p:grpSpPr>
        <a:xfrm xmlns:a="http://schemas.openxmlformats.org/drawingml/2006/main"/>
      </p:grpSpPr>
      <p:sp>
        <p:nvSpPr>
          <p:cNvPr id="29" name="Section label">
            <a:extLst xmlns:a="http://schemas.openxmlformats.org/drawingml/2006/main">
              <a:ext uri="{FF2B5EF4-FFF2-40B4-BE49-F238E27FC236}">
                <a16:creationId xmlns:a16="http://schemas.microsoft.com/office/drawing/2014/main" id="{BB702E56-4549-4433-9BA1-659A0F537901}"/>
              </a:ext>
            </a:extLst>
          </p:cNvPr>
          <p:cNvSpPr>
            <a:spLocks xmlns:a="http://schemas.openxmlformats.org/drawingml/2006/main" noGrp="1"/>
          </p:cNvSpPr>
          <p:nvPr/>
        </p:nvSpPr>
        <p:spPr>
          <a:xfrm xmlns:a="http://schemas.openxmlformats.org/drawingml/2006/main">
            <a:off x="609600" y="2571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  UNSUPERVISED LEARNING</a:t>
            </a:r>
          </a:p>
        </p:txBody>
      </p:sp>
      <p:sp>
        <p:nvSpPr>
          <p:cNvPr id="2" name="Slide title">
            <a:extLst xmlns:a="http://schemas.openxmlformats.org/drawingml/2006/main">
              <a:ext uri="{FF2B5EF4-FFF2-40B4-BE49-F238E27FC236}">
                <a16:creationId xmlns:a16="http://schemas.microsoft.com/office/drawing/2014/main" id="{DB38606D-3B87-4EA7-A138-3B8ABB45AB87}"/>
              </a:ext>
            </a:extLst>
          </p:cNvPr>
          <p:cNvSpPr>
            <a:spLocks xmlns:a="http://schemas.openxmlformats.org/drawingml/2006/main" noGrp="1"/>
          </p:cNvSpPr>
          <p:nvPr/>
        </p:nvSpPr>
        <p:spPr>
          <a:xfrm xmlns:a="http://schemas.openxmlformats.org/drawingml/2006/main">
            <a:off x="609600" y="5810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75" b="1">
                <a:solidFill>
                  <a:srgbClr val="F3F6F4"/>
                </a:solidFill>
                <a:latin typeface="Arial"/>
                <a:ea typeface="Arial"/>
                <a:cs typeface="Arial"/>
              </a:defRPr>
            </a:pPr>
            <a:r>
              <a:rPr sz="3075" b="1">
                <a:solidFill>
                  <a:srgbClr val="F3F6F4"/>
                </a:solidFill>
                <a:latin typeface="Arial"/>
                <a:ea typeface="Arial"/>
                <a:cs typeface="Arial"/>
              </a:rPr>
              <a:t>Unlabeled text becomes an annotation sampling frame</a:t>
            </a:r>
          </a:p>
        </p:txBody>
      </p:sp>
      <p:sp>
        <p:nvSpPr>
          <p:cNvPr id="3" name="Section rule">
            <a:extLst xmlns:a="http://schemas.openxmlformats.org/drawingml/2006/main">
              <a:ext uri="{FF2B5EF4-FFF2-40B4-BE49-F238E27FC236}">
                <a16:creationId xmlns:a16="http://schemas.microsoft.com/office/drawing/2014/main" id="{C8B80BCF-9D5A-4DE6-9932-6345C0D19F2D}"/>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4" name="Section rule">
            <a:extLst xmlns:a="http://schemas.openxmlformats.org/drawingml/2006/main">
              <a:ext uri="{FF2B5EF4-FFF2-40B4-BE49-F238E27FC236}">
                <a16:creationId xmlns:a16="http://schemas.microsoft.com/office/drawing/2014/main" id="{FE347009-6300-421A-93B1-6BDC4E5F1F54}"/>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590E9596-E789-43DE-8A75-4EE7062A3919}"/>
              </a:ext>
            </a:extLst>
          </p:cNvPr>
          <p:cNvSpPr>
            <a:spLocks xmlns:a="http://schemas.openxmlformats.org/drawingml/2006/main" noGrp="1"/>
          </p:cNvSpPr>
          <p:nvPr/>
        </p:nvSpPr>
        <p:spPr>
          <a:xfrm xmlns:a="http://schemas.openxmlformats.org/drawingml/2006/main">
            <a:off x="609600" y="6562725"/>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AAB8B0"/>
                </a:solidFill>
                <a:latin typeface="Arial"/>
                <a:ea typeface="Arial"/>
                <a:cs typeface="Arial"/>
              </a:defRPr>
            </a:pPr>
            <a:r>
              <a:rPr sz="900" b="0">
                <a:solidFill>
                  <a:srgbClr val="AAB8B0"/>
                </a:solidFill>
                <a:latin typeface="Arial"/>
                <a:ea typeface="Arial"/>
                <a:cs typeface="Arial"/>
              </a:rPr>
              <a:t>SYNTHETIC DATA  /  UNSUPERVISED DISCOVERY  /  HUMAN EVALUATION</a:t>
            </a:r>
          </a:p>
        </p:txBody>
      </p:sp>
      <p:sp>
        <p:nvSpPr>
          <p:cNvPr id="6" name="Page number">
            <a:extLst xmlns:a="http://schemas.openxmlformats.org/drawingml/2006/main">
              <a:ext uri="{FF2B5EF4-FFF2-40B4-BE49-F238E27FC236}">
                <a16:creationId xmlns:a16="http://schemas.microsoft.com/office/drawing/2014/main" id="{68500724-CFB3-42FB-B7BD-57057EE65C9C}"/>
              </a:ext>
            </a:extLst>
          </p:cNvPr>
          <p:cNvSpPr>
            <a:spLocks xmlns:a="http://schemas.openxmlformats.org/drawingml/2006/main" noGrp="1"/>
          </p:cNvSpPr>
          <p:nvPr/>
        </p:nvSpPr>
        <p:spPr>
          <a:xfrm xmlns:a="http://schemas.openxmlformats.org/drawingml/2006/main">
            <a:off x="11049000" y="65436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9AEBCA"/>
                </a:solidFill>
                <a:latin typeface="Arial"/>
                <a:ea typeface="Arial"/>
                <a:cs typeface="Arial"/>
              </a:defRPr>
            </a:pPr>
            <a:r>
              <a:rPr sz="1050" b="1">
                <a:solidFill>
                  <a:srgbClr val="9AEBCA"/>
                </a:solidFill>
                <a:latin typeface="Arial"/>
                <a:ea typeface="Arial"/>
                <a:cs typeface="Arial"/>
              </a:rPr>
              <a:t>09</a:t>
            </a:r>
          </a:p>
        </p:txBody>
      </p:sp>
      <p:sp>
        <p:nvSpPr>
          <p:cNvPr id="7" name="Editable workflow node">
            <a:extLst xmlns:a="http://schemas.openxmlformats.org/drawingml/2006/main">
              <a:ext uri="{FF2B5EF4-FFF2-40B4-BE49-F238E27FC236}">
                <a16:creationId xmlns:a16="http://schemas.microsoft.com/office/drawing/2014/main" id="{4A4A005C-A3CF-4F14-B653-209681747228}"/>
              </a:ext>
            </a:extLst>
          </p:cNvPr>
          <p:cNvSpPr>
            <a:spLocks xmlns:a="http://schemas.openxmlformats.org/drawingml/2006/main" noGrp="1"/>
          </p:cNvSpPr>
          <p:nvPr/>
        </p:nvSpPr>
        <p:spPr>
          <a:xfrm xmlns:a="http://schemas.openxmlformats.org/drawingml/2006/main">
            <a:off x="609600" y="2190750"/>
            <a:ext cx="2324100" cy="1524000"/>
          </a:xfrm>
          <a:prstGeom xmlns:a="http://schemas.openxmlformats.org/drawingml/2006/main" prst="roundRect">
            <a:avLst>
              <a:gd name="adj" fmla="val 5000"/>
            </a:avLst>
          </a:prstGeom>
          <a:solidFill xmlns:a="http://schemas.openxmlformats.org/drawingml/2006/main">
            <a:srgbClr val="272D29"/>
          </a:solidFill>
          <a:ln xmlns:a="http://schemas.openxmlformats.org/drawingml/2006/main" w="9525">
            <a:solidFill>
              <a:srgbClr val="47534B"/>
            </a:solidFill>
          </a:ln>
        </p:spPr>
      </p:sp>
      <p:sp>
        <p:nvSpPr>
          <p:cNvPr id="8" name="Step number">
            <a:extLst xmlns:a="http://schemas.openxmlformats.org/drawingml/2006/main">
              <a:ext uri="{FF2B5EF4-FFF2-40B4-BE49-F238E27FC236}">
                <a16:creationId xmlns:a16="http://schemas.microsoft.com/office/drawing/2014/main" id="{AFF608B7-945F-4E36-97AD-B67DAED71F81}"/>
              </a:ext>
            </a:extLst>
          </p:cNvPr>
          <p:cNvSpPr>
            <a:spLocks xmlns:a="http://schemas.openxmlformats.org/drawingml/2006/main" noGrp="1"/>
          </p:cNvSpPr>
          <p:nvPr/>
        </p:nvSpPr>
        <p:spPr>
          <a:xfrm xmlns:a="http://schemas.openxmlformats.org/drawingml/2006/main">
            <a:off x="762000" y="2333625"/>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01</a:t>
            </a:r>
          </a:p>
        </p:txBody>
      </p:sp>
      <p:sp>
        <p:nvSpPr>
          <p:cNvPr id="9" name="Step label">
            <a:extLst xmlns:a="http://schemas.openxmlformats.org/drawingml/2006/main">
              <a:ext uri="{FF2B5EF4-FFF2-40B4-BE49-F238E27FC236}">
                <a16:creationId xmlns:a16="http://schemas.microsoft.com/office/drawing/2014/main" id="{5187FBB2-6C5B-4077-8A83-EF4FA066228B}"/>
              </a:ext>
            </a:extLst>
          </p:cNvPr>
          <p:cNvSpPr>
            <a:spLocks xmlns:a="http://schemas.openxmlformats.org/drawingml/2006/main" noGrp="1"/>
          </p:cNvSpPr>
          <p:nvPr/>
        </p:nvSpPr>
        <p:spPr>
          <a:xfrm xmlns:a="http://schemas.openxmlformats.org/drawingml/2006/main">
            <a:off x="762000" y="2590800"/>
            <a:ext cx="203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3F6F4"/>
                </a:solidFill>
                <a:latin typeface="Arial"/>
                <a:ea typeface="Arial"/>
                <a:cs typeface="Arial"/>
              </a:defRPr>
            </a:pPr>
            <a:r>
              <a:rPr sz="1575" b="1">
                <a:solidFill>
                  <a:srgbClr val="F3F6F4"/>
                </a:solidFill>
                <a:latin typeface="Arial"/>
                <a:ea typeface="Arial"/>
                <a:cs typeface="Arial"/>
              </a:rPr>
              <a:t>Narrative pool</a:t>
            </a:r>
          </a:p>
        </p:txBody>
      </p:sp>
      <p:sp>
        <p:nvSpPr>
          <p:cNvPr id="10" name="Step detail">
            <a:extLst xmlns:a="http://schemas.openxmlformats.org/drawingml/2006/main">
              <a:ext uri="{FF2B5EF4-FFF2-40B4-BE49-F238E27FC236}">
                <a16:creationId xmlns:a16="http://schemas.microsoft.com/office/drawing/2014/main" id="{F43FAED0-1E24-427A-9E29-AF4DA3B54722}"/>
              </a:ext>
            </a:extLst>
          </p:cNvPr>
          <p:cNvSpPr>
            <a:spLocks xmlns:a="http://schemas.openxmlformats.org/drawingml/2006/main" noGrp="1"/>
          </p:cNvSpPr>
          <p:nvPr/>
        </p:nvSpPr>
        <p:spPr>
          <a:xfrm xmlns:a="http://schemas.openxmlformats.org/drawingml/2006/main">
            <a:off x="762000" y="2924175"/>
            <a:ext cx="20383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AAB8B0"/>
                </a:solidFill>
                <a:latin typeface="Arial"/>
                <a:ea typeface="Arial"/>
                <a:cs typeface="Arial"/>
              </a:defRPr>
            </a:pPr>
            <a:r>
              <a:rPr sz="1200" b="0">
                <a:solidFill>
                  <a:srgbClr val="AAB8B0"/>
                </a:solidFill>
                <a:latin typeface="Arial"/>
                <a:ea typeface="Arial"/>
                <a:cs typeface="Arial"/>
              </a:rPr>
              <a:t>Collect unlabeled text under clear rights and privacy rules.</a:t>
            </a:r>
          </a:p>
        </p:txBody>
      </p:sp>
      <p:sp>
        <p:nvSpPr>
          <p:cNvPr id="11" name="Editable workflow node">
            <a:extLst xmlns:a="http://schemas.openxmlformats.org/drawingml/2006/main">
              <a:ext uri="{FF2B5EF4-FFF2-40B4-BE49-F238E27FC236}">
                <a16:creationId xmlns:a16="http://schemas.microsoft.com/office/drawing/2014/main" id="{FAD991E1-B4F1-4519-9CBB-0D0E6DBFD57C}"/>
              </a:ext>
            </a:extLst>
          </p:cNvPr>
          <p:cNvSpPr>
            <a:spLocks xmlns:a="http://schemas.openxmlformats.org/drawingml/2006/main" noGrp="1"/>
          </p:cNvSpPr>
          <p:nvPr/>
        </p:nvSpPr>
        <p:spPr>
          <a:xfrm xmlns:a="http://schemas.openxmlformats.org/drawingml/2006/main">
            <a:off x="3409950" y="2190750"/>
            <a:ext cx="2324100" cy="1524000"/>
          </a:xfrm>
          <a:prstGeom xmlns:a="http://schemas.openxmlformats.org/drawingml/2006/main" prst="roundRect">
            <a:avLst>
              <a:gd name="adj" fmla="val 5000"/>
            </a:avLst>
          </a:prstGeom>
          <a:solidFill xmlns:a="http://schemas.openxmlformats.org/drawingml/2006/main">
            <a:srgbClr val="272D29"/>
          </a:solidFill>
          <a:ln xmlns:a="http://schemas.openxmlformats.org/drawingml/2006/main" w="9525">
            <a:solidFill>
              <a:srgbClr val="47534B"/>
            </a:solidFill>
          </a:ln>
        </p:spPr>
      </p:sp>
      <p:sp>
        <p:nvSpPr>
          <p:cNvPr id="12" name="Step number">
            <a:extLst xmlns:a="http://schemas.openxmlformats.org/drawingml/2006/main">
              <a:ext uri="{FF2B5EF4-FFF2-40B4-BE49-F238E27FC236}">
                <a16:creationId xmlns:a16="http://schemas.microsoft.com/office/drawing/2014/main" id="{DBE0767F-D9DF-4574-98FA-C9D973D55679}"/>
              </a:ext>
            </a:extLst>
          </p:cNvPr>
          <p:cNvSpPr>
            <a:spLocks xmlns:a="http://schemas.openxmlformats.org/drawingml/2006/main" noGrp="1"/>
          </p:cNvSpPr>
          <p:nvPr/>
        </p:nvSpPr>
        <p:spPr>
          <a:xfrm xmlns:a="http://schemas.openxmlformats.org/drawingml/2006/main">
            <a:off x="3562350" y="2333625"/>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02</a:t>
            </a:r>
          </a:p>
        </p:txBody>
      </p:sp>
      <p:sp>
        <p:nvSpPr>
          <p:cNvPr id="13" name="Step label">
            <a:extLst xmlns:a="http://schemas.openxmlformats.org/drawingml/2006/main">
              <a:ext uri="{FF2B5EF4-FFF2-40B4-BE49-F238E27FC236}">
                <a16:creationId xmlns:a16="http://schemas.microsoft.com/office/drawing/2014/main" id="{407BD627-9A38-47D3-AD8A-EC8E80E95BF4}"/>
              </a:ext>
            </a:extLst>
          </p:cNvPr>
          <p:cNvSpPr>
            <a:spLocks xmlns:a="http://schemas.openxmlformats.org/drawingml/2006/main" noGrp="1"/>
          </p:cNvSpPr>
          <p:nvPr/>
        </p:nvSpPr>
        <p:spPr>
          <a:xfrm xmlns:a="http://schemas.openxmlformats.org/drawingml/2006/main">
            <a:off x="3562350" y="2590800"/>
            <a:ext cx="203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3F6F4"/>
                </a:solidFill>
                <a:latin typeface="Arial"/>
                <a:ea typeface="Arial"/>
                <a:cs typeface="Arial"/>
              </a:defRPr>
            </a:pPr>
            <a:r>
              <a:rPr sz="1575" b="1">
                <a:solidFill>
                  <a:srgbClr val="F3F6F4"/>
                </a:solidFill>
                <a:latin typeface="Arial"/>
                <a:ea typeface="Arial"/>
                <a:cs typeface="Arial"/>
              </a:rPr>
              <a:t>Cluster review</a:t>
            </a:r>
          </a:p>
        </p:txBody>
      </p:sp>
      <p:sp>
        <p:nvSpPr>
          <p:cNvPr id="14" name="Step detail">
            <a:extLst xmlns:a="http://schemas.openxmlformats.org/drawingml/2006/main">
              <a:ext uri="{FF2B5EF4-FFF2-40B4-BE49-F238E27FC236}">
                <a16:creationId xmlns:a16="http://schemas.microsoft.com/office/drawing/2014/main" id="{27BC29FC-EC8F-4BEB-B03D-FEB9FDD01E83}"/>
              </a:ext>
            </a:extLst>
          </p:cNvPr>
          <p:cNvSpPr>
            <a:spLocks xmlns:a="http://schemas.openxmlformats.org/drawingml/2006/main" noGrp="1"/>
          </p:cNvSpPr>
          <p:nvPr/>
        </p:nvSpPr>
        <p:spPr>
          <a:xfrm xmlns:a="http://schemas.openxmlformats.org/drawingml/2006/main">
            <a:off x="3562350" y="2924175"/>
            <a:ext cx="20383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AAB8B0"/>
                </a:solidFill>
                <a:latin typeface="Arial"/>
                <a:ea typeface="Arial"/>
                <a:cs typeface="Arial"/>
              </a:defRPr>
            </a:pPr>
            <a:r>
              <a:rPr sz="1200" b="0">
                <a:solidFill>
                  <a:srgbClr val="AAB8B0"/>
                </a:solidFill>
                <a:latin typeface="Arial"/>
                <a:ea typeface="Arial"/>
                <a:cs typeface="Arial"/>
              </a:rPr>
              <a:t>Inspect representative and outlier examples; name candidate strata.</a:t>
            </a:r>
          </a:p>
        </p:txBody>
      </p:sp>
      <p:sp>
        <p:nvSpPr>
          <p:cNvPr id="15" name="Editable workflow node">
            <a:extLst xmlns:a="http://schemas.openxmlformats.org/drawingml/2006/main">
              <a:ext uri="{FF2B5EF4-FFF2-40B4-BE49-F238E27FC236}">
                <a16:creationId xmlns:a16="http://schemas.microsoft.com/office/drawing/2014/main" id="{322CDC1D-B5F0-4852-90D1-001E3610745A}"/>
              </a:ext>
            </a:extLst>
          </p:cNvPr>
          <p:cNvSpPr>
            <a:spLocks xmlns:a="http://schemas.openxmlformats.org/drawingml/2006/main" noGrp="1"/>
          </p:cNvSpPr>
          <p:nvPr/>
        </p:nvSpPr>
        <p:spPr>
          <a:xfrm xmlns:a="http://schemas.openxmlformats.org/drawingml/2006/main">
            <a:off x="6210300" y="2190750"/>
            <a:ext cx="2324100" cy="1524000"/>
          </a:xfrm>
          <a:prstGeom xmlns:a="http://schemas.openxmlformats.org/drawingml/2006/main" prst="roundRect">
            <a:avLst>
              <a:gd name="adj" fmla="val 5000"/>
            </a:avLst>
          </a:prstGeom>
          <a:solidFill xmlns:a="http://schemas.openxmlformats.org/drawingml/2006/main">
            <a:srgbClr val="272D29"/>
          </a:solidFill>
          <a:ln xmlns:a="http://schemas.openxmlformats.org/drawingml/2006/main" w="9525">
            <a:solidFill>
              <a:srgbClr val="47534B"/>
            </a:solidFill>
          </a:ln>
        </p:spPr>
      </p:sp>
      <p:sp>
        <p:nvSpPr>
          <p:cNvPr id="16" name="Step number">
            <a:extLst xmlns:a="http://schemas.openxmlformats.org/drawingml/2006/main">
              <a:ext uri="{FF2B5EF4-FFF2-40B4-BE49-F238E27FC236}">
                <a16:creationId xmlns:a16="http://schemas.microsoft.com/office/drawing/2014/main" id="{6E377300-B544-4DAA-9CC5-13EBA1C63487}"/>
              </a:ext>
            </a:extLst>
          </p:cNvPr>
          <p:cNvSpPr>
            <a:spLocks xmlns:a="http://schemas.openxmlformats.org/drawingml/2006/main" noGrp="1"/>
          </p:cNvSpPr>
          <p:nvPr/>
        </p:nvSpPr>
        <p:spPr>
          <a:xfrm xmlns:a="http://schemas.openxmlformats.org/drawingml/2006/main">
            <a:off x="6362700" y="2333625"/>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03</a:t>
            </a:r>
          </a:p>
        </p:txBody>
      </p:sp>
      <p:sp>
        <p:nvSpPr>
          <p:cNvPr id="17" name="Step label">
            <a:extLst xmlns:a="http://schemas.openxmlformats.org/drawingml/2006/main">
              <a:ext uri="{FF2B5EF4-FFF2-40B4-BE49-F238E27FC236}">
                <a16:creationId xmlns:a16="http://schemas.microsoft.com/office/drawing/2014/main" id="{93A5F6F9-42FB-4081-940B-CB226E7FD615}"/>
              </a:ext>
            </a:extLst>
          </p:cNvPr>
          <p:cNvSpPr>
            <a:spLocks xmlns:a="http://schemas.openxmlformats.org/drawingml/2006/main" noGrp="1"/>
          </p:cNvSpPr>
          <p:nvPr/>
        </p:nvSpPr>
        <p:spPr>
          <a:xfrm xmlns:a="http://schemas.openxmlformats.org/drawingml/2006/main">
            <a:off x="6362700" y="2590800"/>
            <a:ext cx="203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3F6F4"/>
                </a:solidFill>
                <a:latin typeface="Arial"/>
                <a:ea typeface="Arial"/>
                <a:cs typeface="Arial"/>
              </a:defRPr>
            </a:pPr>
            <a:r>
              <a:rPr sz="1575" b="1">
                <a:solidFill>
                  <a:srgbClr val="F3F6F4"/>
                </a:solidFill>
                <a:latin typeface="Arial"/>
                <a:ea typeface="Arial"/>
                <a:cs typeface="Arial"/>
              </a:rPr>
              <a:t>Human annotation</a:t>
            </a:r>
          </a:p>
        </p:txBody>
      </p:sp>
      <p:sp>
        <p:nvSpPr>
          <p:cNvPr id="18" name="Step detail">
            <a:extLst xmlns:a="http://schemas.openxmlformats.org/drawingml/2006/main">
              <a:ext uri="{FF2B5EF4-FFF2-40B4-BE49-F238E27FC236}">
                <a16:creationId xmlns:a16="http://schemas.microsoft.com/office/drawing/2014/main" id="{E9900104-3BB7-4E83-B759-6B5613738F96}"/>
              </a:ext>
            </a:extLst>
          </p:cNvPr>
          <p:cNvSpPr>
            <a:spLocks xmlns:a="http://schemas.openxmlformats.org/drawingml/2006/main" noGrp="1"/>
          </p:cNvSpPr>
          <p:nvPr/>
        </p:nvSpPr>
        <p:spPr>
          <a:xfrm xmlns:a="http://schemas.openxmlformats.org/drawingml/2006/main">
            <a:off x="6362700" y="2924175"/>
            <a:ext cx="20383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AAB8B0"/>
                </a:solidFill>
                <a:latin typeface="Arial"/>
                <a:ea typeface="Arial"/>
                <a:cs typeface="Arial"/>
              </a:defRPr>
            </a:pPr>
            <a:r>
              <a:rPr sz="1200" b="0">
                <a:solidFill>
                  <a:srgbClr val="AAB8B0"/>
                </a:solidFill>
                <a:latin typeface="Arial"/>
                <a:ea typeface="Arial"/>
                <a:cs typeface="Arial"/>
              </a:rPr>
              <a:t>Apply written TYM guidelines and adjudicate disagreement.</a:t>
            </a:r>
          </a:p>
        </p:txBody>
      </p:sp>
      <p:sp>
        <p:nvSpPr>
          <p:cNvPr id="19" name="Editable workflow node">
            <a:extLst xmlns:a="http://schemas.openxmlformats.org/drawingml/2006/main">
              <a:ext uri="{FF2B5EF4-FFF2-40B4-BE49-F238E27FC236}">
                <a16:creationId xmlns:a16="http://schemas.microsoft.com/office/drawing/2014/main" id="{C62AF5BB-1A54-4051-8F07-CC66A5493484}"/>
              </a:ext>
            </a:extLst>
          </p:cNvPr>
          <p:cNvSpPr>
            <a:spLocks xmlns:a="http://schemas.openxmlformats.org/drawingml/2006/main" noGrp="1"/>
          </p:cNvSpPr>
          <p:nvPr/>
        </p:nvSpPr>
        <p:spPr>
          <a:xfrm xmlns:a="http://schemas.openxmlformats.org/drawingml/2006/main">
            <a:off x="9010650" y="2190750"/>
            <a:ext cx="2324100" cy="1524000"/>
          </a:xfrm>
          <a:prstGeom xmlns:a="http://schemas.openxmlformats.org/drawingml/2006/main" prst="roundRect">
            <a:avLst>
              <a:gd name="adj" fmla="val 5000"/>
            </a:avLst>
          </a:prstGeom>
          <a:solidFill xmlns:a="http://schemas.openxmlformats.org/drawingml/2006/main">
            <a:srgbClr val="272D29"/>
          </a:solidFill>
          <a:ln xmlns:a="http://schemas.openxmlformats.org/drawingml/2006/main" w="9525">
            <a:solidFill>
              <a:srgbClr val="47534B"/>
            </a:solidFill>
          </a:ln>
        </p:spPr>
      </p:sp>
      <p:sp>
        <p:nvSpPr>
          <p:cNvPr id="20" name="Step number">
            <a:extLst xmlns:a="http://schemas.openxmlformats.org/drawingml/2006/main">
              <a:ext uri="{FF2B5EF4-FFF2-40B4-BE49-F238E27FC236}">
                <a16:creationId xmlns:a16="http://schemas.microsoft.com/office/drawing/2014/main" id="{5B743A7B-E3F0-461E-BFD3-3D5DF9D18173}"/>
              </a:ext>
            </a:extLst>
          </p:cNvPr>
          <p:cNvSpPr>
            <a:spLocks xmlns:a="http://schemas.openxmlformats.org/drawingml/2006/main" noGrp="1"/>
          </p:cNvSpPr>
          <p:nvPr/>
        </p:nvSpPr>
        <p:spPr>
          <a:xfrm xmlns:a="http://schemas.openxmlformats.org/drawingml/2006/main">
            <a:off x="9163050" y="2333625"/>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04</a:t>
            </a:r>
          </a:p>
        </p:txBody>
      </p:sp>
      <p:sp>
        <p:nvSpPr>
          <p:cNvPr id="21" name="Step label">
            <a:extLst xmlns:a="http://schemas.openxmlformats.org/drawingml/2006/main">
              <a:ext uri="{FF2B5EF4-FFF2-40B4-BE49-F238E27FC236}">
                <a16:creationId xmlns:a16="http://schemas.microsoft.com/office/drawing/2014/main" id="{2C0EE0CE-1E6B-425F-9285-F802E6B19932}"/>
              </a:ext>
            </a:extLst>
          </p:cNvPr>
          <p:cNvSpPr>
            <a:spLocks xmlns:a="http://schemas.openxmlformats.org/drawingml/2006/main" noGrp="1"/>
          </p:cNvSpPr>
          <p:nvPr/>
        </p:nvSpPr>
        <p:spPr>
          <a:xfrm xmlns:a="http://schemas.openxmlformats.org/drawingml/2006/main">
            <a:off x="9163050" y="2590800"/>
            <a:ext cx="203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3F6F4"/>
                </a:solidFill>
                <a:latin typeface="Arial"/>
                <a:ea typeface="Arial"/>
                <a:cs typeface="Arial"/>
              </a:defRPr>
            </a:pPr>
            <a:r>
              <a:rPr sz="1575" b="1">
                <a:solidFill>
                  <a:srgbClr val="F3F6F4"/>
                </a:solidFill>
                <a:latin typeface="Arial"/>
                <a:ea typeface="Arial"/>
                <a:cs typeface="Arial"/>
              </a:rPr>
              <a:t>Training candidates</a:t>
            </a:r>
          </a:p>
        </p:txBody>
      </p:sp>
      <p:sp>
        <p:nvSpPr>
          <p:cNvPr id="22" name="Step detail">
            <a:extLst xmlns:a="http://schemas.openxmlformats.org/drawingml/2006/main">
              <a:ext uri="{FF2B5EF4-FFF2-40B4-BE49-F238E27FC236}">
                <a16:creationId xmlns:a16="http://schemas.microsoft.com/office/drawing/2014/main" id="{0929B2CA-2C7A-43AA-BBFB-600A946C636C}"/>
              </a:ext>
            </a:extLst>
          </p:cNvPr>
          <p:cNvSpPr>
            <a:spLocks xmlns:a="http://schemas.openxmlformats.org/drawingml/2006/main" noGrp="1"/>
          </p:cNvSpPr>
          <p:nvPr/>
        </p:nvSpPr>
        <p:spPr>
          <a:xfrm xmlns:a="http://schemas.openxmlformats.org/drawingml/2006/main">
            <a:off x="9163050" y="2924175"/>
            <a:ext cx="20383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AAB8B0"/>
                </a:solidFill>
                <a:latin typeface="Arial"/>
                <a:ea typeface="Arial"/>
                <a:cs typeface="Arial"/>
              </a:defRPr>
            </a:pPr>
            <a:r>
              <a:rPr sz="1200" b="0">
                <a:solidFill>
                  <a:srgbClr val="AAB8B0"/>
                </a:solidFill>
                <a:latin typeface="Arial"/>
                <a:ea typeface="Arial"/>
                <a:cs typeface="Arial"/>
              </a:rPr>
              <a:t>Generate targeted descendants from train-split parents only.</a:t>
            </a:r>
          </a:p>
        </p:txBody>
      </p:sp>
      <p:sp>
        <p:nvSpPr>
          <p:cNvPr id="23" name="Diagram connector">
            <a:extLst xmlns:a="http://schemas.openxmlformats.org/drawingml/2006/main">
              <a:ext uri="{FF2B5EF4-FFF2-40B4-BE49-F238E27FC236}">
                <a16:creationId xmlns:a16="http://schemas.microsoft.com/office/drawing/2014/main" id="{2F3FC1D4-A947-4714-8967-31E967D56271}"/>
              </a:ext>
            </a:extLst>
          </p:cNvPr>
          <p:cNvSpPr>
            <a:spLocks xmlns:a="http://schemas.openxmlformats.org/drawingml/2006/main" noGrp="1"/>
          </p:cNvSpPr>
          <p:nvPr/>
        </p:nvSpPr>
        <p:spPr>
          <a:xfrm xmlns:a="http://schemas.openxmlformats.org/drawingml/2006/main">
            <a:off x="2971800" y="2943225"/>
            <a:ext cx="400050" cy="19050"/>
          </a:xfrm>
          <a:prstGeom xmlns:a="http://schemas.openxmlformats.org/drawingml/2006/main" prst="rect">
            <a:avLst/>
          </a:prstGeom>
          <a:solidFill xmlns:a="http://schemas.openxmlformats.org/drawingml/2006/main">
            <a:srgbClr val="62DDA8"/>
          </a:solidFill>
          <a:ln xmlns:a="http://schemas.openxmlformats.org/drawingml/2006/main" w="0">
            <a:noFill/>
          </a:ln>
        </p:spPr>
      </p:sp>
      <p:sp>
        <p:nvSpPr>
          <p:cNvPr id="24" name="Diagram connector">
            <a:extLst xmlns:a="http://schemas.openxmlformats.org/drawingml/2006/main">
              <a:ext uri="{FF2B5EF4-FFF2-40B4-BE49-F238E27FC236}">
                <a16:creationId xmlns:a16="http://schemas.microsoft.com/office/drawing/2014/main" id="{14A8E5A9-C0D3-4CE0-BD30-F552A07FCC09}"/>
              </a:ext>
            </a:extLst>
          </p:cNvPr>
          <p:cNvSpPr>
            <a:spLocks xmlns:a="http://schemas.openxmlformats.org/drawingml/2006/main" noGrp="1"/>
          </p:cNvSpPr>
          <p:nvPr/>
        </p:nvSpPr>
        <p:spPr>
          <a:xfrm xmlns:a="http://schemas.openxmlformats.org/drawingml/2006/main">
            <a:off x="5772150" y="2943225"/>
            <a:ext cx="400050" cy="19050"/>
          </a:xfrm>
          <a:prstGeom xmlns:a="http://schemas.openxmlformats.org/drawingml/2006/main" prst="rect">
            <a:avLst/>
          </a:prstGeom>
          <a:solidFill xmlns:a="http://schemas.openxmlformats.org/drawingml/2006/main">
            <a:srgbClr val="62DDA8"/>
          </a:solidFill>
          <a:ln xmlns:a="http://schemas.openxmlformats.org/drawingml/2006/main" w="0">
            <a:noFill/>
          </a:ln>
        </p:spPr>
      </p:sp>
      <p:sp>
        <p:nvSpPr>
          <p:cNvPr id="25" name="Diagram connector">
            <a:extLst xmlns:a="http://schemas.openxmlformats.org/drawingml/2006/main">
              <a:ext uri="{FF2B5EF4-FFF2-40B4-BE49-F238E27FC236}">
                <a16:creationId xmlns:a16="http://schemas.microsoft.com/office/drawing/2014/main" id="{498BC408-C7F3-481C-A61C-E21AF18F82D2}"/>
              </a:ext>
            </a:extLst>
          </p:cNvPr>
          <p:cNvSpPr>
            <a:spLocks xmlns:a="http://schemas.openxmlformats.org/drawingml/2006/main" noGrp="1"/>
          </p:cNvSpPr>
          <p:nvPr/>
        </p:nvSpPr>
        <p:spPr>
          <a:xfrm xmlns:a="http://schemas.openxmlformats.org/drawingml/2006/main">
            <a:off x="8572500" y="2943225"/>
            <a:ext cx="400050" cy="19050"/>
          </a:xfrm>
          <a:prstGeom xmlns:a="http://schemas.openxmlformats.org/drawingml/2006/main" prst="rect">
            <a:avLst/>
          </a:prstGeom>
          <a:solidFill xmlns:a="http://schemas.openxmlformats.org/drawingml/2006/main">
            <a:srgbClr val="62DDA8"/>
          </a:solidFill>
          <a:ln xmlns:a="http://schemas.openxmlformats.org/drawingml/2006/main" w="0">
            <a:noFill/>
          </a:ln>
        </p:spPr>
      </p:sp>
      <p:sp>
        <p:nvSpPr>
          <p:cNvPr id="26" name="Section rule">
            <a:extLst xmlns:a="http://schemas.openxmlformats.org/drawingml/2006/main">
              <a:ext uri="{FF2B5EF4-FFF2-40B4-BE49-F238E27FC236}">
                <a16:creationId xmlns:a16="http://schemas.microsoft.com/office/drawing/2014/main" id="{D8404C3F-820F-4C38-8E3A-4D522FBF62A9}"/>
              </a:ext>
            </a:extLst>
          </p:cNvPr>
          <p:cNvSpPr>
            <a:spLocks xmlns:a="http://schemas.openxmlformats.org/drawingml/2006/main" noGrp="1"/>
          </p:cNvSpPr>
          <p:nvPr/>
        </p:nvSpPr>
        <p:spPr>
          <a:xfrm xmlns:a="http://schemas.openxmlformats.org/drawingml/2006/main">
            <a:off x="609600" y="434340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27" name="Text">
            <a:extLst xmlns:a="http://schemas.openxmlformats.org/drawingml/2006/main">
              <a:ext uri="{FF2B5EF4-FFF2-40B4-BE49-F238E27FC236}">
                <a16:creationId xmlns:a16="http://schemas.microsoft.com/office/drawing/2014/main" id="{B98AC469-FA91-4074-B4AF-82652FBCC832}"/>
              </a:ext>
            </a:extLst>
          </p:cNvPr>
          <p:cNvSpPr>
            <a:spLocks xmlns:a="http://schemas.openxmlformats.org/drawingml/2006/main" noGrp="1"/>
          </p:cNvSpPr>
          <p:nvPr/>
        </p:nvSpPr>
        <p:spPr>
          <a:xfrm xmlns:a="http://schemas.openxmlformats.org/drawingml/2006/main">
            <a:off x="609600" y="4600575"/>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62DDA8"/>
                </a:solidFill>
                <a:latin typeface="Arial"/>
                <a:ea typeface="Arial"/>
                <a:cs typeface="Arial"/>
              </a:defRPr>
            </a:pPr>
            <a:r>
              <a:rPr sz="1350" b="1">
                <a:solidFill>
                  <a:srgbClr val="62DDA8"/>
                </a:solidFill>
                <a:latin typeface="Arial"/>
                <a:ea typeface="Arial"/>
                <a:cs typeface="Arial"/>
              </a:rPr>
              <a:t>Keep two ledgers</a:t>
            </a:r>
          </a:p>
        </p:txBody>
      </p:sp>
      <p:sp>
        <p:nvSpPr>
          <p:cNvPr id="28" name="Text">
            <a:extLst xmlns:a="http://schemas.openxmlformats.org/drawingml/2006/main">
              <a:ext uri="{FF2B5EF4-FFF2-40B4-BE49-F238E27FC236}">
                <a16:creationId xmlns:a16="http://schemas.microsoft.com/office/drawing/2014/main" id="{EE35219A-6007-41E1-BFF3-BF3674A2DB16}"/>
              </a:ext>
            </a:extLst>
          </p:cNvPr>
          <p:cNvSpPr>
            <a:spLocks xmlns:a="http://schemas.openxmlformats.org/drawingml/2006/main" noGrp="1"/>
          </p:cNvSpPr>
          <p:nvPr/>
        </p:nvSpPr>
        <p:spPr>
          <a:xfrm xmlns:a="http://schemas.openxmlformats.org/drawingml/2006/main">
            <a:off x="609600" y="5019675"/>
            <a:ext cx="104013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Annotation ledger: source, annotator, guideline version, adjudication, and document split.</a:t>
            </a:r>
          </a:p>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Generation ledger: parent, phenomenon, transformation, generator version, and review status.</a:t>
            </a:r>
          </a:p>
        </p:txBody>
      </p:sp>
    </p:spTree>
    <p:extLst>
      <p:ext uri="{BB962C8B-B14F-4D97-AF65-F5344CB8AC3E}">
        <p14:creationId xmlns:p14="http://schemas.microsoft.com/office/powerpoint/2010/main" val="124798166"/>
      </p:ext>
    </p:extLst>
  </p:cSld>
</p:sld>
</file>

<file path=ppt/slides/slide10.xml><?xml version="1.0" encoding="utf-8"?>
<p:sld xmlns:p="http://schemas.openxmlformats.org/presentationml/2006/main">
  <p:cSld>
    <p:bg>
      <p:bgPr>
        <a:solidFill xmlns:a="http://schemas.openxmlformats.org/drawingml/2006/main">
          <a:srgbClr val="202522"/>
        </a:solidFill>
      </p:bgPr>
    </p:bg>
    <p:spTree>
      <p:nvGrpSpPr>
        <p:cNvPr id="1" name=""/>
        <p:cNvGrpSpPr/>
        <p:nvPr/>
      </p:nvGrpSpPr>
      <p:grpSpPr>
        <a:xfrm xmlns:a="http://schemas.openxmlformats.org/drawingml/2006/main"/>
      </p:grpSpPr>
      <p:sp>
        <p:nvSpPr>
          <p:cNvPr id="19" name="Section label">
            <a:extLst xmlns:a="http://schemas.openxmlformats.org/drawingml/2006/main">
              <a:ext uri="{FF2B5EF4-FFF2-40B4-BE49-F238E27FC236}">
                <a16:creationId xmlns:a16="http://schemas.microsoft.com/office/drawing/2014/main" id="{8962E9ED-ACAA-4D6E-95A0-6B5594D8D2F3}"/>
              </a:ext>
            </a:extLst>
          </p:cNvPr>
          <p:cNvSpPr>
            <a:spLocks xmlns:a="http://schemas.openxmlformats.org/drawingml/2006/main" noGrp="1"/>
          </p:cNvSpPr>
          <p:nvPr/>
        </p:nvSpPr>
        <p:spPr>
          <a:xfrm xmlns:a="http://schemas.openxmlformats.org/drawingml/2006/main">
            <a:off x="609600" y="2571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  EVALUATION DESIGN</a:t>
            </a:r>
          </a:p>
        </p:txBody>
      </p:sp>
      <p:sp>
        <p:nvSpPr>
          <p:cNvPr id="2" name="Slide title">
            <a:extLst xmlns:a="http://schemas.openxmlformats.org/drawingml/2006/main">
              <a:ext uri="{FF2B5EF4-FFF2-40B4-BE49-F238E27FC236}">
                <a16:creationId xmlns:a16="http://schemas.microsoft.com/office/drawing/2014/main" id="{D11661D8-31F2-43AD-85FC-E6E7A4C00543}"/>
              </a:ext>
            </a:extLst>
          </p:cNvPr>
          <p:cNvSpPr>
            <a:spLocks xmlns:a="http://schemas.openxmlformats.org/drawingml/2006/main" noGrp="1"/>
          </p:cNvSpPr>
          <p:nvPr/>
        </p:nvSpPr>
        <p:spPr>
          <a:xfrm xmlns:a="http://schemas.openxmlformats.org/drawingml/2006/main">
            <a:off x="609600" y="5810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75" b="1">
                <a:solidFill>
                  <a:srgbClr val="F3F6F4"/>
                </a:solidFill>
                <a:latin typeface="Arial"/>
                <a:ea typeface="Arial"/>
                <a:cs typeface="Arial"/>
              </a:defRPr>
            </a:pPr>
            <a:r>
              <a:rPr sz="3075" b="1">
                <a:solidFill>
                  <a:srgbClr val="F3F6F4"/>
                </a:solidFill>
                <a:latin typeface="Arial"/>
                <a:ea typeface="Arial"/>
                <a:cs typeface="Arial"/>
              </a:rPr>
              <a:t>Split human gold before generating descendants</a:t>
            </a:r>
          </a:p>
        </p:txBody>
      </p:sp>
      <p:sp>
        <p:nvSpPr>
          <p:cNvPr id="3" name="Section rule">
            <a:extLst xmlns:a="http://schemas.openxmlformats.org/drawingml/2006/main">
              <a:ext uri="{FF2B5EF4-FFF2-40B4-BE49-F238E27FC236}">
                <a16:creationId xmlns:a16="http://schemas.microsoft.com/office/drawing/2014/main" id="{D7675393-985B-4E5B-889B-BAFADB901AA5}"/>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4" name="Section rule">
            <a:extLst xmlns:a="http://schemas.openxmlformats.org/drawingml/2006/main">
              <a:ext uri="{FF2B5EF4-FFF2-40B4-BE49-F238E27FC236}">
                <a16:creationId xmlns:a16="http://schemas.microsoft.com/office/drawing/2014/main" id="{6AE394A2-DBE3-49F1-A131-C4D69DD66F96}"/>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8793FC4A-C2B6-49E3-9022-6F817DACA870}"/>
              </a:ext>
            </a:extLst>
          </p:cNvPr>
          <p:cNvSpPr>
            <a:spLocks xmlns:a="http://schemas.openxmlformats.org/drawingml/2006/main" noGrp="1"/>
          </p:cNvSpPr>
          <p:nvPr/>
        </p:nvSpPr>
        <p:spPr>
          <a:xfrm xmlns:a="http://schemas.openxmlformats.org/drawingml/2006/main">
            <a:off x="609600" y="6562725"/>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AAB8B0"/>
                </a:solidFill>
                <a:latin typeface="Arial"/>
                <a:ea typeface="Arial"/>
                <a:cs typeface="Arial"/>
              </a:defRPr>
            </a:pPr>
            <a:r>
              <a:rPr sz="900" b="0">
                <a:solidFill>
                  <a:srgbClr val="AAB8B0"/>
                </a:solidFill>
                <a:latin typeface="Arial"/>
                <a:ea typeface="Arial"/>
                <a:cs typeface="Arial"/>
              </a:rPr>
              <a:t>SYNTHETIC DATA  /  UNSUPERVISED DISCOVERY  /  HUMAN EVALUATION</a:t>
            </a:r>
          </a:p>
        </p:txBody>
      </p:sp>
      <p:sp>
        <p:nvSpPr>
          <p:cNvPr id="6" name="Page number">
            <a:extLst xmlns:a="http://schemas.openxmlformats.org/drawingml/2006/main">
              <a:ext uri="{FF2B5EF4-FFF2-40B4-BE49-F238E27FC236}">
                <a16:creationId xmlns:a16="http://schemas.microsoft.com/office/drawing/2014/main" id="{CC2E8F6F-40F0-4F5D-BB6E-E987E7613DF3}"/>
              </a:ext>
            </a:extLst>
          </p:cNvPr>
          <p:cNvSpPr>
            <a:spLocks xmlns:a="http://schemas.openxmlformats.org/drawingml/2006/main" noGrp="1"/>
          </p:cNvSpPr>
          <p:nvPr/>
        </p:nvSpPr>
        <p:spPr>
          <a:xfrm xmlns:a="http://schemas.openxmlformats.org/drawingml/2006/main">
            <a:off x="11049000" y="65436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9AEBCA"/>
                </a:solidFill>
                <a:latin typeface="Arial"/>
                <a:ea typeface="Arial"/>
                <a:cs typeface="Arial"/>
              </a:defRPr>
            </a:pPr>
            <a:r>
              <a:rPr sz="1050" b="1">
                <a:solidFill>
                  <a:srgbClr val="9AEBCA"/>
                </a:solidFill>
                <a:latin typeface="Arial"/>
                <a:ea typeface="Arial"/>
                <a:cs typeface="Arial"/>
              </a:rPr>
              <a:t>10</a:t>
            </a:r>
          </a:p>
        </p:txBody>
      </p:sp>
      <p:sp>
        <p:nvSpPr>
          <p:cNvPr id="7" name="Text">
            <a:extLst xmlns:a="http://schemas.openxmlformats.org/drawingml/2006/main">
              <a:ext uri="{FF2B5EF4-FFF2-40B4-BE49-F238E27FC236}">
                <a16:creationId xmlns:a16="http://schemas.microsoft.com/office/drawing/2014/main" id="{EEC924E0-7F12-4BBC-A80F-C2BF42AC070E}"/>
              </a:ext>
            </a:extLst>
          </p:cNvPr>
          <p:cNvSpPr>
            <a:spLocks xmlns:a="http://schemas.openxmlformats.org/drawingml/2006/main" noGrp="1"/>
          </p:cNvSpPr>
          <p:nvPr/>
        </p:nvSpPr>
        <p:spPr>
          <a:xfrm xmlns:a="http://schemas.openxmlformats.org/drawingml/2006/main">
            <a:off x="609600" y="1628775"/>
            <a:ext cx="800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F3F6F4"/>
                </a:solidFill>
                <a:latin typeface="Arial"/>
                <a:ea typeface="Arial"/>
                <a:cs typeface="Arial"/>
              </a:defRPr>
            </a:pPr>
            <a:r>
              <a:rPr sz="2025" b="1">
                <a:solidFill>
                  <a:srgbClr val="F3F6F4"/>
                </a:solidFill>
                <a:latin typeface="Arial"/>
                <a:ea typeface="Arial"/>
                <a:cs typeface="Arial"/>
              </a:rPr>
              <a:t>Partition documents or chapters first.</a:t>
            </a:r>
          </a:p>
        </p:txBody>
      </p:sp>
      <p:sp>
        <p:nvSpPr>
          <p:cNvPr id="8" name="Text">
            <a:extLst xmlns:a="http://schemas.openxmlformats.org/drawingml/2006/main">
              <a:ext uri="{FF2B5EF4-FFF2-40B4-BE49-F238E27FC236}">
                <a16:creationId xmlns:a16="http://schemas.microsoft.com/office/drawing/2014/main" id="{5F183029-6068-4CFC-911C-D579D40E84D9}"/>
              </a:ext>
            </a:extLst>
          </p:cNvPr>
          <p:cNvSpPr>
            <a:spLocks xmlns:a="http://schemas.openxmlformats.org/drawingml/2006/main" noGrp="1"/>
          </p:cNvSpPr>
          <p:nvPr/>
        </p:nvSpPr>
        <p:spPr>
          <a:xfrm xmlns:a="http://schemas.openxmlformats.org/drawingml/2006/main">
            <a:off x="609600" y="2076450"/>
            <a:ext cx="876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AAB8B0"/>
                </a:solidFill>
                <a:latin typeface="Arial"/>
                <a:ea typeface="Arial"/>
                <a:cs typeface="Arial"/>
              </a:defRPr>
            </a:pPr>
            <a:r>
              <a:rPr sz="1575" b="0">
                <a:solidFill>
                  <a:srgbClr val="AAB8B0"/>
                </a:solidFill>
                <a:latin typeface="Arial"/>
                <a:ea typeface="Arial"/>
                <a:cs typeface="Arial"/>
              </a:rPr>
              <a:t>All synthetic descendants inherit the parent group and stay in train.</a:t>
            </a:r>
          </a:p>
        </p:txBody>
      </p:sp>
      <p:sp>
        <p:nvSpPr>
          <p:cNvPr id="9" name="Evaluation partition">
            <a:extLst xmlns:a="http://schemas.openxmlformats.org/drawingml/2006/main">
              <a:ext uri="{FF2B5EF4-FFF2-40B4-BE49-F238E27FC236}">
                <a16:creationId xmlns:a16="http://schemas.microsoft.com/office/drawing/2014/main" id="{23C4E617-96C9-4052-83F1-16C5E41F2E0D}"/>
              </a:ext>
            </a:extLst>
          </p:cNvPr>
          <p:cNvSpPr>
            <a:spLocks xmlns:a="http://schemas.openxmlformats.org/drawingml/2006/main" noGrp="1"/>
          </p:cNvSpPr>
          <p:nvPr/>
        </p:nvSpPr>
        <p:spPr>
          <a:xfrm xmlns:a="http://schemas.openxmlformats.org/drawingml/2006/main">
            <a:off x="609600" y="2981325"/>
            <a:ext cx="3286125" cy="1962150"/>
          </a:xfrm>
          <a:prstGeom xmlns:a="http://schemas.openxmlformats.org/drawingml/2006/main" prst="rect">
            <a:avLst/>
          </a:prstGeom>
          <a:solidFill xmlns:a="http://schemas.openxmlformats.org/drawingml/2006/main">
            <a:srgbClr val="272D29"/>
          </a:solidFill>
          <a:ln xmlns:a="http://schemas.openxmlformats.org/drawingml/2006/main" w="19050">
            <a:solidFill>
              <a:srgbClr val="62DDA8"/>
            </a:solidFill>
          </a:ln>
        </p:spPr>
      </p:sp>
      <p:sp>
        <p:nvSpPr>
          <p:cNvPr id="10" name="Text">
            <a:extLst xmlns:a="http://schemas.openxmlformats.org/drawingml/2006/main">
              <a:ext uri="{FF2B5EF4-FFF2-40B4-BE49-F238E27FC236}">
                <a16:creationId xmlns:a16="http://schemas.microsoft.com/office/drawing/2014/main" id="{1AD8DA4F-BE82-4C54-A93C-322871596307}"/>
              </a:ext>
            </a:extLst>
          </p:cNvPr>
          <p:cNvSpPr>
            <a:spLocks xmlns:a="http://schemas.openxmlformats.org/drawingml/2006/main" noGrp="1"/>
          </p:cNvSpPr>
          <p:nvPr/>
        </p:nvSpPr>
        <p:spPr>
          <a:xfrm xmlns:a="http://schemas.openxmlformats.org/drawingml/2006/main">
            <a:off x="800100" y="3171825"/>
            <a:ext cx="2762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62DDA8"/>
                </a:solidFill>
                <a:latin typeface="Arial"/>
                <a:ea typeface="Arial"/>
                <a:cs typeface="Arial"/>
              </a:defRPr>
            </a:pPr>
            <a:r>
              <a:rPr sz="1425" b="1">
                <a:solidFill>
                  <a:srgbClr val="62DDA8"/>
                </a:solidFill>
                <a:latin typeface="Arial"/>
                <a:ea typeface="Arial"/>
                <a:cs typeface="Arial"/>
              </a:rPr>
              <a:t>TRAIN</a:t>
            </a:r>
          </a:p>
        </p:txBody>
      </p:sp>
      <p:sp>
        <p:nvSpPr>
          <p:cNvPr id="11" name="Text">
            <a:extLst xmlns:a="http://schemas.openxmlformats.org/drawingml/2006/main">
              <a:ext uri="{FF2B5EF4-FFF2-40B4-BE49-F238E27FC236}">
                <a16:creationId xmlns:a16="http://schemas.microsoft.com/office/drawing/2014/main" id="{08DD8749-F378-4286-A176-849179EC6743}"/>
              </a:ext>
            </a:extLst>
          </p:cNvPr>
          <p:cNvSpPr>
            <a:spLocks xmlns:a="http://schemas.openxmlformats.org/drawingml/2006/main" noGrp="1"/>
          </p:cNvSpPr>
          <p:nvPr/>
        </p:nvSpPr>
        <p:spPr>
          <a:xfrm xmlns:a="http://schemas.openxmlformats.org/drawingml/2006/main">
            <a:off x="800100" y="3657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Adjudicated human train</a:t>
            </a:r>
          </a:p>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 synthetic descendants</a:t>
            </a:r>
          </a:p>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 allowed seed demos</a:t>
            </a:r>
          </a:p>
        </p:txBody>
      </p:sp>
      <p:sp>
        <p:nvSpPr>
          <p:cNvPr id="12" name="Evaluation partition">
            <a:extLst xmlns:a="http://schemas.openxmlformats.org/drawingml/2006/main">
              <a:ext uri="{FF2B5EF4-FFF2-40B4-BE49-F238E27FC236}">
                <a16:creationId xmlns:a16="http://schemas.microsoft.com/office/drawing/2014/main" id="{F059A9D2-1C64-4546-BEF6-4B9853980021}"/>
              </a:ext>
            </a:extLst>
          </p:cNvPr>
          <p:cNvSpPr>
            <a:spLocks xmlns:a="http://schemas.openxmlformats.org/drawingml/2006/main" noGrp="1"/>
          </p:cNvSpPr>
          <p:nvPr/>
        </p:nvSpPr>
        <p:spPr>
          <a:xfrm xmlns:a="http://schemas.openxmlformats.org/drawingml/2006/main">
            <a:off x="4343400" y="2981325"/>
            <a:ext cx="3286125" cy="1962150"/>
          </a:xfrm>
          <a:prstGeom xmlns:a="http://schemas.openxmlformats.org/drawingml/2006/main" prst="rect">
            <a:avLst/>
          </a:prstGeom>
          <a:solidFill xmlns:a="http://schemas.openxmlformats.org/drawingml/2006/main">
            <a:srgbClr val="272D29"/>
          </a:solidFill>
          <a:ln xmlns:a="http://schemas.openxmlformats.org/drawingml/2006/main" w="19050">
            <a:solidFill>
              <a:srgbClr val="F0C36A"/>
            </a:solidFill>
          </a:ln>
        </p:spPr>
      </p:sp>
      <p:sp>
        <p:nvSpPr>
          <p:cNvPr id="13" name="Text">
            <a:extLst xmlns:a="http://schemas.openxmlformats.org/drawingml/2006/main">
              <a:ext uri="{FF2B5EF4-FFF2-40B4-BE49-F238E27FC236}">
                <a16:creationId xmlns:a16="http://schemas.microsoft.com/office/drawing/2014/main" id="{905B3461-B24E-4572-B490-B9F26A287C6E}"/>
              </a:ext>
            </a:extLst>
          </p:cNvPr>
          <p:cNvSpPr>
            <a:spLocks xmlns:a="http://schemas.openxmlformats.org/drawingml/2006/main" noGrp="1"/>
          </p:cNvSpPr>
          <p:nvPr/>
        </p:nvSpPr>
        <p:spPr>
          <a:xfrm xmlns:a="http://schemas.openxmlformats.org/drawingml/2006/main">
            <a:off x="4533900" y="3171825"/>
            <a:ext cx="2762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0C36A"/>
                </a:solidFill>
                <a:latin typeface="Arial"/>
                <a:ea typeface="Arial"/>
                <a:cs typeface="Arial"/>
              </a:defRPr>
            </a:pPr>
            <a:r>
              <a:rPr sz="1425" b="1">
                <a:solidFill>
                  <a:srgbClr val="F0C36A"/>
                </a:solidFill>
                <a:latin typeface="Arial"/>
                <a:ea typeface="Arial"/>
                <a:cs typeface="Arial"/>
              </a:rPr>
              <a:t>DEV</a:t>
            </a:r>
          </a:p>
        </p:txBody>
      </p:sp>
      <p:sp>
        <p:nvSpPr>
          <p:cNvPr id="14" name="Text">
            <a:extLst xmlns:a="http://schemas.openxmlformats.org/drawingml/2006/main">
              <a:ext uri="{FF2B5EF4-FFF2-40B4-BE49-F238E27FC236}">
                <a16:creationId xmlns:a16="http://schemas.microsoft.com/office/drawing/2014/main" id="{E3CFF264-C500-4855-83C8-EA902BAA4C59}"/>
              </a:ext>
            </a:extLst>
          </p:cNvPr>
          <p:cNvSpPr>
            <a:spLocks xmlns:a="http://schemas.openxmlformats.org/drawingml/2006/main" noGrp="1"/>
          </p:cNvSpPr>
          <p:nvPr/>
        </p:nvSpPr>
        <p:spPr>
          <a:xfrm xmlns:a="http://schemas.openxmlformats.org/drawingml/2006/main">
            <a:off x="4533900" y="3657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Human gold only</a:t>
            </a:r>
          </a:p>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Model and ratio selection</a:t>
            </a:r>
          </a:p>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No synthetic descendants</a:t>
            </a:r>
          </a:p>
        </p:txBody>
      </p:sp>
      <p:sp>
        <p:nvSpPr>
          <p:cNvPr id="15" name="Evaluation partition">
            <a:extLst xmlns:a="http://schemas.openxmlformats.org/drawingml/2006/main">
              <a:ext uri="{FF2B5EF4-FFF2-40B4-BE49-F238E27FC236}">
                <a16:creationId xmlns:a16="http://schemas.microsoft.com/office/drawing/2014/main" id="{E43A99C9-8B89-4BCD-B406-724999F10BEF}"/>
              </a:ext>
            </a:extLst>
          </p:cNvPr>
          <p:cNvSpPr>
            <a:spLocks xmlns:a="http://schemas.openxmlformats.org/drawingml/2006/main" noGrp="1"/>
          </p:cNvSpPr>
          <p:nvPr/>
        </p:nvSpPr>
        <p:spPr>
          <a:xfrm xmlns:a="http://schemas.openxmlformats.org/drawingml/2006/main">
            <a:off x="8077200" y="2981325"/>
            <a:ext cx="3286125" cy="1962150"/>
          </a:xfrm>
          <a:prstGeom xmlns:a="http://schemas.openxmlformats.org/drawingml/2006/main" prst="rect">
            <a:avLst/>
          </a:prstGeom>
          <a:solidFill xmlns:a="http://schemas.openxmlformats.org/drawingml/2006/main">
            <a:srgbClr val="272D29"/>
          </a:solidFill>
          <a:ln xmlns:a="http://schemas.openxmlformats.org/drawingml/2006/main" w="19050">
            <a:solidFill>
              <a:srgbClr val="E58E81"/>
            </a:solidFill>
          </a:ln>
        </p:spPr>
      </p:sp>
      <p:sp>
        <p:nvSpPr>
          <p:cNvPr id="16" name="Text">
            <a:extLst xmlns:a="http://schemas.openxmlformats.org/drawingml/2006/main">
              <a:ext uri="{FF2B5EF4-FFF2-40B4-BE49-F238E27FC236}">
                <a16:creationId xmlns:a16="http://schemas.microsoft.com/office/drawing/2014/main" id="{2223DDD7-BCEE-4C39-8402-F4EEC5FB44EA}"/>
              </a:ext>
            </a:extLst>
          </p:cNvPr>
          <p:cNvSpPr>
            <a:spLocks xmlns:a="http://schemas.openxmlformats.org/drawingml/2006/main" noGrp="1"/>
          </p:cNvSpPr>
          <p:nvPr/>
        </p:nvSpPr>
        <p:spPr>
          <a:xfrm xmlns:a="http://schemas.openxmlformats.org/drawingml/2006/main">
            <a:off x="8267700" y="3171825"/>
            <a:ext cx="2762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E58E81"/>
                </a:solidFill>
                <a:latin typeface="Arial"/>
                <a:ea typeface="Arial"/>
                <a:cs typeface="Arial"/>
              </a:defRPr>
            </a:pPr>
            <a:r>
              <a:rPr sz="1425" b="1">
                <a:solidFill>
                  <a:srgbClr val="E58E81"/>
                </a:solidFill>
                <a:latin typeface="Arial"/>
                <a:ea typeface="Arial"/>
                <a:cs typeface="Arial"/>
              </a:rPr>
              <a:t>TEST</a:t>
            </a:r>
          </a:p>
        </p:txBody>
      </p:sp>
      <p:sp>
        <p:nvSpPr>
          <p:cNvPr id="17" name="Text">
            <a:extLst xmlns:a="http://schemas.openxmlformats.org/drawingml/2006/main">
              <a:ext uri="{FF2B5EF4-FFF2-40B4-BE49-F238E27FC236}">
                <a16:creationId xmlns:a16="http://schemas.microsoft.com/office/drawing/2014/main" id="{D3CAD826-5570-479F-938B-6F7E2B812C22}"/>
              </a:ext>
            </a:extLst>
          </p:cNvPr>
          <p:cNvSpPr>
            <a:spLocks xmlns:a="http://schemas.openxmlformats.org/drawingml/2006/main" noGrp="1"/>
          </p:cNvSpPr>
          <p:nvPr/>
        </p:nvSpPr>
        <p:spPr>
          <a:xfrm xmlns:a="http://schemas.openxmlformats.org/drawingml/2006/main">
            <a:off x="8267700" y="3657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Human gold only</a:t>
            </a:r>
          </a:p>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Locked until final scoring</a:t>
            </a:r>
          </a:p>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No generator or chapter leakage</a:t>
            </a:r>
          </a:p>
        </p:txBody>
      </p:sp>
      <p:sp>
        <p:nvSpPr>
          <p:cNvPr id="18" name="Text">
            <a:extLst xmlns:a="http://schemas.openxmlformats.org/drawingml/2006/main">
              <a:ext uri="{FF2B5EF4-FFF2-40B4-BE49-F238E27FC236}">
                <a16:creationId xmlns:a16="http://schemas.microsoft.com/office/drawing/2014/main" id="{7FD47A57-2FC3-46DE-A756-6E8C2D8FB402}"/>
              </a:ext>
            </a:extLst>
          </p:cNvPr>
          <p:cNvSpPr>
            <a:spLocks xmlns:a="http://schemas.openxmlformats.org/drawingml/2006/main" noGrp="1"/>
          </p:cNvSpPr>
          <p:nvPr/>
        </p:nvSpPr>
        <p:spPr>
          <a:xfrm xmlns:a="http://schemas.openxmlformats.org/drawingml/2006/main">
            <a:off x="609600" y="5467350"/>
            <a:ext cx="1009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9AEBCA"/>
                </a:solidFill>
                <a:latin typeface="Arial"/>
                <a:ea typeface="Arial"/>
                <a:cs typeface="Arial"/>
              </a:defRPr>
            </a:pPr>
            <a:r>
              <a:rPr sz="1575" b="1">
                <a:solidFill>
                  <a:srgbClr val="9AEBCA"/>
                </a:solidFill>
                <a:latin typeface="Arial"/>
                <a:ea typeface="Arial"/>
                <a:cs typeface="Arial"/>
              </a:rPr>
              <a:t>Hold out generator families as a separate stress test.</a:t>
            </a:r>
          </a:p>
        </p:txBody>
      </p:sp>
    </p:spTree>
    <p:extLst>
      <p:ext uri="{BB962C8B-B14F-4D97-AF65-F5344CB8AC3E}">
        <p14:creationId xmlns:p14="http://schemas.microsoft.com/office/powerpoint/2010/main" val="287152287"/>
      </p:ext>
    </p:extLst>
  </p:cSld>
</p:sld>
</file>

<file path=ppt/slides/slide11.xml><?xml version="1.0" encoding="utf-8"?>
<p:sld xmlns:p="http://schemas.openxmlformats.org/presentationml/2006/main">
  <p:cSld>
    <p:bg>
      <p:bgPr>
        <a:solidFill xmlns:a="http://schemas.openxmlformats.org/drawingml/2006/main">
          <a:srgbClr val="202522"/>
        </a:solidFill>
      </p:bgPr>
    </p:bg>
    <p:spTree>
      <p:nvGrpSpPr>
        <p:cNvPr id="1" name=""/>
        <p:cNvGrpSpPr/>
        <p:nvPr/>
      </p:nvGrpSpPr>
      <p:grpSpPr>
        <a:xfrm xmlns:a="http://schemas.openxmlformats.org/drawingml/2006/main"/>
      </p:grpSpPr>
      <p:sp>
        <p:nvSpPr>
          <p:cNvPr id="28" name="Section label">
            <a:extLst xmlns:a="http://schemas.openxmlformats.org/drawingml/2006/main">
              <a:ext uri="{FF2B5EF4-FFF2-40B4-BE49-F238E27FC236}">
                <a16:creationId xmlns:a16="http://schemas.microsoft.com/office/drawing/2014/main" id="{9644A5AF-7DF4-482D-8C44-C1E192A36845}"/>
              </a:ext>
            </a:extLst>
          </p:cNvPr>
          <p:cNvSpPr>
            <a:spLocks xmlns:a="http://schemas.openxmlformats.org/drawingml/2006/main" noGrp="1"/>
          </p:cNvSpPr>
          <p:nvPr/>
        </p:nvSpPr>
        <p:spPr>
          <a:xfrm xmlns:a="http://schemas.openxmlformats.org/drawingml/2006/main">
            <a:off x="609600" y="2571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  EVALUATION DESIGN</a:t>
            </a:r>
          </a:p>
        </p:txBody>
      </p:sp>
      <p:sp>
        <p:nvSpPr>
          <p:cNvPr id="2" name="Slide title">
            <a:extLst xmlns:a="http://schemas.openxmlformats.org/drawingml/2006/main">
              <a:ext uri="{FF2B5EF4-FFF2-40B4-BE49-F238E27FC236}">
                <a16:creationId xmlns:a16="http://schemas.microsoft.com/office/drawing/2014/main" id="{3275CB55-69EA-4311-9ED1-BA43B03936BE}"/>
              </a:ext>
            </a:extLst>
          </p:cNvPr>
          <p:cNvSpPr>
            <a:spLocks xmlns:a="http://schemas.openxmlformats.org/drawingml/2006/main" noGrp="1"/>
          </p:cNvSpPr>
          <p:nvPr/>
        </p:nvSpPr>
        <p:spPr>
          <a:xfrm xmlns:a="http://schemas.openxmlformats.org/drawingml/2006/main">
            <a:off x="609600" y="5810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75" b="1">
                <a:solidFill>
                  <a:srgbClr val="F3F6F4"/>
                </a:solidFill>
                <a:latin typeface="Arial"/>
                <a:ea typeface="Arial"/>
                <a:cs typeface="Arial"/>
              </a:defRPr>
            </a:pPr>
            <a:r>
              <a:rPr sz="3075" b="1">
                <a:solidFill>
                  <a:srgbClr val="F3F6F4"/>
                </a:solidFill>
                <a:latin typeface="Arial"/>
                <a:ea typeface="Arial"/>
                <a:cs typeface="Arial"/>
              </a:rPr>
              <a:t>Ablations isolate the value of synthetic data</a:t>
            </a:r>
          </a:p>
        </p:txBody>
      </p:sp>
      <p:sp>
        <p:nvSpPr>
          <p:cNvPr id="3" name="Section rule">
            <a:extLst xmlns:a="http://schemas.openxmlformats.org/drawingml/2006/main">
              <a:ext uri="{FF2B5EF4-FFF2-40B4-BE49-F238E27FC236}">
                <a16:creationId xmlns:a16="http://schemas.microsoft.com/office/drawing/2014/main" id="{AE12BB5D-6402-429E-8C55-38382BDF9F04}"/>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4" name="Section rule">
            <a:extLst xmlns:a="http://schemas.openxmlformats.org/drawingml/2006/main">
              <a:ext uri="{FF2B5EF4-FFF2-40B4-BE49-F238E27FC236}">
                <a16:creationId xmlns:a16="http://schemas.microsoft.com/office/drawing/2014/main" id="{B9DE35DA-114B-4AE7-8A45-A667ABCE6DFA}"/>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01C1CD93-3DF6-4643-BD46-9042F6815ED4}"/>
              </a:ext>
            </a:extLst>
          </p:cNvPr>
          <p:cNvSpPr>
            <a:spLocks xmlns:a="http://schemas.openxmlformats.org/drawingml/2006/main" noGrp="1"/>
          </p:cNvSpPr>
          <p:nvPr/>
        </p:nvSpPr>
        <p:spPr>
          <a:xfrm xmlns:a="http://schemas.openxmlformats.org/drawingml/2006/main">
            <a:off x="609600" y="6562725"/>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AAB8B0"/>
                </a:solidFill>
                <a:latin typeface="Arial"/>
                <a:ea typeface="Arial"/>
                <a:cs typeface="Arial"/>
              </a:defRPr>
            </a:pPr>
            <a:r>
              <a:rPr sz="900" b="0">
                <a:solidFill>
                  <a:srgbClr val="AAB8B0"/>
                </a:solidFill>
                <a:latin typeface="Arial"/>
                <a:ea typeface="Arial"/>
                <a:cs typeface="Arial"/>
              </a:rPr>
              <a:t>SYNTHETIC DATA  /  UNSUPERVISED DISCOVERY  /  HUMAN EVALUATION</a:t>
            </a:r>
          </a:p>
        </p:txBody>
      </p:sp>
      <p:sp>
        <p:nvSpPr>
          <p:cNvPr id="6" name="Page number">
            <a:extLst xmlns:a="http://schemas.openxmlformats.org/drawingml/2006/main">
              <a:ext uri="{FF2B5EF4-FFF2-40B4-BE49-F238E27FC236}">
                <a16:creationId xmlns:a16="http://schemas.microsoft.com/office/drawing/2014/main" id="{C933F9BE-8818-4DE8-8359-D326E9492570}"/>
              </a:ext>
            </a:extLst>
          </p:cNvPr>
          <p:cNvSpPr>
            <a:spLocks xmlns:a="http://schemas.openxmlformats.org/drawingml/2006/main" noGrp="1"/>
          </p:cNvSpPr>
          <p:nvPr/>
        </p:nvSpPr>
        <p:spPr>
          <a:xfrm xmlns:a="http://schemas.openxmlformats.org/drawingml/2006/main">
            <a:off x="11049000" y="65436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9AEBCA"/>
                </a:solidFill>
                <a:latin typeface="Arial"/>
                <a:ea typeface="Arial"/>
                <a:cs typeface="Arial"/>
              </a:defRPr>
            </a:pPr>
            <a:r>
              <a:rPr sz="1050" b="1">
                <a:solidFill>
                  <a:srgbClr val="9AEBCA"/>
                </a:solidFill>
                <a:latin typeface="Arial"/>
                <a:ea typeface="Arial"/>
                <a:cs typeface="Arial"/>
              </a:rPr>
              <a:t>11</a:t>
            </a:r>
          </a:p>
        </p:txBody>
      </p:sp>
      <p:sp>
        <p:nvSpPr>
          <p:cNvPr id="7" name="Text">
            <a:extLst xmlns:a="http://schemas.openxmlformats.org/drawingml/2006/main">
              <a:ext uri="{FF2B5EF4-FFF2-40B4-BE49-F238E27FC236}">
                <a16:creationId xmlns:a16="http://schemas.microsoft.com/office/drawing/2014/main" id="{CC53CEFE-FF98-439E-88D9-500F9F842635}"/>
              </a:ext>
            </a:extLst>
          </p:cNvPr>
          <p:cNvSpPr>
            <a:spLocks xmlns:a="http://schemas.openxmlformats.org/drawingml/2006/main" noGrp="1"/>
          </p:cNvSpPr>
          <p:nvPr/>
        </p:nvSpPr>
        <p:spPr>
          <a:xfrm xmlns:a="http://schemas.openxmlformats.org/drawingml/2006/main">
            <a:off x="609600" y="1562100"/>
            <a:ext cx="1047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AAB8B0"/>
                </a:solidFill>
                <a:latin typeface="Arial"/>
                <a:ea typeface="Arial"/>
                <a:cs typeface="Arial"/>
              </a:defRPr>
            </a:pPr>
            <a:r>
              <a:rPr sz="1650" b="0">
                <a:solidFill>
                  <a:srgbClr val="AAB8B0"/>
                </a:solidFill>
                <a:latin typeface="Arial"/>
                <a:ea typeface="Arial"/>
                <a:cs typeface="Arial"/>
              </a:rPr>
              <a:t>Keep the held-out gold documents and evaluation code identical across runs.</a:t>
            </a:r>
          </a:p>
        </p:txBody>
      </p:sp>
      <p:sp>
        <p:nvSpPr>
          <p:cNvPr id="8" name="Text">
            <a:extLst xmlns:a="http://schemas.openxmlformats.org/drawingml/2006/main">
              <a:ext uri="{FF2B5EF4-FFF2-40B4-BE49-F238E27FC236}">
                <a16:creationId xmlns:a16="http://schemas.microsoft.com/office/drawing/2014/main" id="{CE3B28A7-F2E7-43BA-8792-763492280D73}"/>
              </a:ext>
            </a:extLst>
          </p:cNvPr>
          <p:cNvSpPr>
            <a:spLocks xmlns:a="http://schemas.openxmlformats.org/drawingml/2006/main" noGrp="1"/>
          </p:cNvSpPr>
          <p:nvPr/>
        </p:nvSpPr>
        <p:spPr>
          <a:xfrm xmlns:a="http://schemas.openxmlformats.org/drawingml/2006/main">
            <a:off x="609600" y="2228850"/>
            <a:ext cx="247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225" b="1">
                <a:solidFill>
                  <a:srgbClr val="62DDA8"/>
                </a:solidFill>
                <a:latin typeface="Arial"/>
                <a:ea typeface="Arial"/>
                <a:cs typeface="Arial"/>
              </a:defRPr>
            </a:pPr>
            <a:r>
              <a:rPr sz="3225" b="1">
                <a:solidFill>
                  <a:srgbClr val="62DDA8"/>
                </a:solidFill>
                <a:latin typeface="Arial"/>
                <a:ea typeface="Arial"/>
                <a:cs typeface="Arial"/>
              </a:rPr>
              <a:t>0 : 1</a:t>
            </a:r>
          </a:p>
        </p:txBody>
      </p:sp>
      <p:sp>
        <p:nvSpPr>
          <p:cNvPr id="9" name="Text">
            <a:extLst xmlns:a="http://schemas.openxmlformats.org/drawingml/2006/main">
              <a:ext uri="{FF2B5EF4-FFF2-40B4-BE49-F238E27FC236}">
                <a16:creationId xmlns:a16="http://schemas.microsoft.com/office/drawing/2014/main" id="{B1186A70-8376-4B9D-9F4A-AB3AF35C23B9}"/>
              </a:ext>
            </a:extLst>
          </p:cNvPr>
          <p:cNvSpPr>
            <a:spLocks xmlns:a="http://schemas.openxmlformats.org/drawingml/2006/main" noGrp="1"/>
          </p:cNvSpPr>
          <p:nvPr/>
        </p:nvSpPr>
        <p:spPr>
          <a:xfrm xmlns:a="http://schemas.openxmlformats.org/drawingml/2006/main">
            <a:off x="609600" y="2876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AAB8B0"/>
                </a:solidFill>
                <a:latin typeface="Arial"/>
                <a:ea typeface="Arial"/>
                <a:cs typeface="Arial"/>
              </a:defRPr>
            </a:pPr>
            <a:r>
              <a:rPr sz="1275" b="0">
                <a:solidFill>
                  <a:srgbClr val="AAB8B0"/>
                </a:solidFill>
                <a:latin typeface="Arial"/>
                <a:ea typeface="Arial"/>
                <a:cs typeface="Arial"/>
              </a:rPr>
              <a:t>synthetic : human</a:t>
            </a:r>
          </a:p>
        </p:txBody>
      </p:sp>
      <p:sp>
        <p:nvSpPr>
          <p:cNvPr id="10" name="Text">
            <a:extLst xmlns:a="http://schemas.openxmlformats.org/drawingml/2006/main">
              <a:ext uri="{FF2B5EF4-FFF2-40B4-BE49-F238E27FC236}">
                <a16:creationId xmlns:a16="http://schemas.microsoft.com/office/drawing/2014/main" id="{287572AF-54D8-4644-9A0A-D7365B323C62}"/>
              </a:ext>
            </a:extLst>
          </p:cNvPr>
          <p:cNvSpPr>
            <a:spLocks xmlns:a="http://schemas.openxmlformats.org/drawingml/2006/main" noGrp="1"/>
          </p:cNvSpPr>
          <p:nvPr/>
        </p:nvSpPr>
        <p:spPr>
          <a:xfrm xmlns:a="http://schemas.openxmlformats.org/drawingml/2006/main">
            <a:off x="609600" y="3381375"/>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F3F6F4"/>
                </a:solidFill>
                <a:latin typeface="Arial"/>
                <a:ea typeface="Arial"/>
                <a:cs typeface="Arial"/>
              </a:defRPr>
            </a:pPr>
            <a:r>
              <a:rPr sz="1650" b="1">
                <a:solidFill>
                  <a:srgbClr val="F3F6F4"/>
                </a:solidFill>
                <a:latin typeface="Arial"/>
                <a:ea typeface="Arial"/>
                <a:cs typeface="Arial"/>
              </a:rPr>
              <a:t>Human only</a:t>
            </a:r>
          </a:p>
        </p:txBody>
      </p:sp>
      <p:sp>
        <p:nvSpPr>
          <p:cNvPr id="11" name="Section rule">
            <a:extLst xmlns:a="http://schemas.openxmlformats.org/drawingml/2006/main">
              <a:ext uri="{FF2B5EF4-FFF2-40B4-BE49-F238E27FC236}">
                <a16:creationId xmlns:a16="http://schemas.microsoft.com/office/drawing/2014/main" id="{57303BEE-D612-4F11-9C9D-B1B3C7614654}"/>
              </a:ext>
            </a:extLst>
          </p:cNvPr>
          <p:cNvSpPr>
            <a:spLocks xmlns:a="http://schemas.openxmlformats.org/drawingml/2006/main" noGrp="1"/>
          </p:cNvSpPr>
          <p:nvPr/>
        </p:nvSpPr>
        <p:spPr>
          <a:xfrm xmlns:a="http://schemas.openxmlformats.org/drawingml/2006/main">
            <a:off x="609600" y="3924300"/>
            <a:ext cx="2305050" cy="19050"/>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35914A51-981F-4EC4-8ABA-5AF35E14D5A4}"/>
              </a:ext>
            </a:extLst>
          </p:cNvPr>
          <p:cNvSpPr>
            <a:spLocks xmlns:a="http://schemas.openxmlformats.org/drawingml/2006/main" noGrp="1"/>
          </p:cNvSpPr>
          <p:nvPr/>
        </p:nvSpPr>
        <p:spPr>
          <a:xfrm xmlns:a="http://schemas.openxmlformats.org/drawingml/2006/main">
            <a:off x="3333750" y="2228850"/>
            <a:ext cx="247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225" b="1">
                <a:solidFill>
                  <a:srgbClr val="62DDA8"/>
                </a:solidFill>
                <a:latin typeface="Arial"/>
                <a:ea typeface="Arial"/>
                <a:cs typeface="Arial"/>
              </a:defRPr>
            </a:pPr>
            <a:r>
              <a:rPr sz="3225" b="1">
                <a:solidFill>
                  <a:srgbClr val="62DDA8"/>
                </a:solidFill>
                <a:latin typeface="Arial"/>
                <a:ea typeface="Arial"/>
                <a:cs typeface="Arial"/>
              </a:rPr>
              <a:t>0.25 : 1</a:t>
            </a:r>
          </a:p>
        </p:txBody>
      </p:sp>
      <p:sp>
        <p:nvSpPr>
          <p:cNvPr id="13" name="Text">
            <a:extLst xmlns:a="http://schemas.openxmlformats.org/drawingml/2006/main">
              <a:ext uri="{FF2B5EF4-FFF2-40B4-BE49-F238E27FC236}">
                <a16:creationId xmlns:a16="http://schemas.microsoft.com/office/drawing/2014/main" id="{BD709A94-8674-4658-A67A-403CC748A1F9}"/>
              </a:ext>
            </a:extLst>
          </p:cNvPr>
          <p:cNvSpPr>
            <a:spLocks xmlns:a="http://schemas.openxmlformats.org/drawingml/2006/main" noGrp="1"/>
          </p:cNvSpPr>
          <p:nvPr/>
        </p:nvSpPr>
        <p:spPr>
          <a:xfrm xmlns:a="http://schemas.openxmlformats.org/drawingml/2006/main">
            <a:off x="3333750" y="2876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AAB8B0"/>
                </a:solidFill>
                <a:latin typeface="Arial"/>
                <a:ea typeface="Arial"/>
                <a:cs typeface="Arial"/>
              </a:defRPr>
            </a:pPr>
            <a:r>
              <a:rPr sz="1275" b="0">
                <a:solidFill>
                  <a:srgbClr val="AAB8B0"/>
                </a:solidFill>
                <a:latin typeface="Arial"/>
                <a:ea typeface="Arial"/>
                <a:cs typeface="Arial"/>
              </a:rPr>
              <a:t>synthetic : human</a:t>
            </a:r>
          </a:p>
        </p:txBody>
      </p:sp>
      <p:sp>
        <p:nvSpPr>
          <p:cNvPr id="14" name="Text">
            <a:extLst xmlns:a="http://schemas.openxmlformats.org/drawingml/2006/main">
              <a:ext uri="{FF2B5EF4-FFF2-40B4-BE49-F238E27FC236}">
                <a16:creationId xmlns:a16="http://schemas.microsoft.com/office/drawing/2014/main" id="{3AA1DDBA-D8B3-420A-85BC-9B791CA63A2B}"/>
              </a:ext>
            </a:extLst>
          </p:cNvPr>
          <p:cNvSpPr>
            <a:spLocks xmlns:a="http://schemas.openxmlformats.org/drawingml/2006/main" noGrp="1"/>
          </p:cNvSpPr>
          <p:nvPr/>
        </p:nvSpPr>
        <p:spPr>
          <a:xfrm xmlns:a="http://schemas.openxmlformats.org/drawingml/2006/main">
            <a:off x="3333750" y="3381375"/>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F3F6F4"/>
                </a:solidFill>
                <a:latin typeface="Arial"/>
                <a:ea typeface="Arial"/>
                <a:cs typeface="Arial"/>
              </a:defRPr>
            </a:pPr>
            <a:r>
              <a:rPr sz="1650" b="1">
                <a:solidFill>
                  <a:srgbClr val="F3F6F4"/>
                </a:solidFill>
                <a:latin typeface="Arial"/>
                <a:ea typeface="Arial"/>
                <a:cs typeface="Arial"/>
              </a:rPr>
              <a:t>Low synthetic</a:t>
            </a:r>
          </a:p>
        </p:txBody>
      </p:sp>
      <p:sp>
        <p:nvSpPr>
          <p:cNvPr id="15" name="Section rule">
            <a:extLst xmlns:a="http://schemas.openxmlformats.org/drawingml/2006/main">
              <a:ext uri="{FF2B5EF4-FFF2-40B4-BE49-F238E27FC236}">
                <a16:creationId xmlns:a16="http://schemas.microsoft.com/office/drawing/2014/main" id="{047B5E85-21AA-40CF-9CC5-D5D9C5A0CFC4}"/>
              </a:ext>
            </a:extLst>
          </p:cNvPr>
          <p:cNvSpPr>
            <a:spLocks xmlns:a="http://schemas.openxmlformats.org/drawingml/2006/main" noGrp="1"/>
          </p:cNvSpPr>
          <p:nvPr/>
        </p:nvSpPr>
        <p:spPr>
          <a:xfrm xmlns:a="http://schemas.openxmlformats.org/drawingml/2006/main">
            <a:off x="3333750" y="3924300"/>
            <a:ext cx="2305050" cy="19050"/>
          </a:xfrm>
          <a:prstGeom xmlns:a="http://schemas.openxmlformats.org/drawingml/2006/main" prst="rect">
            <a:avLst/>
          </a:prstGeom>
          <a:solidFill xmlns:a="http://schemas.openxmlformats.org/drawingml/2006/main">
            <a:srgbClr val="62DDA8"/>
          </a:solidFill>
          <a:ln xmlns:a="http://schemas.openxmlformats.org/drawingml/2006/main" w="0">
            <a:noFill/>
          </a:ln>
        </p:spPr>
      </p:sp>
      <p:sp>
        <p:nvSpPr>
          <p:cNvPr id="16" name="Text">
            <a:extLst xmlns:a="http://schemas.openxmlformats.org/drawingml/2006/main">
              <a:ext uri="{FF2B5EF4-FFF2-40B4-BE49-F238E27FC236}">
                <a16:creationId xmlns:a16="http://schemas.microsoft.com/office/drawing/2014/main" id="{BC563DDA-E1E1-4851-BEA0-DFB6CF230FDB}"/>
              </a:ext>
            </a:extLst>
          </p:cNvPr>
          <p:cNvSpPr>
            <a:spLocks xmlns:a="http://schemas.openxmlformats.org/drawingml/2006/main" noGrp="1"/>
          </p:cNvSpPr>
          <p:nvPr/>
        </p:nvSpPr>
        <p:spPr>
          <a:xfrm xmlns:a="http://schemas.openxmlformats.org/drawingml/2006/main">
            <a:off x="6057900" y="2228850"/>
            <a:ext cx="247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225" b="1">
                <a:solidFill>
                  <a:srgbClr val="62DDA8"/>
                </a:solidFill>
                <a:latin typeface="Arial"/>
                <a:ea typeface="Arial"/>
                <a:cs typeface="Arial"/>
              </a:defRPr>
            </a:pPr>
            <a:r>
              <a:rPr sz="3225" b="1">
                <a:solidFill>
                  <a:srgbClr val="62DDA8"/>
                </a:solidFill>
                <a:latin typeface="Arial"/>
                <a:ea typeface="Arial"/>
                <a:cs typeface="Arial"/>
              </a:rPr>
              <a:t>0.5 : 1</a:t>
            </a:r>
          </a:p>
        </p:txBody>
      </p:sp>
      <p:sp>
        <p:nvSpPr>
          <p:cNvPr id="17" name="Text">
            <a:extLst xmlns:a="http://schemas.openxmlformats.org/drawingml/2006/main">
              <a:ext uri="{FF2B5EF4-FFF2-40B4-BE49-F238E27FC236}">
                <a16:creationId xmlns:a16="http://schemas.microsoft.com/office/drawing/2014/main" id="{33E2B861-C3D9-426D-B57A-110F159B61AA}"/>
              </a:ext>
            </a:extLst>
          </p:cNvPr>
          <p:cNvSpPr>
            <a:spLocks xmlns:a="http://schemas.openxmlformats.org/drawingml/2006/main" noGrp="1"/>
          </p:cNvSpPr>
          <p:nvPr/>
        </p:nvSpPr>
        <p:spPr>
          <a:xfrm xmlns:a="http://schemas.openxmlformats.org/drawingml/2006/main">
            <a:off x="6057900" y="2876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AAB8B0"/>
                </a:solidFill>
                <a:latin typeface="Arial"/>
                <a:ea typeface="Arial"/>
                <a:cs typeface="Arial"/>
              </a:defRPr>
            </a:pPr>
            <a:r>
              <a:rPr sz="1275" b="0">
                <a:solidFill>
                  <a:srgbClr val="AAB8B0"/>
                </a:solidFill>
                <a:latin typeface="Arial"/>
                <a:ea typeface="Arial"/>
                <a:cs typeface="Arial"/>
              </a:rPr>
              <a:t>synthetic : human</a:t>
            </a:r>
          </a:p>
        </p:txBody>
      </p:sp>
      <p:sp>
        <p:nvSpPr>
          <p:cNvPr id="18" name="Text">
            <a:extLst xmlns:a="http://schemas.openxmlformats.org/drawingml/2006/main">
              <a:ext uri="{FF2B5EF4-FFF2-40B4-BE49-F238E27FC236}">
                <a16:creationId xmlns:a16="http://schemas.microsoft.com/office/drawing/2014/main" id="{C755798E-82E7-4B22-8DB1-30B7C4789C53}"/>
              </a:ext>
            </a:extLst>
          </p:cNvPr>
          <p:cNvSpPr>
            <a:spLocks xmlns:a="http://schemas.openxmlformats.org/drawingml/2006/main" noGrp="1"/>
          </p:cNvSpPr>
          <p:nvPr/>
        </p:nvSpPr>
        <p:spPr>
          <a:xfrm xmlns:a="http://schemas.openxmlformats.org/drawingml/2006/main">
            <a:off x="6057900" y="3381375"/>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F3F6F4"/>
                </a:solidFill>
                <a:latin typeface="Arial"/>
                <a:ea typeface="Arial"/>
                <a:cs typeface="Arial"/>
              </a:defRPr>
            </a:pPr>
            <a:r>
              <a:rPr sz="1650" b="1">
                <a:solidFill>
                  <a:srgbClr val="F3F6F4"/>
                </a:solidFill>
                <a:latin typeface="Arial"/>
                <a:ea typeface="Arial"/>
                <a:cs typeface="Arial"/>
              </a:rPr>
              <a:t>Medium synthetic</a:t>
            </a:r>
          </a:p>
        </p:txBody>
      </p:sp>
      <p:sp>
        <p:nvSpPr>
          <p:cNvPr id="19" name="Section rule">
            <a:extLst xmlns:a="http://schemas.openxmlformats.org/drawingml/2006/main">
              <a:ext uri="{FF2B5EF4-FFF2-40B4-BE49-F238E27FC236}">
                <a16:creationId xmlns:a16="http://schemas.microsoft.com/office/drawing/2014/main" id="{9FD9D952-E856-44DE-A7B3-53BAC0A59873}"/>
              </a:ext>
            </a:extLst>
          </p:cNvPr>
          <p:cNvSpPr>
            <a:spLocks xmlns:a="http://schemas.openxmlformats.org/drawingml/2006/main" noGrp="1"/>
          </p:cNvSpPr>
          <p:nvPr/>
        </p:nvSpPr>
        <p:spPr>
          <a:xfrm xmlns:a="http://schemas.openxmlformats.org/drawingml/2006/main">
            <a:off x="6057900" y="3924300"/>
            <a:ext cx="2305050" cy="19050"/>
          </a:xfrm>
          <a:prstGeom xmlns:a="http://schemas.openxmlformats.org/drawingml/2006/main" prst="rect">
            <a:avLst/>
          </a:prstGeom>
          <a:solidFill xmlns:a="http://schemas.openxmlformats.org/drawingml/2006/main">
            <a:srgbClr val="62DDA8"/>
          </a:solidFill>
          <a:ln xmlns:a="http://schemas.openxmlformats.org/drawingml/2006/main" w="0">
            <a:noFill/>
          </a:ln>
        </p:spPr>
      </p:sp>
      <p:sp>
        <p:nvSpPr>
          <p:cNvPr id="20" name="Text">
            <a:extLst xmlns:a="http://schemas.openxmlformats.org/drawingml/2006/main">
              <a:ext uri="{FF2B5EF4-FFF2-40B4-BE49-F238E27FC236}">
                <a16:creationId xmlns:a16="http://schemas.microsoft.com/office/drawing/2014/main" id="{C17C0718-150E-40A8-8DE5-1FD6A4565FC1}"/>
              </a:ext>
            </a:extLst>
          </p:cNvPr>
          <p:cNvSpPr>
            <a:spLocks xmlns:a="http://schemas.openxmlformats.org/drawingml/2006/main" noGrp="1"/>
          </p:cNvSpPr>
          <p:nvPr/>
        </p:nvSpPr>
        <p:spPr>
          <a:xfrm xmlns:a="http://schemas.openxmlformats.org/drawingml/2006/main">
            <a:off x="8782050" y="2228850"/>
            <a:ext cx="247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225" b="1">
                <a:solidFill>
                  <a:srgbClr val="62DDA8"/>
                </a:solidFill>
                <a:latin typeface="Arial"/>
                <a:ea typeface="Arial"/>
                <a:cs typeface="Arial"/>
              </a:defRPr>
            </a:pPr>
            <a:r>
              <a:rPr sz="3225" b="1">
                <a:solidFill>
                  <a:srgbClr val="62DDA8"/>
                </a:solidFill>
                <a:latin typeface="Arial"/>
                <a:ea typeface="Arial"/>
                <a:cs typeface="Arial"/>
              </a:rPr>
              <a:t>1 : 1</a:t>
            </a:r>
          </a:p>
        </p:txBody>
      </p:sp>
      <p:sp>
        <p:nvSpPr>
          <p:cNvPr id="21" name="Text">
            <a:extLst xmlns:a="http://schemas.openxmlformats.org/drawingml/2006/main">
              <a:ext uri="{FF2B5EF4-FFF2-40B4-BE49-F238E27FC236}">
                <a16:creationId xmlns:a16="http://schemas.microsoft.com/office/drawing/2014/main" id="{48893818-1AA1-43BF-AB98-7C9D968D2F35}"/>
              </a:ext>
            </a:extLst>
          </p:cNvPr>
          <p:cNvSpPr>
            <a:spLocks xmlns:a="http://schemas.openxmlformats.org/drawingml/2006/main" noGrp="1"/>
          </p:cNvSpPr>
          <p:nvPr/>
        </p:nvSpPr>
        <p:spPr>
          <a:xfrm xmlns:a="http://schemas.openxmlformats.org/drawingml/2006/main">
            <a:off x="8782050" y="2876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AAB8B0"/>
                </a:solidFill>
                <a:latin typeface="Arial"/>
                <a:ea typeface="Arial"/>
                <a:cs typeface="Arial"/>
              </a:defRPr>
            </a:pPr>
            <a:r>
              <a:rPr sz="1275" b="0">
                <a:solidFill>
                  <a:srgbClr val="AAB8B0"/>
                </a:solidFill>
                <a:latin typeface="Arial"/>
                <a:ea typeface="Arial"/>
                <a:cs typeface="Arial"/>
              </a:rPr>
              <a:t>synthetic : human</a:t>
            </a:r>
          </a:p>
        </p:txBody>
      </p:sp>
      <p:sp>
        <p:nvSpPr>
          <p:cNvPr id="22" name="Text">
            <a:extLst xmlns:a="http://schemas.openxmlformats.org/drawingml/2006/main">
              <a:ext uri="{FF2B5EF4-FFF2-40B4-BE49-F238E27FC236}">
                <a16:creationId xmlns:a16="http://schemas.microsoft.com/office/drawing/2014/main" id="{12AB7B1B-6849-4C71-9CD6-F67AFA0DE3CB}"/>
              </a:ext>
            </a:extLst>
          </p:cNvPr>
          <p:cNvSpPr>
            <a:spLocks xmlns:a="http://schemas.openxmlformats.org/drawingml/2006/main" noGrp="1"/>
          </p:cNvSpPr>
          <p:nvPr/>
        </p:nvSpPr>
        <p:spPr>
          <a:xfrm xmlns:a="http://schemas.openxmlformats.org/drawingml/2006/main">
            <a:off x="8782050" y="3381375"/>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F3F6F4"/>
                </a:solidFill>
                <a:latin typeface="Arial"/>
                <a:ea typeface="Arial"/>
                <a:cs typeface="Arial"/>
              </a:defRPr>
            </a:pPr>
            <a:r>
              <a:rPr sz="1650" b="1">
                <a:solidFill>
                  <a:srgbClr val="F3F6F4"/>
                </a:solidFill>
                <a:latin typeface="Arial"/>
                <a:ea typeface="Arial"/>
                <a:cs typeface="Arial"/>
              </a:rPr>
              <a:t>High synthetic</a:t>
            </a:r>
          </a:p>
        </p:txBody>
      </p:sp>
      <p:sp>
        <p:nvSpPr>
          <p:cNvPr id="23" name="Section rule">
            <a:extLst xmlns:a="http://schemas.openxmlformats.org/drawingml/2006/main">
              <a:ext uri="{FF2B5EF4-FFF2-40B4-BE49-F238E27FC236}">
                <a16:creationId xmlns:a16="http://schemas.microsoft.com/office/drawing/2014/main" id="{CC0AF995-1EE6-4892-B214-9E6CDB41DA94}"/>
              </a:ext>
            </a:extLst>
          </p:cNvPr>
          <p:cNvSpPr>
            <a:spLocks xmlns:a="http://schemas.openxmlformats.org/drawingml/2006/main" noGrp="1"/>
          </p:cNvSpPr>
          <p:nvPr/>
        </p:nvSpPr>
        <p:spPr>
          <a:xfrm xmlns:a="http://schemas.openxmlformats.org/drawingml/2006/main">
            <a:off x="8782050" y="3924300"/>
            <a:ext cx="2305050" cy="19050"/>
          </a:xfrm>
          <a:prstGeom xmlns:a="http://schemas.openxmlformats.org/drawingml/2006/main" prst="rect">
            <a:avLst/>
          </a:prstGeom>
          <a:solidFill xmlns:a="http://schemas.openxmlformats.org/drawingml/2006/main">
            <a:srgbClr val="62DDA8"/>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2E724AC6-578A-48BA-A0F6-DD6A7EA71153}"/>
              </a:ext>
            </a:extLst>
          </p:cNvPr>
          <p:cNvSpPr>
            <a:spLocks xmlns:a="http://schemas.openxmlformats.org/drawingml/2006/main" noGrp="1"/>
          </p:cNvSpPr>
          <p:nvPr/>
        </p:nvSpPr>
        <p:spPr>
          <a:xfrm xmlns:a="http://schemas.openxmlformats.org/drawingml/2006/main">
            <a:off x="609600" y="4495800"/>
            <a:ext cx="4524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62DDA8"/>
                </a:solidFill>
                <a:latin typeface="Arial"/>
                <a:ea typeface="Arial"/>
                <a:cs typeface="Arial"/>
              </a:defRPr>
            </a:pPr>
            <a:r>
              <a:rPr sz="1350" b="1">
                <a:solidFill>
                  <a:srgbClr val="62DDA8"/>
                </a:solidFill>
                <a:latin typeface="Arial"/>
                <a:ea typeface="Arial"/>
                <a:cs typeface="Arial"/>
              </a:rPr>
              <a:t>Repeat by phenomenon and generator family.</a:t>
            </a:r>
          </a:p>
        </p:txBody>
      </p:sp>
      <p:sp>
        <p:nvSpPr>
          <p:cNvPr id="25" name="Text">
            <a:extLst xmlns:a="http://schemas.openxmlformats.org/drawingml/2006/main">
              <a:ext uri="{FF2B5EF4-FFF2-40B4-BE49-F238E27FC236}">
                <a16:creationId xmlns:a16="http://schemas.microsoft.com/office/drawing/2014/main" id="{0BC73F45-3256-49E7-88E3-69E1A2A74806}"/>
              </a:ext>
            </a:extLst>
          </p:cNvPr>
          <p:cNvSpPr>
            <a:spLocks xmlns:a="http://schemas.openxmlformats.org/drawingml/2006/main" noGrp="1"/>
          </p:cNvSpPr>
          <p:nvPr/>
        </p:nvSpPr>
        <p:spPr>
          <a:xfrm xmlns:a="http://schemas.openxmlformats.org/drawingml/2006/main">
            <a:off x="609600" y="4914900"/>
            <a:ext cx="5095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F3F6F4"/>
                </a:solidFill>
                <a:latin typeface="Arial"/>
                <a:ea typeface="Arial"/>
                <a:cs typeface="Arial"/>
              </a:defRPr>
            </a:pPr>
            <a:r>
              <a:rPr sz="1500" b="0">
                <a:solidFill>
                  <a:srgbClr val="F3F6F4"/>
                </a:solidFill>
                <a:latin typeface="Arial"/>
                <a:ea typeface="Arial"/>
                <a:cs typeface="Arial"/>
              </a:rPr>
              <a:t>Report label balance, deduplication, and synthetic-to-gold ratio for every run.</a:t>
            </a:r>
          </a:p>
        </p:txBody>
      </p:sp>
      <p:sp>
        <p:nvSpPr>
          <p:cNvPr id="26" name="Text">
            <a:extLst xmlns:a="http://schemas.openxmlformats.org/drawingml/2006/main">
              <a:ext uri="{FF2B5EF4-FFF2-40B4-BE49-F238E27FC236}">
                <a16:creationId xmlns:a16="http://schemas.microsoft.com/office/drawing/2014/main" id="{444358D0-DC77-47E0-9045-8B2CC372F3F6}"/>
              </a:ext>
            </a:extLst>
          </p:cNvPr>
          <p:cNvSpPr>
            <a:spLocks xmlns:a="http://schemas.openxmlformats.org/drawingml/2006/main" noGrp="1"/>
          </p:cNvSpPr>
          <p:nvPr/>
        </p:nvSpPr>
        <p:spPr>
          <a:xfrm xmlns:a="http://schemas.openxmlformats.org/drawingml/2006/main">
            <a:off x="6305550" y="4495800"/>
            <a:ext cx="238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0C36A"/>
                </a:solidFill>
                <a:latin typeface="Arial"/>
                <a:ea typeface="Arial"/>
                <a:cs typeface="Arial"/>
              </a:defRPr>
            </a:pPr>
            <a:r>
              <a:rPr sz="1350" b="1">
                <a:solidFill>
                  <a:srgbClr val="F0C36A"/>
                </a:solidFill>
                <a:latin typeface="Arial"/>
                <a:ea typeface="Arial"/>
                <a:cs typeface="Arial"/>
              </a:rPr>
              <a:t>Decision question</a:t>
            </a:r>
          </a:p>
        </p:txBody>
      </p:sp>
      <p:sp>
        <p:nvSpPr>
          <p:cNvPr id="27" name="Text">
            <a:extLst xmlns:a="http://schemas.openxmlformats.org/drawingml/2006/main">
              <a:ext uri="{FF2B5EF4-FFF2-40B4-BE49-F238E27FC236}">
                <a16:creationId xmlns:a16="http://schemas.microsoft.com/office/drawing/2014/main" id="{60F64D23-39CC-41D2-B6A0-75A9BF09115E}"/>
              </a:ext>
            </a:extLst>
          </p:cNvPr>
          <p:cNvSpPr>
            <a:spLocks xmlns:a="http://schemas.openxmlformats.org/drawingml/2006/main" noGrp="1"/>
          </p:cNvSpPr>
          <p:nvPr/>
        </p:nvSpPr>
        <p:spPr>
          <a:xfrm xmlns:a="http://schemas.openxmlformats.org/drawingml/2006/main">
            <a:off x="6305550" y="4914900"/>
            <a:ext cx="4905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F3F6F4"/>
                </a:solidFill>
                <a:latin typeface="Arial"/>
                <a:ea typeface="Arial"/>
                <a:cs typeface="Arial"/>
              </a:defRPr>
            </a:pPr>
            <a:r>
              <a:rPr sz="1500" b="0">
                <a:solidFill>
                  <a:srgbClr val="F3F6F4"/>
                </a:solidFill>
                <a:latin typeface="Arial"/>
                <a:ea typeface="Arial"/>
                <a:cs typeface="Arial"/>
              </a:rPr>
              <a:t>Does augmentation improve macro-F1 and targeted error slices without harming held-out human examples?</a:t>
            </a:r>
          </a:p>
        </p:txBody>
      </p:sp>
    </p:spTree>
    <p:extLst>
      <p:ext uri="{BB962C8B-B14F-4D97-AF65-F5344CB8AC3E}">
        <p14:creationId xmlns:p14="http://schemas.microsoft.com/office/powerpoint/2010/main" val="1142229668"/>
      </p:ext>
    </p:extLst>
  </p:cSld>
</p:sld>
</file>

<file path=ppt/slides/slide12.xml><?xml version="1.0" encoding="utf-8"?>
<p:sld xmlns:p="http://schemas.openxmlformats.org/presentationml/2006/main">
  <p:cSld>
    <p:bg>
      <p:bgPr>
        <a:solidFill xmlns:a="http://schemas.openxmlformats.org/drawingml/2006/main">
          <a:srgbClr val="202522"/>
        </a:solidFill>
      </p:bgPr>
    </p:bg>
    <p:spTree>
      <p:nvGrpSpPr>
        <p:cNvPr id="1" name=""/>
        <p:cNvGrpSpPr/>
        <p:nvPr/>
      </p:nvGrpSpPr>
      <p:grpSpPr>
        <a:xfrm xmlns:a="http://schemas.openxmlformats.org/drawingml/2006/main"/>
      </p:grpSpPr>
      <p:sp>
        <p:nvSpPr>
          <p:cNvPr id="18" name="Section label">
            <a:extLst xmlns:a="http://schemas.openxmlformats.org/drawingml/2006/main">
              <a:ext uri="{FF2B5EF4-FFF2-40B4-BE49-F238E27FC236}">
                <a16:creationId xmlns:a16="http://schemas.microsoft.com/office/drawing/2014/main" id="{5399CCB9-84FA-40B2-9026-7DB892592354}"/>
              </a:ext>
            </a:extLst>
          </p:cNvPr>
          <p:cNvSpPr>
            <a:spLocks xmlns:a="http://schemas.openxmlformats.org/drawingml/2006/main" noGrp="1"/>
          </p:cNvSpPr>
          <p:nvPr/>
        </p:nvSpPr>
        <p:spPr>
          <a:xfrm xmlns:a="http://schemas.openxmlformats.org/drawingml/2006/main">
            <a:off x="609600" y="2571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  EVALUATION DESIGN</a:t>
            </a:r>
          </a:p>
        </p:txBody>
      </p:sp>
      <p:sp>
        <p:nvSpPr>
          <p:cNvPr id="2" name="Slide title">
            <a:extLst xmlns:a="http://schemas.openxmlformats.org/drawingml/2006/main">
              <a:ext uri="{FF2B5EF4-FFF2-40B4-BE49-F238E27FC236}">
                <a16:creationId xmlns:a16="http://schemas.microsoft.com/office/drawing/2014/main" id="{2756218F-1644-4A98-9364-2D4BB64993F6}"/>
              </a:ext>
            </a:extLst>
          </p:cNvPr>
          <p:cNvSpPr>
            <a:spLocks xmlns:a="http://schemas.openxmlformats.org/drawingml/2006/main" noGrp="1"/>
          </p:cNvSpPr>
          <p:nvPr/>
        </p:nvSpPr>
        <p:spPr>
          <a:xfrm xmlns:a="http://schemas.openxmlformats.org/drawingml/2006/main">
            <a:off x="609600" y="5810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75" b="1">
                <a:solidFill>
                  <a:srgbClr val="F3F6F4"/>
                </a:solidFill>
                <a:latin typeface="Arial"/>
                <a:ea typeface="Arial"/>
                <a:cs typeface="Arial"/>
              </a:defRPr>
            </a:pPr>
            <a:r>
              <a:rPr sz="3075" b="1">
                <a:solidFill>
                  <a:srgbClr val="F3F6F4"/>
                </a:solidFill>
                <a:latin typeface="Arial"/>
                <a:ea typeface="Arial"/>
                <a:cs typeface="Arial"/>
              </a:rPr>
              <a:t>Report label, span, relation, and graph evidence separately</a:t>
            </a:r>
          </a:p>
        </p:txBody>
      </p:sp>
      <p:sp>
        <p:nvSpPr>
          <p:cNvPr id="3" name="Section rule">
            <a:extLst xmlns:a="http://schemas.openxmlformats.org/drawingml/2006/main">
              <a:ext uri="{FF2B5EF4-FFF2-40B4-BE49-F238E27FC236}">
                <a16:creationId xmlns:a16="http://schemas.microsoft.com/office/drawing/2014/main" id="{627B1E3A-6856-4DE4-809B-CC39D1385E22}"/>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4" name="Section rule">
            <a:extLst xmlns:a="http://schemas.openxmlformats.org/drawingml/2006/main">
              <a:ext uri="{FF2B5EF4-FFF2-40B4-BE49-F238E27FC236}">
                <a16:creationId xmlns:a16="http://schemas.microsoft.com/office/drawing/2014/main" id="{EA383173-4C35-4B15-B0B3-8AA9E374A50C}"/>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4FBE7003-D221-457F-A951-CB49038F22CB}"/>
              </a:ext>
            </a:extLst>
          </p:cNvPr>
          <p:cNvSpPr>
            <a:spLocks xmlns:a="http://schemas.openxmlformats.org/drawingml/2006/main" noGrp="1"/>
          </p:cNvSpPr>
          <p:nvPr/>
        </p:nvSpPr>
        <p:spPr>
          <a:xfrm xmlns:a="http://schemas.openxmlformats.org/drawingml/2006/main">
            <a:off x="609600" y="6562725"/>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AAB8B0"/>
                </a:solidFill>
                <a:latin typeface="Arial"/>
                <a:ea typeface="Arial"/>
                <a:cs typeface="Arial"/>
              </a:defRPr>
            </a:pPr>
            <a:r>
              <a:rPr sz="900" b="0">
                <a:solidFill>
                  <a:srgbClr val="AAB8B0"/>
                </a:solidFill>
                <a:latin typeface="Arial"/>
                <a:ea typeface="Arial"/>
                <a:cs typeface="Arial"/>
              </a:rPr>
              <a:t>SYNTHETIC DATA  /  UNSUPERVISED DISCOVERY  /  HUMAN EVALUATION</a:t>
            </a:r>
          </a:p>
        </p:txBody>
      </p:sp>
      <p:sp>
        <p:nvSpPr>
          <p:cNvPr id="6" name="Page number">
            <a:extLst xmlns:a="http://schemas.openxmlformats.org/drawingml/2006/main">
              <a:ext uri="{FF2B5EF4-FFF2-40B4-BE49-F238E27FC236}">
                <a16:creationId xmlns:a16="http://schemas.microsoft.com/office/drawing/2014/main" id="{F37A1A12-D0C7-49EB-B838-52789810EB06}"/>
              </a:ext>
            </a:extLst>
          </p:cNvPr>
          <p:cNvSpPr>
            <a:spLocks xmlns:a="http://schemas.openxmlformats.org/drawingml/2006/main" noGrp="1"/>
          </p:cNvSpPr>
          <p:nvPr/>
        </p:nvSpPr>
        <p:spPr>
          <a:xfrm xmlns:a="http://schemas.openxmlformats.org/drawingml/2006/main">
            <a:off x="11049000" y="65436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9AEBCA"/>
                </a:solidFill>
                <a:latin typeface="Arial"/>
                <a:ea typeface="Arial"/>
                <a:cs typeface="Arial"/>
              </a:defRPr>
            </a:pPr>
            <a:r>
              <a:rPr sz="1050" b="1">
                <a:solidFill>
                  <a:srgbClr val="9AEBCA"/>
                </a:solidFill>
                <a:latin typeface="Arial"/>
                <a:ea typeface="Arial"/>
                <a:cs typeface="Arial"/>
              </a:rPr>
              <a:t>12</a:t>
            </a:r>
          </a:p>
        </p:txBody>
      </p:sp>
      <p:sp>
        <p:nvSpPr>
          <p:cNvPr id="7" name="Text">
            <a:extLst xmlns:a="http://schemas.openxmlformats.org/drawingml/2006/main">
              <a:ext uri="{FF2B5EF4-FFF2-40B4-BE49-F238E27FC236}">
                <a16:creationId xmlns:a16="http://schemas.microsoft.com/office/drawing/2014/main" id="{0E7FA87F-C9BA-4C82-8A49-FD7CADFB35D4}"/>
              </a:ext>
            </a:extLst>
          </p:cNvPr>
          <p:cNvSpPr>
            <a:spLocks xmlns:a="http://schemas.openxmlformats.org/drawingml/2006/main" noGrp="1"/>
          </p:cNvSpPr>
          <p:nvPr/>
        </p:nvSpPr>
        <p:spPr>
          <a:xfrm xmlns:a="http://schemas.openxmlformats.org/drawingml/2006/main">
            <a:off x="609600" y="1933575"/>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2DDA8"/>
                </a:solidFill>
                <a:latin typeface="Arial"/>
                <a:ea typeface="Arial"/>
                <a:cs typeface="Arial"/>
              </a:defRPr>
            </a:pPr>
            <a:r>
              <a:rPr sz="1200" b="1">
                <a:solidFill>
                  <a:srgbClr val="62DDA8"/>
                </a:solidFill>
                <a:latin typeface="Arial"/>
                <a:ea typeface="Arial"/>
                <a:cs typeface="Arial"/>
              </a:rPr>
              <a:t>AVAILABLE IN CLI</a:t>
            </a:r>
          </a:p>
        </p:txBody>
      </p:sp>
      <p:sp>
        <p:nvSpPr>
          <p:cNvPr id="8" name="Text">
            <a:extLst xmlns:a="http://schemas.openxmlformats.org/drawingml/2006/main">
              <a:ext uri="{FF2B5EF4-FFF2-40B4-BE49-F238E27FC236}">
                <a16:creationId xmlns:a16="http://schemas.microsoft.com/office/drawing/2014/main" id="{A503DDDD-EF65-4908-B643-A325C43E88DE}"/>
              </a:ext>
            </a:extLst>
          </p:cNvPr>
          <p:cNvSpPr>
            <a:spLocks xmlns:a="http://schemas.openxmlformats.org/drawingml/2006/main" noGrp="1"/>
          </p:cNvSpPr>
          <p:nvPr/>
        </p:nvSpPr>
        <p:spPr>
          <a:xfrm xmlns:a="http://schemas.openxmlformats.org/drawingml/2006/main">
            <a:off x="609600" y="2371725"/>
            <a:ext cx="323850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Accuracy, macro-F1, per-class precision/recall/F1, support, confusion matrix, log loss.</a:t>
            </a:r>
          </a:p>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Cluster average distance and Davies-Bouldin index.</a:t>
            </a:r>
          </a:p>
        </p:txBody>
      </p:sp>
      <p:sp>
        <p:nvSpPr>
          <p:cNvPr id="9" name="Diagram shape">
            <a:extLst xmlns:a="http://schemas.openxmlformats.org/drawingml/2006/main">
              <a:ext uri="{FF2B5EF4-FFF2-40B4-BE49-F238E27FC236}">
                <a16:creationId xmlns:a16="http://schemas.microsoft.com/office/drawing/2014/main" id="{6460A521-860E-4435-8CD7-78C6D867F8FE}"/>
              </a:ext>
            </a:extLst>
          </p:cNvPr>
          <p:cNvSpPr>
            <a:spLocks xmlns:a="http://schemas.openxmlformats.org/drawingml/2006/main" noGrp="1"/>
          </p:cNvSpPr>
          <p:nvPr/>
        </p:nvSpPr>
        <p:spPr>
          <a:xfrm xmlns:a="http://schemas.openxmlformats.org/drawingml/2006/main">
            <a:off x="4048125" y="1924050"/>
            <a:ext cx="9525" cy="2667000"/>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0" name="Text">
            <a:extLst xmlns:a="http://schemas.openxmlformats.org/drawingml/2006/main">
              <a:ext uri="{FF2B5EF4-FFF2-40B4-BE49-F238E27FC236}">
                <a16:creationId xmlns:a16="http://schemas.microsoft.com/office/drawing/2014/main" id="{AE66C30C-D0C2-404B-B7A1-59D69CDB4740}"/>
              </a:ext>
            </a:extLst>
          </p:cNvPr>
          <p:cNvSpPr>
            <a:spLocks xmlns:a="http://schemas.openxmlformats.org/drawingml/2006/main" noGrp="1"/>
          </p:cNvSpPr>
          <p:nvPr/>
        </p:nvSpPr>
        <p:spPr>
          <a:xfrm xmlns:a="http://schemas.openxmlformats.org/drawingml/2006/main">
            <a:off x="4333875" y="1933575"/>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F0C36A"/>
                </a:solidFill>
                <a:latin typeface="Arial"/>
                <a:ea typeface="Arial"/>
                <a:cs typeface="Arial"/>
              </a:defRPr>
            </a:pPr>
            <a:r>
              <a:rPr sz="1200" b="1">
                <a:solidFill>
                  <a:srgbClr val="F0C36A"/>
                </a:solidFill>
                <a:latin typeface="Arial"/>
                <a:ea typeface="Arial"/>
                <a:cs typeface="Arial"/>
              </a:rPr>
              <a:t>NEXT EVALUATORS</a:t>
            </a:r>
          </a:p>
        </p:txBody>
      </p:sp>
      <p:sp>
        <p:nvSpPr>
          <p:cNvPr id="11" name="Text">
            <a:extLst xmlns:a="http://schemas.openxmlformats.org/drawingml/2006/main">
              <a:ext uri="{FF2B5EF4-FFF2-40B4-BE49-F238E27FC236}">
                <a16:creationId xmlns:a16="http://schemas.microsoft.com/office/drawing/2014/main" id="{6020D3D7-2766-4FAD-A367-47B281941FE6}"/>
              </a:ext>
            </a:extLst>
          </p:cNvPr>
          <p:cNvSpPr>
            <a:spLocks xmlns:a="http://schemas.openxmlformats.org/drawingml/2006/main" noGrp="1"/>
          </p:cNvSpPr>
          <p:nvPr/>
        </p:nvSpPr>
        <p:spPr>
          <a:xfrm xmlns:a="http://schemas.openxmlformats.org/drawingml/2006/main">
            <a:off x="4333875" y="2371725"/>
            <a:ext cx="323850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Event-span boundary precision/recall/F1.</a:t>
            </a:r>
          </a:p>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Temporal-relation macro-F1 and direction-confusion analysis.</a:t>
            </a:r>
          </a:p>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Whole-graph consistency checks.</a:t>
            </a:r>
          </a:p>
        </p:txBody>
      </p:sp>
      <p:sp>
        <p:nvSpPr>
          <p:cNvPr id="12" name="Diagram shape">
            <a:extLst xmlns:a="http://schemas.openxmlformats.org/drawingml/2006/main">
              <a:ext uri="{FF2B5EF4-FFF2-40B4-BE49-F238E27FC236}">
                <a16:creationId xmlns:a16="http://schemas.microsoft.com/office/drawing/2014/main" id="{E29F62AD-588A-49C0-86A8-880749322C8E}"/>
              </a:ext>
            </a:extLst>
          </p:cNvPr>
          <p:cNvSpPr>
            <a:spLocks xmlns:a="http://schemas.openxmlformats.org/drawingml/2006/main" noGrp="1"/>
          </p:cNvSpPr>
          <p:nvPr/>
        </p:nvSpPr>
        <p:spPr>
          <a:xfrm xmlns:a="http://schemas.openxmlformats.org/drawingml/2006/main">
            <a:off x="7772400" y="1924050"/>
            <a:ext cx="9525" cy="2667000"/>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9F3E1888-59B9-4D61-B6EB-A426DE3D3549}"/>
              </a:ext>
            </a:extLst>
          </p:cNvPr>
          <p:cNvSpPr>
            <a:spLocks xmlns:a="http://schemas.openxmlformats.org/drawingml/2006/main" noGrp="1"/>
          </p:cNvSpPr>
          <p:nvPr/>
        </p:nvSpPr>
        <p:spPr>
          <a:xfrm xmlns:a="http://schemas.openxmlformats.org/drawingml/2006/main">
            <a:off x="8058150" y="1933575"/>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2DDA8"/>
                </a:solidFill>
                <a:latin typeface="Arial"/>
                <a:ea typeface="Arial"/>
                <a:cs typeface="Arial"/>
              </a:defRPr>
            </a:pPr>
            <a:r>
              <a:rPr sz="1200" b="1">
                <a:solidFill>
                  <a:srgbClr val="62DDA8"/>
                </a:solidFill>
                <a:latin typeface="Arial"/>
                <a:ea typeface="Arial"/>
                <a:cs typeface="Arial"/>
              </a:rPr>
              <a:t>DATA QUALITY</a:t>
            </a:r>
          </a:p>
        </p:txBody>
      </p:sp>
      <p:sp>
        <p:nvSpPr>
          <p:cNvPr id="14" name="Text">
            <a:extLst xmlns:a="http://schemas.openxmlformats.org/drawingml/2006/main">
              <a:ext uri="{FF2B5EF4-FFF2-40B4-BE49-F238E27FC236}">
                <a16:creationId xmlns:a16="http://schemas.microsoft.com/office/drawing/2014/main" id="{7D382045-2B52-4D4E-844F-0154D2159B37}"/>
              </a:ext>
            </a:extLst>
          </p:cNvPr>
          <p:cNvSpPr>
            <a:spLocks xmlns:a="http://schemas.openxmlformats.org/drawingml/2006/main" noGrp="1"/>
          </p:cNvSpPr>
          <p:nvPr/>
        </p:nvSpPr>
        <p:spPr>
          <a:xfrm xmlns:a="http://schemas.openxmlformats.org/drawingml/2006/main">
            <a:off x="8058150" y="2371725"/>
            <a:ext cx="323850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Annotator agreement before adjudication.</a:t>
            </a:r>
          </a:p>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Calibration by phenomenon and confidence band.</a:t>
            </a:r>
          </a:p>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Error counts by chapter, genre, and generator family.</a:t>
            </a:r>
          </a:p>
        </p:txBody>
      </p:sp>
      <p:sp>
        <p:nvSpPr>
          <p:cNvPr id="15" name="Section rule">
            <a:extLst xmlns:a="http://schemas.openxmlformats.org/drawingml/2006/main">
              <a:ext uri="{FF2B5EF4-FFF2-40B4-BE49-F238E27FC236}">
                <a16:creationId xmlns:a16="http://schemas.microsoft.com/office/drawing/2014/main" id="{400F7F37-DE2B-44E6-A926-F2A0445EBDA4}"/>
              </a:ext>
            </a:extLst>
          </p:cNvPr>
          <p:cNvSpPr>
            <a:spLocks xmlns:a="http://schemas.openxmlformats.org/drawingml/2006/main" noGrp="1"/>
          </p:cNvSpPr>
          <p:nvPr/>
        </p:nvSpPr>
        <p:spPr>
          <a:xfrm xmlns:a="http://schemas.openxmlformats.org/drawingml/2006/main">
            <a:off x="609600" y="4895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6" name="Text">
            <a:extLst xmlns:a="http://schemas.openxmlformats.org/drawingml/2006/main">
              <a:ext uri="{FF2B5EF4-FFF2-40B4-BE49-F238E27FC236}">
                <a16:creationId xmlns:a16="http://schemas.microsoft.com/office/drawing/2014/main" id="{FC5A1261-A093-4254-9835-1742D2E57BB7}"/>
              </a:ext>
            </a:extLst>
          </p:cNvPr>
          <p:cNvSpPr>
            <a:spLocks xmlns:a="http://schemas.openxmlformats.org/drawingml/2006/main" noGrp="1"/>
          </p:cNvSpPr>
          <p:nvPr/>
        </p:nvSpPr>
        <p:spPr>
          <a:xfrm xmlns:a="http://schemas.openxmlformats.org/drawingml/2006/main">
            <a:off x="609600" y="5191125"/>
            <a:ext cx="2095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0C36A"/>
                </a:solidFill>
                <a:latin typeface="Arial"/>
                <a:ea typeface="Arial"/>
                <a:cs typeface="Arial"/>
              </a:defRPr>
            </a:pPr>
            <a:r>
              <a:rPr sz="1350" b="1">
                <a:solidFill>
                  <a:srgbClr val="F0C36A"/>
                </a:solidFill>
                <a:latin typeface="Arial"/>
                <a:ea typeface="Arial"/>
                <a:cs typeface="Arial"/>
              </a:rPr>
              <a:t>Current boundary</a:t>
            </a:r>
          </a:p>
        </p:txBody>
      </p:sp>
      <p:sp>
        <p:nvSpPr>
          <p:cNvPr id="17" name="Text">
            <a:extLst xmlns:a="http://schemas.openxmlformats.org/drawingml/2006/main">
              <a:ext uri="{FF2B5EF4-FFF2-40B4-BE49-F238E27FC236}">
                <a16:creationId xmlns:a16="http://schemas.microsoft.com/office/drawing/2014/main" id="{1962BE14-8BF5-42E8-B757-B31B409DEC82}"/>
              </a:ext>
            </a:extLst>
          </p:cNvPr>
          <p:cNvSpPr>
            <a:spLocks xmlns:a="http://schemas.openxmlformats.org/drawingml/2006/main" noGrp="1"/>
          </p:cNvSpPr>
          <p:nvPr/>
        </p:nvSpPr>
        <p:spPr>
          <a:xfrm xmlns:a="http://schemas.openxmlformats.org/drawingml/2006/main">
            <a:off x="2762250" y="5114925"/>
            <a:ext cx="8191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This branch computes classification and clustering outputs. Span-level and end-to-end graph metrics remain proposed work.</a:t>
            </a:r>
          </a:p>
        </p:txBody>
      </p:sp>
    </p:spTree>
    <p:extLst>
      <p:ext uri="{BB962C8B-B14F-4D97-AF65-F5344CB8AC3E}">
        <p14:creationId xmlns:p14="http://schemas.microsoft.com/office/powerpoint/2010/main" val="1409279757"/>
      </p:ext>
    </p:extLst>
  </p:cSld>
</p:sld>
</file>

<file path=ppt/slides/slide13.xml><?xml version="1.0" encoding="utf-8"?>
<p:sld xmlns:p="http://schemas.openxmlformats.org/presentationml/2006/main">
  <p:cSld>
    <p:bg>
      <p:bgPr>
        <a:solidFill xmlns:a="http://schemas.openxmlformats.org/drawingml/2006/main">
          <a:srgbClr val="202522"/>
        </a:solidFill>
      </p:bgPr>
    </p:bg>
    <p:spTree>
      <p:nvGrpSpPr>
        <p:cNvPr id="1" name=""/>
        <p:cNvGrpSpPr/>
        <p:nvPr/>
      </p:nvGrpSpPr>
      <p:grpSpPr>
        <a:xfrm xmlns:a="http://schemas.openxmlformats.org/drawingml/2006/main"/>
      </p:grpSpPr>
      <p:sp>
        <p:nvSpPr>
          <p:cNvPr id="25" name="Section label">
            <a:extLst xmlns:a="http://schemas.openxmlformats.org/drawingml/2006/main">
              <a:ext uri="{FF2B5EF4-FFF2-40B4-BE49-F238E27FC236}">
                <a16:creationId xmlns:a16="http://schemas.microsoft.com/office/drawing/2014/main" id="{11CDC019-032C-4CB2-A28B-790B7569AF47}"/>
              </a:ext>
            </a:extLst>
          </p:cNvPr>
          <p:cNvSpPr>
            <a:spLocks xmlns:a="http://schemas.openxmlformats.org/drawingml/2006/main" noGrp="1"/>
          </p:cNvSpPr>
          <p:nvPr/>
        </p:nvSpPr>
        <p:spPr>
          <a:xfrm xmlns:a="http://schemas.openxmlformats.org/drawingml/2006/main">
            <a:off x="609600" y="2571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  ENGINEERING</a:t>
            </a:r>
          </a:p>
        </p:txBody>
      </p:sp>
      <p:sp>
        <p:nvSpPr>
          <p:cNvPr id="2" name="Slide title">
            <a:extLst xmlns:a="http://schemas.openxmlformats.org/drawingml/2006/main">
              <a:ext uri="{FF2B5EF4-FFF2-40B4-BE49-F238E27FC236}">
                <a16:creationId xmlns:a16="http://schemas.microsoft.com/office/drawing/2014/main" id="{A2754DE5-5578-4A53-983F-4C9AF84D58CB}"/>
              </a:ext>
            </a:extLst>
          </p:cNvPr>
          <p:cNvSpPr>
            <a:spLocks xmlns:a="http://schemas.openxmlformats.org/drawingml/2006/main" noGrp="1"/>
          </p:cNvSpPr>
          <p:nvPr/>
        </p:nvSpPr>
        <p:spPr>
          <a:xfrm xmlns:a="http://schemas.openxmlformats.org/drawingml/2006/main">
            <a:off x="609600" y="5810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75" b="1">
                <a:solidFill>
                  <a:srgbClr val="F3F6F4"/>
                </a:solidFill>
                <a:latin typeface="Arial"/>
                <a:ea typeface="Arial"/>
                <a:cs typeface="Arial"/>
              </a:defRPr>
            </a:pPr>
            <a:r>
              <a:rPr sz="3075" b="1">
                <a:solidFill>
                  <a:srgbClr val="F3F6F4"/>
                </a:solidFill>
                <a:latin typeface="Arial"/>
                <a:ea typeface="Arial"/>
                <a:cs typeface="Arial"/>
              </a:rPr>
              <a:t>ML.NET separates research runs from API inference</a:t>
            </a:r>
          </a:p>
        </p:txBody>
      </p:sp>
      <p:sp>
        <p:nvSpPr>
          <p:cNvPr id="3" name="Section rule">
            <a:extLst xmlns:a="http://schemas.openxmlformats.org/drawingml/2006/main">
              <a:ext uri="{FF2B5EF4-FFF2-40B4-BE49-F238E27FC236}">
                <a16:creationId xmlns:a16="http://schemas.microsoft.com/office/drawing/2014/main" id="{A33AB08D-C936-47C4-9BFA-14B8511AB72B}"/>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4" name="Section rule">
            <a:extLst xmlns:a="http://schemas.openxmlformats.org/drawingml/2006/main">
              <a:ext uri="{FF2B5EF4-FFF2-40B4-BE49-F238E27FC236}">
                <a16:creationId xmlns:a16="http://schemas.microsoft.com/office/drawing/2014/main" id="{87F13602-FAC4-4399-979E-7D08389DD85A}"/>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D93510F8-798B-4DF0-84A2-B6DFC026B7B5}"/>
              </a:ext>
            </a:extLst>
          </p:cNvPr>
          <p:cNvSpPr>
            <a:spLocks xmlns:a="http://schemas.openxmlformats.org/drawingml/2006/main" noGrp="1"/>
          </p:cNvSpPr>
          <p:nvPr/>
        </p:nvSpPr>
        <p:spPr>
          <a:xfrm xmlns:a="http://schemas.openxmlformats.org/drawingml/2006/main">
            <a:off x="609600" y="6562725"/>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AAB8B0"/>
                </a:solidFill>
                <a:latin typeface="Arial"/>
                <a:ea typeface="Arial"/>
                <a:cs typeface="Arial"/>
              </a:defRPr>
            </a:pPr>
            <a:r>
              <a:rPr sz="900" b="0">
                <a:solidFill>
                  <a:srgbClr val="AAB8B0"/>
                </a:solidFill>
                <a:latin typeface="Arial"/>
                <a:ea typeface="Arial"/>
                <a:cs typeface="Arial"/>
              </a:rPr>
              <a:t>SYNTHETIC DATA  /  UNSUPERVISED DISCOVERY  /  HUMAN EVALUATION</a:t>
            </a:r>
          </a:p>
        </p:txBody>
      </p:sp>
      <p:sp>
        <p:nvSpPr>
          <p:cNvPr id="6" name="Page number">
            <a:extLst xmlns:a="http://schemas.openxmlformats.org/drawingml/2006/main">
              <a:ext uri="{FF2B5EF4-FFF2-40B4-BE49-F238E27FC236}">
                <a16:creationId xmlns:a16="http://schemas.microsoft.com/office/drawing/2014/main" id="{95F8AA71-EA4C-4EF1-94D2-C2E07E56390B}"/>
              </a:ext>
            </a:extLst>
          </p:cNvPr>
          <p:cNvSpPr>
            <a:spLocks xmlns:a="http://schemas.openxmlformats.org/drawingml/2006/main" noGrp="1"/>
          </p:cNvSpPr>
          <p:nvPr/>
        </p:nvSpPr>
        <p:spPr>
          <a:xfrm xmlns:a="http://schemas.openxmlformats.org/drawingml/2006/main">
            <a:off x="11049000" y="65436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9AEBCA"/>
                </a:solidFill>
                <a:latin typeface="Arial"/>
                <a:ea typeface="Arial"/>
                <a:cs typeface="Arial"/>
              </a:defRPr>
            </a:pPr>
            <a:r>
              <a:rPr sz="1050" b="1">
                <a:solidFill>
                  <a:srgbClr val="9AEBCA"/>
                </a:solidFill>
                <a:latin typeface="Arial"/>
                <a:ea typeface="Arial"/>
                <a:cs typeface="Arial"/>
              </a:rPr>
              <a:t>13</a:t>
            </a:r>
          </a:p>
        </p:txBody>
      </p:sp>
      <p:sp>
        <p:nvSpPr>
          <p:cNvPr id="7" name="ML.NET workflow stage">
            <a:extLst xmlns:a="http://schemas.openxmlformats.org/drawingml/2006/main">
              <a:ext uri="{FF2B5EF4-FFF2-40B4-BE49-F238E27FC236}">
                <a16:creationId xmlns:a16="http://schemas.microsoft.com/office/drawing/2014/main" id="{478800EE-6EEA-4309-96A8-F02FE778A2BB}"/>
              </a:ext>
            </a:extLst>
          </p:cNvPr>
          <p:cNvSpPr>
            <a:spLocks xmlns:a="http://schemas.openxmlformats.org/drawingml/2006/main" noGrp="1"/>
          </p:cNvSpPr>
          <p:nvPr/>
        </p:nvSpPr>
        <p:spPr>
          <a:xfrm xmlns:a="http://schemas.openxmlformats.org/drawingml/2006/main">
            <a:off x="609600" y="2295525"/>
            <a:ext cx="2324100" cy="1990725"/>
          </a:xfrm>
          <a:prstGeom xmlns:a="http://schemas.openxmlformats.org/drawingml/2006/main" prst="rect">
            <a:avLst/>
          </a:prstGeom>
          <a:solidFill xmlns:a="http://schemas.openxmlformats.org/drawingml/2006/main">
            <a:srgbClr val="272D29"/>
          </a:solidFill>
          <a:ln xmlns:a="http://schemas.openxmlformats.org/drawingml/2006/main" w="9525">
            <a:solidFill>
              <a:srgbClr val="47534B"/>
            </a:solidFill>
          </a:ln>
        </p:spPr>
      </p:sp>
      <p:sp>
        <p:nvSpPr>
          <p:cNvPr id="8" name="Text">
            <a:extLst xmlns:a="http://schemas.openxmlformats.org/drawingml/2006/main">
              <a:ext uri="{FF2B5EF4-FFF2-40B4-BE49-F238E27FC236}">
                <a16:creationId xmlns:a16="http://schemas.microsoft.com/office/drawing/2014/main" id="{41A544F1-E168-4275-817D-A620F5E263FF}"/>
              </a:ext>
            </a:extLst>
          </p:cNvPr>
          <p:cNvSpPr>
            <a:spLocks xmlns:a="http://schemas.openxmlformats.org/drawingml/2006/main" noGrp="1"/>
          </p:cNvSpPr>
          <p:nvPr/>
        </p:nvSpPr>
        <p:spPr>
          <a:xfrm xmlns:a="http://schemas.openxmlformats.org/drawingml/2006/main">
            <a:off x="762000" y="2486025"/>
            <a:ext cx="20288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JSONL SOURCES</a:t>
            </a:r>
          </a:p>
        </p:txBody>
      </p:sp>
      <p:sp>
        <p:nvSpPr>
          <p:cNvPr id="9" name="Text">
            <a:extLst xmlns:a="http://schemas.openxmlformats.org/drawingml/2006/main">
              <a:ext uri="{FF2B5EF4-FFF2-40B4-BE49-F238E27FC236}">
                <a16:creationId xmlns:a16="http://schemas.microsoft.com/office/drawing/2014/main" id="{39AC723C-748E-486E-A2DB-AE8B0C19B5FA}"/>
              </a:ext>
            </a:extLst>
          </p:cNvPr>
          <p:cNvSpPr>
            <a:spLocks xmlns:a="http://schemas.openxmlformats.org/drawingml/2006/main" noGrp="1"/>
          </p:cNvSpPr>
          <p:nvPr/>
        </p:nvSpPr>
        <p:spPr>
          <a:xfrm xmlns:a="http://schemas.openxmlformats.org/drawingml/2006/main">
            <a:off x="762000" y="2952750"/>
            <a:ext cx="200977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Human gold</a:t>
            </a:r>
          </a:p>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Synthetic descendants</a:t>
            </a:r>
          </a:p>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Unlabeled narratives</a:t>
            </a:r>
          </a:p>
        </p:txBody>
      </p:sp>
      <p:sp>
        <p:nvSpPr>
          <p:cNvPr id="10" name="ML.NET workflow stage">
            <a:extLst xmlns:a="http://schemas.openxmlformats.org/drawingml/2006/main">
              <a:ext uri="{FF2B5EF4-FFF2-40B4-BE49-F238E27FC236}">
                <a16:creationId xmlns:a16="http://schemas.microsoft.com/office/drawing/2014/main" id="{AFF33EAC-1673-42F9-9F0A-86CE0FBD494D}"/>
              </a:ext>
            </a:extLst>
          </p:cNvPr>
          <p:cNvSpPr>
            <a:spLocks xmlns:a="http://schemas.openxmlformats.org/drawingml/2006/main" noGrp="1"/>
          </p:cNvSpPr>
          <p:nvPr/>
        </p:nvSpPr>
        <p:spPr>
          <a:xfrm xmlns:a="http://schemas.openxmlformats.org/drawingml/2006/main">
            <a:off x="3371850" y="2295525"/>
            <a:ext cx="2324100" cy="1990725"/>
          </a:xfrm>
          <a:prstGeom xmlns:a="http://schemas.openxmlformats.org/drawingml/2006/main" prst="rect">
            <a:avLst/>
          </a:prstGeom>
          <a:solidFill xmlns:a="http://schemas.openxmlformats.org/drawingml/2006/main">
            <a:srgbClr val="272D29"/>
          </a:solidFill>
          <a:ln xmlns:a="http://schemas.openxmlformats.org/drawingml/2006/main" w="9525">
            <a:solidFill>
              <a:srgbClr val="47534B"/>
            </a:solidFill>
          </a:ln>
        </p:spPr>
      </p:sp>
      <p:sp>
        <p:nvSpPr>
          <p:cNvPr id="11" name="Text">
            <a:extLst xmlns:a="http://schemas.openxmlformats.org/drawingml/2006/main">
              <a:ext uri="{FF2B5EF4-FFF2-40B4-BE49-F238E27FC236}">
                <a16:creationId xmlns:a16="http://schemas.microsoft.com/office/drawing/2014/main" id="{FC56BDC8-1575-4175-ABF5-A54E4CE7E159}"/>
              </a:ext>
            </a:extLst>
          </p:cNvPr>
          <p:cNvSpPr>
            <a:spLocks xmlns:a="http://schemas.openxmlformats.org/drawingml/2006/main" noGrp="1"/>
          </p:cNvSpPr>
          <p:nvPr/>
        </p:nvSpPr>
        <p:spPr>
          <a:xfrm xmlns:a="http://schemas.openxmlformats.org/drawingml/2006/main">
            <a:off x="3524250" y="2486025"/>
            <a:ext cx="20288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OFFLINE ML.NET</a:t>
            </a:r>
          </a:p>
        </p:txBody>
      </p:sp>
      <p:sp>
        <p:nvSpPr>
          <p:cNvPr id="12" name="Text">
            <a:extLst xmlns:a="http://schemas.openxmlformats.org/drawingml/2006/main">
              <a:ext uri="{FF2B5EF4-FFF2-40B4-BE49-F238E27FC236}">
                <a16:creationId xmlns:a16="http://schemas.microsoft.com/office/drawing/2014/main" id="{E71414A3-2970-435D-A596-E24A5CEE2D8B}"/>
              </a:ext>
            </a:extLst>
          </p:cNvPr>
          <p:cNvSpPr>
            <a:spLocks xmlns:a="http://schemas.openxmlformats.org/drawingml/2006/main" noGrp="1"/>
          </p:cNvSpPr>
          <p:nvPr/>
        </p:nvSpPr>
        <p:spPr>
          <a:xfrm xmlns:a="http://schemas.openxmlformats.org/drawingml/2006/main">
            <a:off x="3524250" y="2952750"/>
            <a:ext cx="200977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Train / grouped eval</a:t>
            </a:r>
          </a:p>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K-Means discovery</a:t>
            </a:r>
          </a:p>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Provenance sidecars</a:t>
            </a:r>
          </a:p>
        </p:txBody>
      </p:sp>
      <p:sp>
        <p:nvSpPr>
          <p:cNvPr id="13" name="ML.NET workflow stage">
            <a:extLst xmlns:a="http://schemas.openxmlformats.org/drawingml/2006/main">
              <a:ext uri="{FF2B5EF4-FFF2-40B4-BE49-F238E27FC236}">
                <a16:creationId xmlns:a16="http://schemas.microsoft.com/office/drawing/2014/main" id="{1205AFE0-8C12-4535-857F-2581CFE544C7}"/>
              </a:ext>
            </a:extLst>
          </p:cNvPr>
          <p:cNvSpPr>
            <a:spLocks xmlns:a="http://schemas.openxmlformats.org/drawingml/2006/main" noGrp="1"/>
          </p:cNvSpPr>
          <p:nvPr/>
        </p:nvSpPr>
        <p:spPr>
          <a:xfrm xmlns:a="http://schemas.openxmlformats.org/drawingml/2006/main">
            <a:off x="6134100" y="2295525"/>
            <a:ext cx="2324100" cy="1990725"/>
          </a:xfrm>
          <a:prstGeom xmlns:a="http://schemas.openxmlformats.org/drawingml/2006/main" prst="rect">
            <a:avLst/>
          </a:prstGeom>
          <a:solidFill xmlns:a="http://schemas.openxmlformats.org/drawingml/2006/main">
            <a:srgbClr val="272D29"/>
          </a:solidFill>
          <a:ln xmlns:a="http://schemas.openxmlformats.org/drawingml/2006/main" w="9525">
            <a:solidFill>
              <a:srgbClr val="47534B"/>
            </a:solidFill>
          </a:ln>
        </p:spPr>
      </p:sp>
      <p:sp>
        <p:nvSpPr>
          <p:cNvPr id="14" name="Text">
            <a:extLst xmlns:a="http://schemas.openxmlformats.org/drawingml/2006/main">
              <a:ext uri="{FF2B5EF4-FFF2-40B4-BE49-F238E27FC236}">
                <a16:creationId xmlns:a16="http://schemas.microsoft.com/office/drawing/2014/main" id="{679FE73A-9018-4DE7-AE69-617A84BC8561}"/>
              </a:ext>
            </a:extLst>
          </p:cNvPr>
          <p:cNvSpPr>
            <a:spLocks xmlns:a="http://schemas.openxmlformats.org/drawingml/2006/main" noGrp="1"/>
          </p:cNvSpPr>
          <p:nvPr/>
        </p:nvSpPr>
        <p:spPr>
          <a:xfrm xmlns:a="http://schemas.openxmlformats.org/drawingml/2006/main">
            <a:off x="6286500" y="2486025"/>
            <a:ext cx="20288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VERSIONED OUTPUTS</a:t>
            </a:r>
          </a:p>
        </p:txBody>
      </p:sp>
      <p:sp>
        <p:nvSpPr>
          <p:cNvPr id="15" name="Text">
            <a:extLst xmlns:a="http://schemas.openxmlformats.org/drawingml/2006/main">
              <a:ext uri="{FF2B5EF4-FFF2-40B4-BE49-F238E27FC236}">
                <a16:creationId xmlns:a16="http://schemas.microsoft.com/office/drawing/2014/main" id="{D85D51C1-CA7C-4899-852E-25CB4FF0E949}"/>
              </a:ext>
            </a:extLst>
          </p:cNvPr>
          <p:cNvSpPr>
            <a:spLocks xmlns:a="http://schemas.openxmlformats.org/drawingml/2006/main" noGrp="1"/>
          </p:cNvSpPr>
          <p:nvPr/>
        </p:nvSpPr>
        <p:spPr>
          <a:xfrm xmlns:a="http://schemas.openxmlformats.org/drawingml/2006/main">
            <a:off x="6286500" y="2952750"/>
            <a:ext cx="200977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Model .zip</a:t>
            </a:r>
          </a:p>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SHA-256 manifest</a:t>
            </a:r>
          </a:p>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Seed and lineage counts</a:t>
            </a:r>
          </a:p>
        </p:txBody>
      </p:sp>
      <p:sp>
        <p:nvSpPr>
          <p:cNvPr id="16" name="ML.NET workflow stage">
            <a:extLst xmlns:a="http://schemas.openxmlformats.org/drawingml/2006/main">
              <a:ext uri="{FF2B5EF4-FFF2-40B4-BE49-F238E27FC236}">
                <a16:creationId xmlns:a16="http://schemas.microsoft.com/office/drawing/2014/main" id="{062AB58F-9EA6-4C6A-9A6F-5F81E27E6C5E}"/>
              </a:ext>
            </a:extLst>
          </p:cNvPr>
          <p:cNvSpPr>
            <a:spLocks xmlns:a="http://schemas.openxmlformats.org/drawingml/2006/main" noGrp="1"/>
          </p:cNvSpPr>
          <p:nvPr/>
        </p:nvSpPr>
        <p:spPr>
          <a:xfrm xmlns:a="http://schemas.openxmlformats.org/drawingml/2006/main">
            <a:off x="8896350" y="2295525"/>
            <a:ext cx="2324100" cy="1990725"/>
          </a:xfrm>
          <a:prstGeom xmlns:a="http://schemas.openxmlformats.org/drawingml/2006/main" prst="rect">
            <a:avLst/>
          </a:prstGeom>
          <a:solidFill xmlns:a="http://schemas.openxmlformats.org/drawingml/2006/main">
            <a:srgbClr val="272D29"/>
          </a:solidFill>
          <a:ln xmlns:a="http://schemas.openxmlformats.org/drawingml/2006/main" w="9525">
            <a:solidFill>
              <a:srgbClr val="47534B"/>
            </a:solidFill>
          </a:ln>
        </p:spPr>
      </p:sp>
      <p:sp>
        <p:nvSpPr>
          <p:cNvPr id="17" name="Text">
            <a:extLst xmlns:a="http://schemas.openxmlformats.org/drawingml/2006/main">
              <a:ext uri="{FF2B5EF4-FFF2-40B4-BE49-F238E27FC236}">
                <a16:creationId xmlns:a16="http://schemas.microsoft.com/office/drawing/2014/main" id="{EF1C39C0-76C8-4158-ADE5-00C38FCF3709}"/>
              </a:ext>
            </a:extLst>
          </p:cNvPr>
          <p:cNvSpPr>
            <a:spLocks xmlns:a="http://schemas.openxmlformats.org/drawingml/2006/main" noGrp="1"/>
          </p:cNvSpPr>
          <p:nvPr/>
        </p:nvSpPr>
        <p:spPr>
          <a:xfrm xmlns:a="http://schemas.openxmlformats.org/drawingml/2006/main">
            <a:off x="9048750" y="2486025"/>
            <a:ext cx="20288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API + REACT</a:t>
            </a:r>
          </a:p>
        </p:txBody>
      </p:sp>
      <p:sp>
        <p:nvSpPr>
          <p:cNvPr id="18" name="Text">
            <a:extLst xmlns:a="http://schemas.openxmlformats.org/drawingml/2006/main">
              <a:ext uri="{FF2B5EF4-FFF2-40B4-BE49-F238E27FC236}">
                <a16:creationId xmlns:a16="http://schemas.microsoft.com/office/drawing/2014/main" id="{1A93DEE3-04CD-47A6-8F11-B07C7414B0F3}"/>
              </a:ext>
            </a:extLst>
          </p:cNvPr>
          <p:cNvSpPr>
            <a:spLocks xmlns:a="http://schemas.openxmlformats.org/drawingml/2006/main" noGrp="1"/>
          </p:cNvSpPr>
          <p:nvPr/>
        </p:nvSpPr>
        <p:spPr>
          <a:xfrm xmlns:a="http://schemas.openxmlformats.org/drawingml/2006/main">
            <a:off x="9048750" y="2952750"/>
            <a:ext cx="200977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Saved artifact loading</a:t>
            </a:r>
          </a:p>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Per-field provenance</a:t>
            </a:r>
          </a:p>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Interactive review</a:t>
            </a:r>
          </a:p>
        </p:txBody>
      </p:sp>
      <p:sp>
        <p:nvSpPr>
          <p:cNvPr id="19" name="Diagram connector">
            <a:extLst xmlns:a="http://schemas.openxmlformats.org/drawingml/2006/main">
              <a:ext uri="{FF2B5EF4-FFF2-40B4-BE49-F238E27FC236}">
                <a16:creationId xmlns:a16="http://schemas.microsoft.com/office/drawing/2014/main" id="{903118A1-4957-44E7-9251-47F61D3BCABF}"/>
              </a:ext>
            </a:extLst>
          </p:cNvPr>
          <p:cNvSpPr>
            <a:spLocks xmlns:a="http://schemas.openxmlformats.org/drawingml/2006/main" noGrp="1"/>
          </p:cNvSpPr>
          <p:nvPr/>
        </p:nvSpPr>
        <p:spPr>
          <a:xfrm xmlns:a="http://schemas.openxmlformats.org/drawingml/2006/main">
            <a:off x="2962275" y="3276600"/>
            <a:ext cx="361950" cy="19050"/>
          </a:xfrm>
          <a:prstGeom xmlns:a="http://schemas.openxmlformats.org/drawingml/2006/main" prst="rect">
            <a:avLst/>
          </a:prstGeom>
          <a:solidFill xmlns:a="http://schemas.openxmlformats.org/drawingml/2006/main">
            <a:srgbClr val="62DDA8"/>
          </a:solidFill>
          <a:ln xmlns:a="http://schemas.openxmlformats.org/drawingml/2006/main" w="0">
            <a:noFill/>
          </a:ln>
        </p:spPr>
      </p:sp>
      <p:sp>
        <p:nvSpPr>
          <p:cNvPr id="20" name="Diagram connector">
            <a:extLst xmlns:a="http://schemas.openxmlformats.org/drawingml/2006/main">
              <a:ext uri="{FF2B5EF4-FFF2-40B4-BE49-F238E27FC236}">
                <a16:creationId xmlns:a16="http://schemas.microsoft.com/office/drawing/2014/main" id="{FFE5791E-1055-49DD-88DA-961647178BA0}"/>
              </a:ext>
            </a:extLst>
          </p:cNvPr>
          <p:cNvSpPr>
            <a:spLocks xmlns:a="http://schemas.openxmlformats.org/drawingml/2006/main" noGrp="1"/>
          </p:cNvSpPr>
          <p:nvPr/>
        </p:nvSpPr>
        <p:spPr>
          <a:xfrm xmlns:a="http://schemas.openxmlformats.org/drawingml/2006/main">
            <a:off x="5724525" y="3276600"/>
            <a:ext cx="361950" cy="19050"/>
          </a:xfrm>
          <a:prstGeom xmlns:a="http://schemas.openxmlformats.org/drawingml/2006/main" prst="rect">
            <a:avLst/>
          </a:prstGeom>
          <a:solidFill xmlns:a="http://schemas.openxmlformats.org/drawingml/2006/main">
            <a:srgbClr val="62DDA8"/>
          </a:solidFill>
          <a:ln xmlns:a="http://schemas.openxmlformats.org/drawingml/2006/main" w="0">
            <a:noFill/>
          </a:ln>
        </p:spPr>
      </p:sp>
      <p:sp>
        <p:nvSpPr>
          <p:cNvPr id="21" name="Diagram connector">
            <a:extLst xmlns:a="http://schemas.openxmlformats.org/drawingml/2006/main">
              <a:ext uri="{FF2B5EF4-FFF2-40B4-BE49-F238E27FC236}">
                <a16:creationId xmlns:a16="http://schemas.microsoft.com/office/drawing/2014/main" id="{36FE1751-876E-4793-9AD3-E638B6F86C53}"/>
              </a:ext>
            </a:extLst>
          </p:cNvPr>
          <p:cNvSpPr>
            <a:spLocks xmlns:a="http://schemas.openxmlformats.org/drawingml/2006/main" noGrp="1"/>
          </p:cNvSpPr>
          <p:nvPr/>
        </p:nvSpPr>
        <p:spPr>
          <a:xfrm xmlns:a="http://schemas.openxmlformats.org/drawingml/2006/main">
            <a:off x="8486775" y="3276600"/>
            <a:ext cx="361950" cy="19050"/>
          </a:xfrm>
          <a:prstGeom xmlns:a="http://schemas.openxmlformats.org/drawingml/2006/main" prst="rect">
            <a:avLst/>
          </a:prstGeom>
          <a:solidFill xmlns:a="http://schemas.openxmlformats.org/drawingml/2006/main">
            <a:srgbClr val="62DDA8"/>
          </a:solidFill>
          <a:ln xmlns:a="http://schemas.openxmlformats.org/drawingml/2006/main" w="0">
            <a:noFill/>
          </a:ln>
        </p:spPr>
      </p:sp>
      <p:sp>
        <p:nvSpPr>
          <p:cNvPr id="22" name="Section rule">
            <a:extLst xmlns:a="http://schemas.openxmlformats.org/drawingml/2006/main">
              <a:ext uri="{FF2B5EF4-FFF2-40B4-BE49-F238E27FC236}">
                <a16:creationId xmlns:a16="http://schemas.microsoft.com/office/drawing/2014/main" id="{CF3A3767-65E6-4DA7-9D9E-2BE5A468EF5E}"/>
              </a:ext>
            </a:extLst>
          </p:cNvPr>
          <p:cNvSpPr>
            <a:spLocks xmlns:a="http://schemas.openxmlformats.org/drawingml/2006/main" noGrp="1"/>
          </p:cNvSpPr>
          <p:nvPr/>
        </p:nvSpPr>
        <p:spPr>
          <a:xfrm xmlns:a="http://schemas.openxmlformats.org/drawingml/2006/main">
            <a:off x="609600" y="479107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23" name="Text">
            <a:extLst xmlns:a="http://schemas.openxmlformats.org/drawingml/2006/main">
              <a:ext uri="{FF2B5EF4-FFF2-40B4-BE49-F238E27FC236}">
                <a16:creationId xmlns:a16="http://schemas.microsoft.com/office/drawing/2014/main" id="{BCECC5F3-5F99-4A51-BEF6-23BA68435B28}"/>
              </a:ext>
            </a:extLst>
          </p:cNvPr>
          <p:cNvSpPr>
            <a:spLocks xmlns:a="http://schemas.openxmlformats.org/drawingml/2006/main" noGrp="1"/>
          </p:cNvSpPr>
          <p:nvPr/>
        </p:nvSpPr>
        <p:spPr>
          <a:xfrm xmlns:a="http://schemas.openxmlformats.org/drawingml/2006/main">
            <a:off x="609600" y="508635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62DDA8"/>
                </a:solidFill>
                <a:latin typeface="Arial"/>
                <a:ea typeface="Arial"/>
                <a:cs typeface="Arial"/>
              </a:defRPr>
            </a:pPr>
            <a:r>
              <a:rPr sz="1350" b="1">
                <a:solidFill>
                  <a:srgbClr val="62DDA8"/>
                </a:solidFill>
                <a:latin typeface="Arial"/>
                <a:ea typeface="Arial"/>
                <a:cs typeface="Arial"/>
              </a:rPr>
              <a:t>Deployment setting</a:t>
            </a:r>
          </a:p>
        </p:txBody>
      </p:sp>
      <p:sp>
        <p:nvSpPr>
          <p:cNvPr id="24" name="Text">
            <a:extLst xmlns:a="http://schemas.openxmlformats.org/drawingml/2006/main">
              <a:ext uri="{FF2B5EF4-FFF2-40B4-BE49-F238E27FC236}">
                <a16:creationId xmlns:a16="http://schemas.microsoft.com/office/drawing/2014/main" id="{BD535E6C-A4FE-4CBE-99C3-E1AD5A40B744}"/>
              </a:ext>
            </a:extLst>
          </p:cNvPr>
          <p:cNvSpPr>
            <a:spLocks xmlns:a="http://schemas.openxmlformats.org/drawingml/2006/main" noGrp="1"/>
          </p:cNvSpPr>
          <p:nvPr/>
        </p:nvSpPr>
        <p:spPr>
          <a:xfrm xmlns:a="http://schemas.openxmlformats.org/drawingml/2006/main">
            <a:off x="2667000" y="5019675"/>
            <a:ext cx="8334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TYM_MODEL_DIR loads both English artifacts. Without saved artifacts, the API uses its built-in seed baselines. Romanian extraction remains rule-based.</a:t>
            </a:r>
          </a:p>
        </p:txBody>
      </p:sp>
    </p:spTree>
    <p:extLst>
      <p:ext uri="{BB962C8B-B14F-4D97-AF65-F5344CB8AC3E}">
        <p14:creationId xmlns:p14="http://schemas.microsoft.com/office/powerpoint/2010/main" val="1867254512"/>
      </p:ext>
    </p:extLst>
  </p:cSld>
</p:sld>
</file>

<file path=ppt/slides/slide14.xml><?xml version="1.0" encoding="utf-8"?>
<p:sld xmlns:p="http://schemas.openxmlformats.org/presentationml/2006/main">
  <p:cSld>
    <p:bg>
      <p:bgPr>
        <a:solidFill xmlns:a="http://schemas.openxmlformats.org/drawingml/2006/main">
          <a:srgbClr val="202522"/>
        </a:solidFill>
      </p:bgPr>
    </p:bg>
    <p:spTree>
      <p:nvGrpSpPr>
        <p:cNvPr id="1" name=""/>
        <p:cNvGrpSpPr/>
        <p:nvPr/>
      </p:nvGrpSpPr>
      <p:grpSpPr>
        <a:xfrm xmlns:a="http://schemas.openxmlformats.org/drawingml/2006/main"/>
      </p:grpSpPr>
      <p:sp>
        <p:nvSpPr>
          <p:cNvPr id="19" name="Section label">
            <a:extLst xmlns:a="http://schemas.openxmlformats.org/drawingml/2006/main">
              <a:ext uri="{FF2B5EF4-FFF2-40B4-BE49-F238E27FC236}">
                <a16:creationId xmlns:a16="http://schemas.microsoft.com/office/drawing/2014/main" id="{C9058BD4-1319-489E-962C-4D64EB33D7CC}"/>
              </a:ext>
            </a:extLst>
          </p:cNvPr>
          <p:cNvSpPr>
            <a:spLocks xmlns:a="http://schemas.openxmlformats.org/drawingml/2006/main" noGrp="1"/>
          </p:cNvSpPr>
          <p:nvPr/>
        </p:nvSpPr>
        <p:spPr>
          <a:xfrm xmlns:a="http://schemas.openxmlformats.org/drawingml/2006/main">
            <a:off x="609600" y="2571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  ENGINEERING</a:t>
            </a:r>
          </a:p>
        </p:txBody>
      </p:sp>
      <p:sp>
        <p:nvSpPr>
          <p:cNvPr id="2" name="Slide title">
            <a:extLst xmlns:a="http://schemas.openxmlformats.org/drawingml/2006/main">
              <a:ext uri="{FF2B5EF4-FFF2-40B4-BE49-F238E27FC236}">
                <a16:creationId xmlns:a16="http://schemas.microsoft.com/office/drawing/2014/main" id="{6588FB39-8C5F-483E-AC3C-01A6B46A8E0B}"/>
              </a:ext>
            </a:extLst>
          </p:cNvPr>
          <p:cNvSpPr>
            <a:spLocks xmlns:a="http://schemas.openxmlformats.org/drawingml/2006/main" noGrp="1"/>
          </p:cNvSpPr>
          <p:nvPr/>
        </p:nvSpPr>
        <p:spPr>
          <a:xfrm xmlns:a="http://schemas.openxmlformats.org/drawingml/2006/main">
            <a:off x="609600" y="5810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75" b="1">
                <a:solidFill>
                  <a:srgbClr val="F3F6F4"/>
                </a:solidFill>
                <a:latin typeface="Arial"/>
                <a:ea typeface="Arial"/>
                <a:cs typeface="Arial"/>
              </a:defRPr>
            </a:pPr>
            <a:r>
              <a:rPr sz="3075" b="1">
                <a:solidFill>
                  <a:srgbClr val="F3F6F4"/>
                </a:solidFill>
                <a:latin typeface="Arial"/>
                <a:ea typeface="Arial"/>
                <a:cs typeface="Arial"/>
              </a:rPr>
              <a:t>React workbench supports interactive inspection</a:t>
            </a:r>
          </a:p>
        </p:txBody>
      </p:sp>
      <p:sp>
        <p:nvSpPr>
          <p:cNvPr id="3" name="Section rule">
            <a:extLst xmlns:a="http://schemas.openxmlformats.org/drawingml/2006/main">
              <a:ext uri="{FF2B5EF4-FFF2-40B4-BE49-F238E27FC236}">
                <a16:creationId xmlns:a16="http://schemas.microsoft.com/office/drawing/2014/main" id="{BBB5B092-F6C6-4C18-95E3-1C91BDA1DF9E}"/>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4" name="Section rule">
            <a:extLst xmlns:a="http://schemas.openxmlformats.org/drawingml/2006/main">
              <a:ext uri="{FF2B5EF4-FFF2-40B4-BE49-F238E27FC236}">
                <a16:creationId xmlns:a16="http://schemas.microsoft.com/office/drawing/2014/main" id="{87B0E676-3115-4CAF-AAE3-C4D40AE2133F}"/>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7719394C-63C8-4DDF-AEF0-CCA9EFC7EAFB}"/>
              </a:ext>
            </a:extLst>
          </p:cNvPr>
          <p:cNvSpPr>
            <a:spLocks xmlns:a="http://schemas.openxmlformats.org/drawingml/2006/main" noGrp="1"/>
          </p:cNvSpPr>
          <p:nvPr/>
        </p:nvSpPr>
        <p:spPr>
          <a:xfrm xmlns:a="http://schemas.openxmlformats.org/drawingml/2006/main">
            <a:off x="609600" y="6562725"/>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AAB8B0"/>
                </a:solidFill>
                <a:latin typeface="Arial"/>
                <a:ea typeface="Arial"/>
                <a:cs typeface="Arial"/>
              </a:defRPr>
            </a:pPr>
            <a:r>
              <a:rPr sz="900" b="0">
                <a:solidFill>
                  <a:srgbClr val="AAB8B0"/>
                </a:solidFill>
                <a:latin typeface="Arial"/>
                <a:ea typeface="Arial"/>
                <a:cs typeface="Arial"/>
              </a:rPr>
              <a:t>SYNTHETIC DATA  /  UNSUPERVISED DISCOVERY  /  HUMAN EVALUATION</a:t>
            </a:r>
          </a:p>
        </p:txBody>
      </p:sp>
      <p:sp>
        <p:nvSpPr>
          <p:cNvPr id="6" name="Page number">
            <a:extLst xmlns:a="http://schemas.openxmlformats.org/drawingml/2006/main">
              <a:ext uri="{FF2B5EF4-FFF2-40B4-BE49-F238E27FC236}">
                <a16:creationId xmlns:a16="http://schemas.microsoft.com/office/drawing/2014/main" id="{0CFC1049-3FC6-466E-B5A9-BD5D2C453C97}"/>
              </a:ext>
            </a:extLst>
          </p:cNvPr>
          <p:cNvSpPr>
            <a:spLocks xmlns:a="http://schemas.openxmlformats.org/drawingml/2006/main" noGrp="1"/>
          </p:cNvSpPr>
          <p:nvPr/>
        </p:nvSpPr>
        <p:spPr>
          <a:xfrm xmlns:a="http://schemas.openxmlformats.org/drawingml/2006/main">
            <a:off x="11049000" y="65436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9AEBCA"/>
                </a:solidFill>
                <a:latin typeface="Arial"/>
                <a:ea typeface="Arial"/>
                <a:cs typeface="Arial"/>
              </a:defRPr>
            </a:pPr>
            <a:r>
              <a:rPr sz="1050" b="1">
                <a:solidFill>
                  <a:srgbClr val="9AEBCA"/>
                </a:solidFill>
                <a:latin typeface="Arial"/>
                <a:ea typeface="Arial"/>
                <a:cs typeface="Arial"/>
              </a:rPr>
              <a:t>14</a:t>
            </a:r>
          </a:p>
        </p:txBody>
      </p:sp>
      <p:sp>
        <p:nvSpPr>
          <p:cNvPr id="7" name="Text">
            <a:extLst xmlns:a="http://schemas.openxmlformats.org/drawingml/2006/main">
              <a:ext uri="{FF2B5EF4-FFF2-40B4-BE49-F238E27FC236}">
                <a16:creationId xmlns:a16="http://schemas.microsoft.com/office/drawing/2014/main" id="{CA440450-81D4-46F0-B624-FF0618B78543}"/>
              </a:ext>
            </a:extLst>
          </p:cNvPr>
          <p:cNvSpPr>
            <a:spLocks xmlns:a="http://schemas.openxmlformats.org/drawingml/2006/main" noGrp="1"/>
          </p:cNvSpPr>
          <p:nvPr/>
        </p:nvSpPr>
        <p:spPr>
          <a:xfrm xmlns:a="http://schemas.openxmlformats.org/drawingml/2006/main">
            <a:off x="609600" y="1933575"/>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2DDA8"/>
                </a:solidFill>
                <a:latin typeface="Arial"/>
                <a:ea typeface="Arial"/>
                <a:cs typeface="Arial"/>
              </a:defRPr>
            </a:pPr>
            <a:r>
              <a:rPr sz="1200" b="1">
                <a:solidFill>
                  <a:srgbClr val="62DDA8"/>
                </a:solidFill>
                <a:latin typeface="Arial"/>
                <a:ea typeface="Arial"/>
                <a:cs typeface="Arial"/>
              </a:rPr>
              <a:t>ANALYZE</a:t>
            </a:r>
          </a:p>
        </p:txBody>
      </p:sp>
      <p:sp>
        <p:nvSpPr>
          <p:cNvPr id="8" name="Text">
            <a:extLst xmlns:a="http://schemas.openxmlformats.org/drawingml/2006/main">
              <a:ext uri="{FF2B5EF4-FFF2-40B4-BE49-F238E27FC236}">
                <a16:creationId xmlns:a16="http://schemas.microsoft.com/office/drawing/2014/main" id="{07A3BCFF-3980-4898-8DAA-66A8A00283CF}"/>
              </a:ext>
            </a:extLst>
          </p:cNvPr>
          <p:cNvSpPr>
            <a:spLocks xmlns:a="http://schemas.openxmlformats.org/drawingml/2006/main" noGrp="1"/>
          </p:cNvSpPr>
          <p:nvPr/>
        </p:nvSpPr>
        <p:spPr>
          <a:xfrm xmlns:a="http://schemas.openxmlformats.org/drawingml/2006/main">
            <a:off x="609600" y="2324100"/>
            <a:ext cx="2714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238"/>
          </a:bodyPr>
          <a:lstStyle xmlns:a="http://schemas.openxmlformats.org/drawingml/2006/main"/>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Select English or Romanian text.</a:t>
            </a:r>
          </a:p>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Generate SVG, JSON, XML, or TimeML output.</a:t>
            </a:r>
          </a:p>
        </p:txBody>
      </p:sp>
      <p:sp>
        <p:nvSpPr>
          <p:cNvPr id="9" name="Section rule">
            <a:extLst xmlns:a="http://schemas.openxmlformats.org/drawingml/2006/main">
              <a:ext uri="{FF2B5EF4-FFF2-40B4-BE49-F238E27FC236}">
                <a16:creationId xmlns:a16="http://schemas.microsoft.com/office/drawing/2014/main" id="{0474B1DB-80A7-42A3-8B7A-9EF1B171E646}"/>
              </a:ext>
            </a:extLst>
          </p:cNvPr>
          <p:cNvSpPr>
            <a:spLocks xmlns:a="http://schemas.openxmlformats.org/drawingml/2006/main" noGrp="1"/>
          </p:cNvSpPr>
          <p:nvPr/>
        </p:nvSpPr>
        <p:spPr>
          <a:xfrm xmlns:a="http://schemas.openxmlformats.org/drawingml/2006/main">
            <a:off x="609600" y="3600450"/>
            <a:ext cx="30099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0" name="Text">
            <a:extLst xmlns:a="http://schemas.openxmlformats.org/drawingml/2006/main">
              <a:ext uri="{FF2B5EF4-FFF2-40B4-BE49-F238E27FC236}">
                <a16:creationId xmlns:a16="http://schemas.microsoft.com/office/drawing/2014/main" id="{2BCD9D63-7140-41ED-BE84-A74B6CA7BCCE}"/>
              </a:ext>
            </a:extLst>
          </p:cNvPr>
          <p:cNvSpPr>
            <a:spLocks xmlns:a="http://schemas.openxmlformats.org/drawingml/2006/main" noGrp="1"/>
          </p:cNvSpPr>
          <p:nvPr/>
        </p:nvSpPr>
        <p:spPr>
          <a:xfrm xmlns:a="http://schemas.openxmlformats.org/drawingml/2006/main">
            <a:off x="609600" y="38290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2DDA8"/>
                </a:solidFill>
                <a:latin typeface="Arial"/>
                <a:ea typeface="Arial"/>
                <a:cs typeface="Arial"/>
              </a:defRPr>
            </a:pPr>
            <a:r>
              <a:rPr sz="1200" b="1">
                <a:solidFill>
                  <a:srgbClr val="62DDA8"/>
                </a:solidFill>
                <a:latin typeface="Arial"/>
                <a:ea typeface="Arial"/>
                <a:cs typeface="Arial"/>
              </a:rPr>
              <a:t>FILTER</a:t>
            </a:r>
          </a:p>
        </p:txBody>
      </p:sp>
      <p:sp>
        <p:nvSpPr>
          <p:cNvPr id="11" name="Text">
            <a:extLst xmlns:a="http://schemas.openxmlformats.org/drawingml/2006/main">
              <a:ext uri="{FF2B5EF4-FFF2-40B4-BE49-F238E27FC236}">
                <a16:creationId xmlns:a16="http://schemas.microsoft.com/office/drawing/2014/main" id="{F27372C8-2F32-4B3F-B1B0-002C265B968F}"/>
              </a:ext>
            </a:extLst>
          </p:cNvPr>
          <p:cNvSpPr>
            <a:spLocks xmlns:a="http://schemas.openxmlformats.org/drawingml/2006/main" noGrp="1"/>
          </p:cNvSpPr>
          <p:nvPr/>
        </p:nvSpPr>
        <p:spPr>
          <a:xfrm xmlns:a="http://schemas.openxmlformats.org/drawingml/2006/main">
            <a:off x="609600" y="4219575"/>
            <a:ext cx="27146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259"/>
          </a:bodyPr>
          <a:lstStyle xmlns:a="http://schemas.openxmlformats.org/drawingml/2006/main"/>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Narrow events by temporal category, actor, and confidence.</a:t>
            </a:r>
          </a:p>
        </p:txBody>
      </p:sp>
      <p:sp>
        <p:nvSpPr>
          <p:cNvPr id="12" name="Section rule">
            <a:extLst xmlns:a="http://schemas.openxmlformats.org/drawingml/2006/main">
              <a:ext uri="{FF2B5EF4-FFF2-40B4-BE49-F238E27FC236}">
                <a16:creationId xmlns:a16="http://schemas.microsoft.com/office/drawing/2014/main" id="{78C377DC-8061-4D1B-93F1-EED6CCFECA1E}"/>
              </a:ext>
            </a:extLst>
          </p:cNvPr>
          <p:cNvSpPr>
            <a:spLocks xmlns:a="http://schemas.openxmlformats.org/drawingml/2006/main" noGrp="1"/>
          </p:cNvSpPr>
          <p:nvPr/>
        </p:nvSpPr>
        <p:spPr>
          <a:xfrm xmlns:a="http://schemas.openxmlformats.org/drawingml/2006/main">
            <a:off x="4067175" y="1885950"/>
            <a:ext cx="9525" cy="0"/>
          </a:xfrm>
          <a:prstGeom xmlns:a="http://schemas.openxmlformats.org/drawingml/2006/main" prst="rect">
            <a:avLst/>
          </a:prstGeom>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08237828-7125-436E-BE42-21CE088FF4FB}"/>
              </a:ext>
            </a:extLst>
          </p:cNvPr>
          <p:cNvSpPr>
            <a:spLocks xmlns:a="http://schemas.openxmlformats.org/drawingml/2006/main" noGrp="1"/>
          </p:cNvSpPr>
          <p:nvPr/>
        </p:nvSpPr>
        <p:spPr>
          <a:xfrm xmlns:a="http://schemas.openxmlformats.org/drawingml/2006/main">
            <a:off x="4638675" y="1933575"/>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2DDA8"/>
                </a:solidFill>
                <a:latin typeface="Arial"/>
                <a:ea typeface="Arial"/>
                <a:cs typeface="Arial"/>
              </a:defRPr>
            </a:pPr>
            <a:r>
              <a:rPr sz="1200" b="1">
                <a:solidFill>
                  <a:srgbClr val="62DDA8"/>
                </a:solidFill>
                <a:latin typeface="Arial"/>
                <a:ea typeface="Arial"/>
                <a:cs typeface="Arial"/>
              </a:rPr>
              <a:t>INSPECT</a:t>
            </a:r>
          </a:p>
        </p:txBody>
      </p:sp>
      <p:sp>
        <p:nvSpPr>
          <p:cNvPr id="14" name="Text">
            <a:extLst xmlns:a="http://schemas.openxmlformats.org/drawingml/2006/main">
              <a:ext uri="{FF2B5EF4-FFF2-40B4-BE49-F238E27FC236}">
                <a16:creationId xmlns:a16="http://schemas.microsoft.com/office/drawing/2014/main" id="{1FCD8DA0-E23D-439D-BF07-70F135F6886A}"/>
              </a:ext>
            </a:extLst>
          </p:cNvPr>
          <p:cNvSpPr>
            <a:spLocks xmlns:a="http://schemas.openxmlformats.org/drawingml/2006/main" noGrp="1"/>
          </p:cNvSpPr>
          <p:nvPr/>
        </p:nvSpPr>
        <p:spPr>
          <a:xfrm xmlns:a="http://schemas.openxmlformats.org/drawingml/2006/main">
            <a:off x="4638675" y="2324100"/>
            <a:ext cx="59817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a:solidFill>
                  <a:srgbClr val="F3F6F4"/>
                </a:solidFill>
                <a:latin typeface="Arial"/>
                <a:ea typeface="Arial"/>
                <a:cs typeface="Arial"/>
              </a:defRPr>
            </a:pPr>
            <a:r>
              <a:rPr sz="1725" b="0">
                <a:solidFill>
                  <a:srgbClr val="F3F6F4"/>
                </a:solidFill>
                <a:latin typeface="Arial"/>
                <a:ea typeface="Arial"/>
                <a:cs typeface="Arial"/>
              </a:rPr>
              <a:t>Select an event or segment to highlight its source span. Open the detail view for anchors, actors, relation cues, classifier confidence, and provenance.</a:t>
            </a:r>
          </a:p>
        </p:txBody>
      </p:sp>
      <p:sp>
        <p:nvSpPr>
          <p:cNvPr id="15" name="Section rule">
            <a:extLst xmlns:a="http://schemas.openxmlformats.org/drawingml/2006/main">
              <a:ext uri="{FF2B5EF4-FFF2-40B4-BE49-F238E27FC236}">
                <a16:creationId xmlns:a16="http://schemas.microsoft.com/office/drawing/2014/main" id="{E3310D53-A1EB-4C0F-ACBC-3CAEAC815423}"/>
              </a:ext>
            </a:extLst>
          </p:cNvPr>
          <p:cNvSpPr>
            <a:spLocks xmlns:a="http://schemas.openxmlformats.org/drawingml/2006/main" noGrp="1"/>
          </p:cNvSpPr>
          <p:nvPr/>
        </p:nvSpPr>
        <p:spPr>
          <a:xfrm xmlns:a="http://schemas.openxmlformats.org/drawingml/2006/main">
            <a:off x="4638675" y="3600450"/>
            <a:ext cx="600075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6" name="Text">
            <a:extLst xmlns:a="http://schemas.openxmlformats.org/drawingml/2006/main">
              <a:ext uri="{FF2B5EF4-FFF2-40B4-BE49-F238E27FC236}">
                <a16:creationId xmlns:a16="http://schemas.microsoft.com/office/drawing/2014/main" id="{814AFF09-686F-4706-A11F-54C6091960DA}"/>
              </a:ext>
            </a:extLst>
          </p:cNvPr>
          <p:cNvSpPr>
            <a:spLocks xmlns:a="http://schemas.openxmlformats.org/drawingml/2006/main" noGrp="1"/>
          </p:cNvSpPr>
          <p:nvPr/>
        </p:nvSpPr>
        <p:spPr>
          <a:xfrm xmlns:a="http://schemas.openxmlformats.org/drawingml/2006/main">
            <a:off x="4638675" y="38290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2DDA8"/>
                </a:solidFill>
                <a:latin typeface="Arial"/>
                <a:ea typeface="Arial"/>
                <a:cs typeface="Arial"/>
              </a:defRPr>
            </a:pPr>
            <a:r>
              <a:rPr sz="1200" b="1">
                <a:solidFill>
                  <a:srgbClr val="62DDA8"/>
                </a:solidFill>
                <a:latin typeface="Arial"/>
                <a:ea typeface="Arial"/>
                <a:cs typeface="Arial"/>
              </a:rPr>
              <a:t>REVIEW</a:t>
            </a:r>
          </a:p>
        </p:txBody>
      </p:sp>
      <p:sp>
        <p:nvSpPr>
          <p:cNvPr id="17" name="Text">
            <a:extLst xmlns:a="http://schemas.openxmlformats.org/drawingml/2006/main">
              <a:ext uri="{FF2B5EF4-FFF2-40B4-BE49-F238E27FC236}">
                <a16:creationId xmlns:a16="http://schemas.microsoft.com/office/drawing/2014/main" id="{14A8BBE2-B35E-40B9-B365-1E2FEB48790B}"/>
              </a:ext>
            </a:extLst>
          </p:cNvPr>
          <p:cNvSpPr>
            <a:spLocks xmlns:a="http://schemas.openxmlformats.org/drawingml/2006/main" noGrp="1"/>
          </p:cNvSpPr>
          <p:nvPr/>
        </p:nvSpPr>
        <p:spPr>
          <a:xfrm xmlns:a="http://schemas.openxmlformats.org/drawingml/2006/main">
            <a:off x="4638675" y="4219575"/>
            <a:ext cx="5981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Use the evidence panel to find low-confidence or under-covered phenomena and draft the next annotation batch.</a:t>
            </a:r>
          </a:p>
        </p:txBody>
      </p:sp>
      <p:sp>
        <p:nvSpPr>
          <p:cNvPr id="18" name="Text">
            <a:extLst xmlns:a="http://schemas.openxmlformats.org/drawingml/2006/main">
              <a:ext uri="{FF2B5EF4-FFF2-40B4-BE49-F238E27FC236}">
                <a16:creationId xmlns:a16="http://schemas.microsoft.com/office/drawing/2014/main" id="{A05E5AD7-90CC-4414-96C8-3B4DA6059F5B}"/>
              </a:ext>
            </a:extLst>
          </p:cNvPr>
          <p:cNvSpPr>
            <a:spLocks xmlns:a="http://schemas.openxmlformats.org/drawingml/2006/main" noGrp="1"/>
          </p:cNvSpPr>
          <p:nvPr/>
        </p:nvSpPr>
        <p:spPr>
          <a:xfrm xmlns:a="http://schemas.openxmlformats.org/drawingml/2006/main">
            <a:off x="609600" y="5486400"/>
            <a:ext cx="10287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0C36A"/>
                </a:solidFill>
                <a:latin typeface="Arial"/>
                <a:ea typeface="Arial"/>
                <a:cs typeface="Arial"/>
              </a:defRPr>
            </a:pPr>
            <a:r>
              <a:rPr sz="1425" b="1">
                <a:solidFill>
                  <a:srgbClr val="F0C36A"/>
                </a:solidFill>
                <a:latin typeface="Arial"/>
                <a:ea typeface="Arial"/>
                <a:cs typeface="Arial"/>
              </a:rPr>
              <a:t>The workbench makes model evidence inspectable; it does not replace annotation or adjudication.</a:t>
            </a:r>
          </a:p>
        </p:txBody>
      </p:sp>
    </p:spTree>
    <p:extLst>
      <p:ext uri="{BB962C8B-B14F-4D97-AF65-F5344CB8AC3E}">
        <p14:creationId xmlns:p14="http://schemas.microsoft.com/office/powerpoint/2010/main" val="253185639"/>
      </p:ext>
    </p:extLst>
  </p:cSld>
</p:sld>
</file>

<file path=ppt/slides/slide15.xml><?xml version="1.0" encoding="utf-8"?>
<p:sld xmlns:p="http://schemas.openxmlformats.org/presentationml/2006/main">
  <p:cSld>
    <p:bg>
      <p:bgPr>
        <a:solidFill xmlns:a="http://schemas.openxmlformats.org/drawingml/2006/main">
          <a:srgbClr val="202522"/>
        </a:solidFill>
      </p:bgPr>
    </p:bg>
    <p:spTree>
      <p:nvGrpSpPr>
        <p:cNvPr id="1" name=""/>
        <p:cNvGrpSpPr/>
        <p:nvPr/>
      </p:nvGrpSpPr>
      <p:grpSpPr>
        <a:xfrm xmlns:a="http://schemas.openxmlformats.org/drawingml/2006/main"/>
      </p:grpSpPr>
      <p:sp>
        <p:nvSpPr>
          <p:cNvPr id="37" name="Section label">
            <a:extLst xmlns:a="http://schemas.openxmlformats.org/drawingml/2006/main">
              <a:ext uri="{FF2B5EF4-FFF2-40B4-BE49-F238E27FC236}">
                <a16:creationId xmlns:a16="http://schemas.microsoft.com/office/drawing/2014/main" id="{CA7156A4-F0D5-4E3F-85EE-C96FC8AB85AD}"/>
              </a:ext>
            </a:extLst>
          </p:cNvPr>
          <p:cNvSpPr>
            <a:spLocks xmlns:a="http://schemas.openxmlformats.org/drawingml/2006/main" noGrp="1"/>
          </p:cNvSpPr>
          <p:nvPr/>
        </p:nvSpPr>
        <p:spPr>
          <a:xfrm xmlns:a="http://schemas.openxmlformats.org/drawingml/2006/main">
            <a:off x="609600" y="2571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  VENUE STRATEGY</a:t>
            </a:r>
          </a:p>
        </p:txBody>
      </p:sp>
      <p:sp>
        <p:nvSpPr>
          <p:cNvPr id="2" name="Slide title">
            <a:extLst xmlns:a="http://schemas.openxmlformats.org/drawingml/2006/main">
              <a:ext uri="{FF2B5EF4-FFF2-40B4-BE49-F238E27FC236}">
                <a16:creationId xmlns:a16="http://schemas.microsoft.com/office/drawing/2014/main" id="{A6A41352-F113-4521-A124-E90036959D41}"/>
              </a:ext>
            </a:extLst>
          </p:cNvPr>
          <p:cNvSpPr>
            <a:spLocks xmlns:a="http://schemas.openxmlformats.org/drawingml/2006/main" noGrp="1"/>
          </p:cNvSpPr>
          <p:nvPr/>
        </p:nvSpPr>
        <p:spPr>
          <a:xfrm xmlns:a="http://schemas.openxmlformats.org/drawingml/2006/main">
            <a:off x="609600" y="5810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75" b="1">
                <a:solidFill>
                  <a:srgbClr val="F3F6F4"/>
                </a:solidFill>
                <a:latin typeface="Arial"/>
                <a:ea typeface="Arial"/>
                <a:cs typeface="Arial"/>
              </a:defRPr>
            </a:pPr>
            <a:r>
              <a:rPr sz="3075" b="1">
                <a:solidFill>
                  <a:srgbClr val="F3F6F4"/>
                </a:solidFill>
                <a:latin typeface="Arial"/>
                <a:ea typeface="Arial"/>
                <a:cs typeface="Arial"/>
              </a:rPr>
              <a:t>2027 conference calendar and key gates</a:t>
            </a:r>
          </a:p>
        </p:txBody>
      </p:sp>
      <p:sp>
        <p:nvSpPr>
          <p:cNvPr id="3" name="Section rule">
            <a:extLst xmlns:a="http://schemas.openxmlformats.org/drawingml/2006/main">
              <a:ext uri="{FF2B5EF4-FFF2-40B4-BE49-F238E27FC236}">
                <a16:creationId xmlns:a16="http://schemas.microsoft.com/office/drawing/2014/main" id="{25DAC5F9-B3B2-4F01-995A-3F0281A1D2C8}"/>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4" name="Section rule">
            <a:extLst xmlns:a="http://schemas.openxmlformats.org/drawingml/2006/main">
              <a:ext uri="{FF2B5EF4-FFF2-40B4-BE49-F238E27FC236}">
                <a16:creationId xmlns:a16="http://schemas.microsoft.com/office/drawing/2014/main" id="{56ACE40C-FAA2-4A62-833A-79E6B2F716C1}"/>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36495667-16CC-4A9A-897B-8488C7409FA1}"/>
              </a:ext>
            </a:extLst>
          </p:cNvPr>
          <p:cNvSpPr>
            <a:spLocks xmlns:a="http://schemas.openxmlformats.org/drawingml/2006/main" noGrp="1"/>
          </p:cNvSpPr>
          <p:nvPr/>
        </p:nvSpPr>
        <p:spPr>
          <a:xfrm xmlns:a="http://schemas.openxmlformats.org/drawingml/2006/main">
            <a:off x="609600" y="6562725"/>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AAB8B0"/>
                </a:solidFill>
                <a:latin typeface="Arial"/>
                <a:ea typeface="Arial"/>
                <a:cs typeface="Arial"/>
              </a:defRPr>
            </a:pPr>
            <a:r>
              <a:rPr sz="900" b="0">
                <a:solidFill>
                  <a:srgbClr val="AAB8B0"/>
                </a:solidFill>
                <a:latin typeface="Arial"/>
                <a:ea typeface="Arial"/>
                <a:cs typeface="Arial"/>
              </a:rPr>
              <a:t>SYNTHETIC DATA  /  UNSUPERVISED DISCOVERY  /  HUMAN EVALUATION</a:t>
            </a:r>
          </a:p>
        </p:txBody>
      </p:sp>
      <p:sp>
        <p:nvSpPr>
          <p:cNvPr id="6" name="Page number">
            <a:extLst xmlns:a="http://schemas.openxmlformats.org/drawingml/2006/main">
              <a:ext uri="{FF2B5EF4-FFF2-40B4-BE49-F238E27FC236}">
                <a16:creationId xmlns:a16="http://schemas.microsoft.com/office/drawing/2014/main" id="{B2EA5AEE-5FD0-4F31-B893-35832B8DC49F}"/>
              </a:ext>
            </a:extLst>
          </p:cNvPr>
          <p:cNvSpPr>
            <a:spLocks xmlns:a="http://schemas.openxmlformats.org/drawingml/2006/main" noGrp="1"/>
          </p:cNvSpPr>
          <p:nvPr/>
        </p:nvSpPr>
        <p:spPr>
          <a:xfrm xmlns:a="http://schemas.openxmlformats.org/drawingml/2006/main">
            <a:off x="11049000" y="65436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9AEBCA"/>
                </a:solidFill>
                <a:latin typeface="Arial"/>
                <a:ea typeface="Arial"/>
                <a:cs typeface="Arial"/>
              </a:defRPr>
            </a:pPr>
            <a:r>
              <a:rPr sz="1050" b="1">
                <a:solidFill>
                  <a:srgbClr val="9AEBCA"/>
                </a:solidFill>
                <a:latin typeface="Arial"/>
                <a:ea typeface="Arial"/>
                <a:cs typeface="Arial"/>
              </a:rPr>
              <a:t>15</a:t>
            </a:r>
          </a:p>
        </p:txBody>
      </p:sp>
      <p:sp>
        <p:nvSpPr>
          <p:cNvPr id="7" name="Text">
            <a:extLst xmlns:a="http://schemas.openxmlformats.org/drawingml/2006/main">
              <a:ext uri="{FF2B5EF4-FFF2-40B4-BE49-F238E27FC236}">
                <a16:creationId xmlns:a16="http://schemas.microsoft.com/office/drawing/2014/main" id="{A23992CB-3F76-42E1-8A5E-E4BF01B4A19B}"/>
              </a:ext>
            </a:extLst>
          </p:cNvPr>
          <p:cNvSpPr>
            <a:spLocks xmlns:a="http://schemas.openxmlformats.org/drawingml/2006/main" noGrp="1"/>
          </p:cNvSpPr>
          <p:nvPr/>
        </p:nvSpPr>
        <p:spPr>
          <a:xfrm xmlns:a="http://schemas.openxmlformats.org/drawingml/2006/main">
            <a:off x="609600" y="1609725"/>
            <a:ext cx="133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62DDA8"/>
                </a:solidFill>
                <a:latin typeface="Arial"/>
                <a:ea typeface="Arial"/>
                <a:cs typeface="Arial"/>
              </a:defRPr>
            </a:pPr>
            <a:r>
              <a:rPr sz="1050" b="1">
                <a:solidFill>
                  <a:srgbClr val="62DDA8"/>
                </a:solidFill>
                <a:latin typeface="Arial"/>
                <a:ea typeface="Arial"/>
                <a:cs typeface="Arial"/>
              </a:rPr>
              <a:t>VENUE</a:t>
            </a:r>
          </a:p>
        </p:txBody>
      </p:sp>
      <p:sp>
        <p:nvSpPr>
          <p:cNvPr id="8" name="Text">
            <a:extLst xmlns:a="http://schemas.openxmlformats.org/drawingml/2006/main">
              <a:ext uri="{FF2B5EF4-FFF2-40B4-BE49-F238E27FC236}">
                <a16:creationId xmlns:a16="http://schemas.microsoft.com/office/drawing/2014/main" id="{D69604D0-4B60-41A6-9624-0FDC0210C070}"/>
              </a:ext>
            </a:extLst>
          </p:cNvPr>
          <p:cNvSpPr>
            <a:spLocks xmlns:a="http://schemas.openxmlformats.org/drawingml/2006/main" noGrp="1"/>
          </p:cNvSpPr>
          <p:nvPr/>
        </p:nvSpPr>
        <p:spPr>
          <a:xfrm xmlns:a="http://schemas.openxmlformats.org/drawingml/2006/main">
            <a:off x="2095500" y="1609725"/>
            <a:ext cx="1885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62DDA8"/>
                </a:solidFill>
                <a:latin typeface="Arial"/>
                <a:ea typeface="Arial"/>
                <a:cs typeface="Arial"/>
              </a:defRPr>
            </a:pPr>
            <a:r>
              <a:rPr sz="1050" b="1">
                <a:solidFill>
                  <a:srgbClr val="62DDA8"/>
                </a:solidFill>
                <a:latin typeface="Arial"/>
                <a:ea typeface="Arial"/>
                <a:cs typeface="Arial"/>
              </a:rPr>
              <a:t>CONFERENCE</a:t>
            </a:r>
          </a:p>
        </p:txBody>
      </p:sp>
      <p:sp>
        <p:nvSpPr>
          <p:cNvPr id="9" name="Text">
            <a:extLst xmlns:a="http://schemas.openxmlformats.org/drawingml/2006/main">
              <a:ext uri="{FF2B5EF4-FFF2-40B4-BE49-F238E27FC236}">
                <a16:creationId xmlns:a16="http://schemas.microsoft.com/office/drawing/2014/main" id="{EB0E9287-CC3E-4D49-83A4-80B68FC6B960}"/>
              </a:ext>
            </a:extLst>
          </p:cNvPr>
          <p:cNvSpPr>
            <a:spLocks xmlns:a="http://schemas.openxmlformats.org/drawingml/2006/main" noGrp="1"/>
          </p:cNvSpPr>
          <p:nvPr/>
        </p:nvSpPr>
        <p:spPr>
          <a:xfrm xmlns:a="http://schemas.openxmlformats.org/drawingml/2006/main">
            <a:off x="4105275" y="1609725"/>
            <a:ext cx="3286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62DDA8"/>
                </a:solidFill>
                <a:latin typeface="Arial"/>
                <a:ea typeface="Arial"/>
                <a:cs typeface="Arial"/>
              </a:defRPr>
            </a:pPr>
            <a:r>
              <a:rPr sz="1050" b="1">
                <a:solidFill>
                  <a:srgbClr val="62DDA8"/>
                </a:solidFill>
                <a:latin typeface="Arial"/>
                <a:ea typeface="Arial"/>
                <a:cs typeface="Arial"/>
              </a:rPr>
              <a:t>MAIN PAPER ROUTE</a:t>
            </a:r>
          </a:p>
        </p:txBody>
      </p:sp>
      <p:sp>
        <p:nvSpPr>
          <p:cNvPr id="10" name="Text">
            <a:extLst xmlns:a="http://schemas.openxmlformats.org/drawingml/2006/main">
              <a:ext uri="{FF2B5EF4-FFF2-40B4-BE49-F238E27FC236}">
                <a16:creationId xmlns:a16="http://schemas.microsoft.com/office/drawing/2014/main" id="{AFA562D2-EA82-4383-8091-19017B0BEA91}"/>
              </a:ext>
            </a:extLst>
          </p:cNvPr>
          <p:cNvSpPr>
            <a:spLocks xmlns:a="http://schemas.openxmlformats.org/drawingml/2006/main" noGrp="1"/>
          </p:cNvSpPr>
          <p:nvPr/>
        </p:nvSpPr>
        <p:spPr>
          <a:xfrm xmlns:a="http://schemas.openxmlformats.org/drawingml/2006/main">
            <a:off x="7524750" y="1609725"/>
            <a:ext cx="4048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62DDA8"/>
                </a:solidFill>
                <a:latin typeface="Arial"/>
                <a:ea typeface="Arial"/>
                <a:cs typeface="Arial"/>
              </a:defRPr>
            </a:pPr>
            <a:r>
              <a:rPr sz="1050" b="1">
                <a:solidFill>
                  <a:srgbClr val="62DDA8"/>
                </a:solidFill>
                <a:latin typeface="Arial"/>
                <a:ea typeface="Arial"/>
                <a:cs typeface="Arial"/>
              </a:rPr>
              <a:t>OTHER USEFUL ROUTE</a:t>
            </a:r>
          </a:p>
        </p:txBody>
      </p:sp>
      <p:sp>
        <p:nvSpPr>
          <p:cNvPr id="11" name="Section rule">
            <a:extLst xmlns:a="http://schemas.openxmlformats.org/drawingml/2006/main">
              <a:ext uri="{FF2B5EF4-FFF2-40B4-BE49-F238E27FC236}">
                <a16:creationId xmlns:a16="http://schemas.microsoft.com/office/drawing/2014/main" id="{07240CBA-C3AB-4CE5-8CDB-6DD11E8EB081}"/>
              </a:ext>
            </a:extLst>
          </p:cNvPr>
          <p:cNvSpPr>
            <a:spLocks xmlns:a="http://schemas.openxmlformats.org/drawingml/2006/main" noGrp="1"/>
          </p:cNvSpPr>
          <p:nvPr/>
        </p:nvSpPr>
        <p:spPr>
          <a:xfrm xmlns:a="http://schemas.openxmlformats.org/drawingml/2006/main">
            <a:off x="609600" y="1933575"/>
            <a:ext cx="10972800" cy="9525"/>
          </a:xfrm>
          <a:prstGeom xmlns:a="http://schemas.openxmlformats.org/drawingml/2006/main" prst="rect">
            <a:avLst/>
          </a:prstGeom>
          <a:solidFill xmlns:a="http://schemas.openxmlformats.org/drawingml/2006/main">
            <a:srgbClr val="62DDA8"/>
          </a:solidFill>
          <a:ln xmlns:a="http://schemas.openxmlformats.org/drawingml/2006/main" w="0">
            <a:noFill/>
          </a:ln>
        </p:spPr>
      </p:sp>
      <p:sp>
        <p:nvSpPr>
          <p:cNvPr id="12" name="Conference calendar cell">
            <a:extLst xmlns:a="http://schemas.openxmlformats.org/drawingml/2006/main">
              <a:ext uri="{FF2B5EF4-FFF2-40B4-BE49-F238E27FC236}">
                <a16:creationId xmlns:a16="http://schemas.microsoft.com/office/drawing/2014/main" id="{06820822-D3EB-4B5F-9CDC-199378E3AC96}"/>
              </a:ext>
            </a:extLst>
          </p:cNvPr>
          <p:cNvSpPr>
            <a:spLocks xmlns:a="http://schemas.openxmlformats.org/drawingml/2006/main" noGrp="1"/>
          </p:cNvSpPr>
          <p:nvPr/>
        </p:nvSpPr>
        <p:spPr>
          <a:xfrm xmlns:a="http://schemas.openxmlformats.org/drawingml/2006/main">
            <a:off x="609600" y="2095500"/>
            <a:ext cx="1333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3F6F4"/>
                </a:solidFill>
                <a:latin typeface="Arial"/>
                <a:ea typeface="Arial"/>
                <a:cs typeface="Arial"/>
              </a:defRPr>
            </a:pPr>
            <a:r>
              <a:rPr sz="1425" b="1">
                <a:solidFill>
                  <a:srgbClr val="F3F6F4"/>
                </a:solidFill>
                <a:latin typeface="Arial"/>
                <a:ea typeface="Arial"/>
                <a:cs typeface="Arial"/>
              </a:rPr>
              <a:t>EACL</a:t>
            </a:r>
          </a:p>
        </p:txBody>
      </p:sp>
      <p:sp>
        <p:nvSpPr>
          <p:cNvPr id="13" name="Conference calendar cell">
            <a:extLst xmlns:a="http://schemas.openxmlformats.org/drawingml/2006/main">
              <a:ext uri="{FF2B5EF4-FFF2-40B4-BE49-F238E27FC236}">
                <a16:creationId xmlns:a16="http://schemas.microsoft.com/office/drawing/2014/main" id="{2B18EFDE-7663-455F-8480-52C496437054}"/>
              </a:ext>
            </a:extLst>
          </p:cNvPr>
          <p:cNvSpPr>
            <a:spLocks xmlns:a="http://schemas.openxmlformats.org/drawingml/2006/main" noGrp="1"/>
          </p:cNvSpPr>
          <p:nvPr/>
        </p:nvSpPr>
        <p:spPr>
          <a:xfrm xmlns:a="http://schemas.openxmlformats.org/drawingml/2006/main">
            <a:off x="2095500" y="2095500"/>
            <a:ext cx="18859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AAB8B0"/>
                </a:solidFill>
                <a:latin typeface="Arial"/>
                <a:ea typeface="Arial"/>
                <a:cs typeface="Arial"/>
              </a:defRPr>
            </a:pPr>
            <a:r>
              <a:rPr sz="1275" b="0">
                <a:solidFill>
                  <a:srgbClr val="AAB8B0"/>
                </a:solidFill>
                <a:latin typeface="Arial"/>
                <a:ea typeface="Arial"/>
                <a:cs typeface="Arial"/>
              </a:rPr>
              <a:t>Athens</a:t>
            </a:r>
          </a:p>
          <a:p xmlns:a="http://schemas.openxmlformats.org/drawingml/2006/main">
            <a:pPr algn="l">
              <a:defRPr sz="1275" b="0">
                <a:solidFill>
                  <a:srgbClr val="AAB8B0"/>
                </a:solidFill>
                <a:latin typeface="Arial"/>
                <a:ea typeface="Arial"/>
                <a:cs typeface="Arial"/>
              </a:defRPr>
            </a:pPr>
            <a:r>
              <a:rPr sz="1275" b="0">
                <a:solidFill>
                  <a:srgbClr val="AAB8B0"/>
                </a:solidFill>
                <a:latin typeface="Arial"/>
                <a:ea typeface="Arial"/>
                <a:cs typeface="Arial"/>
              </a:rPr>
              <a:t>9–14 Mar</a:t>
            </a:r>
          </a:p>
        </p:txBody>
      </p:sp>
      <p:sp>
        <p:nvSpPr>
          <p:cNvPr id="14" name="Conference calendar cell">
            <a:extLst xmlns:a="http://schemas.openxmlformats.org/drawingml/2006/main">
              <a:ext uri="{FF2B5EF4-FFF2-40B4-BE49-F238E27FC236}">
                <a16:creationId xmlns:a16="http://schemas.microsoft.com/office/drawing/2014/main" id="{6DE983F4-8DC8-46B3-8ABD-8528AE461539}"/>
              </a:ext>
            </a:extLst>
          </p:cNvPr>
          <p:cNvSpPr>
            <a:spLocks xmlns:a="http://schemas.openxmlformats.org/drawingml/2006/main" noGrp="1"/>
          </p:cNvSpPr>
          <p:nvPr/>
        </p:nvSpPr>
        <p:spPr>
          <a:xfrm xmlns:a="http://schemas.openxmlformats.org/drawingml/2006/main">
            <a:off x="4105275" y="2095500"/>
            <a:ext cx="328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AAB8B0"/>
                </a:solidFill>
                <a:latin typeface="Arial"/>
                <a:ea typeface="Arial"/>
                <a:cs typeface="Arial"/>
              </a:defRPr>
            </a:pPr>
            <a:r>
              <a:rPr sz="1275" b="0">
                <a:solidFill>
                  <a:srgbClr val="AAB8B0"/>
                </a:solidFill>
                <a:latin typeface="Arial"/>
                <a:ea typeface="Arial"/>
                <a:cs typeface="Arial"/>
              </a:rPr>
              <a:t>Main ARR: 3 Aug 2026</a:t>
            </a:r>
          </a:p>
          <a:p xmlns:a="http://schemas.openxmlformats.org/drawingml/2006/main">
            <a:pPr algn="l">
              <a:defRPr sz="1275" b="0">
                <a:solidFill>
                  <a:srgbClr val="AAB8B0"/>
                </a:solidFill>
                <a:latin typeface="Arial"/>
                <a:ea typeface="Arial"/>
                <a:cs typeface="Arial"/>
              </a:defRPr>
            </a:pPr>
            <a:r>
              <a:rPr sz="1275" b="0">
                <a:solidFill>
                  <a:srgbClr val="AAB8B0"/>
                </a:solidFill>
                <a:latin typeface="Arial"/>
                <a:ea typeface="Arial"/>
                <a:cs typeface="Arial"/>
              </a:rPr>
              <a:t>Already passed</a:t>
            </a:r>
          </a:p>
        </p:txBody>
      </p:sp>
      <p:sp>
        <p:nvSpPr>
          <p:cNvPr id="15" name="Conference calendar cell">
            <a:extLst xmlns:a="http://schemas.openxmlformats.org/drawingml/2006/main">
              <a:ext uri="{FF2B5EF4-FFF2-40B4-BE49-F238E27FC236}">
                <a16:creationId xmlns:a16="http://schemas.microsoft.com/office/drawing/2014/main" id="{476174A6-4193-44E4-ADD1-A928BC75A9AC}"/>
              </a:ext>
            </a:extLst>
          </p:cNvPr>
          <p:cNvSpPr>
            <a:spLocks xmlns:a="http://schemas.openxmlformats.org/drawingml/2006/main" noGrp="1"/>
          </p:cNvSpPr>
          <p:nvPr/>
        </p:nvSpPr>
        <p:spPr>
          <a:xfrm xmlns:a="http://schemas.openxmlformats.org/drawingml/2006/main">
            <a:off x="7524750" y="2095500"/>
            <a:ext cx="4048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AAB8B0"/>
                </a:solidFill>
                <a:latin typeface="Arial"/>
                <a:ea typeface="Arial"/>
                <a:cs typeface="Arial"/>
              </a:defRPr>
            </a:pPr>
            <a:r>
              <a:rPr sz="1275" b="0">
                <a:solidFill>
                  <a:srgbClr val="AAB8B0"/>
                </a:solidFill>
                <a:latin typeface="Arial"/>
                <a:ea typeface="Arial"/>
                <a:cs typeface="Arial"/>
              </a:rPr>
              <a:t>Workshop / SRW direct: 15 Dec 2026</a:t>
            </a:r>
          </a:p>
        </p:txBody>
      </p:sp>
      <p:sp>
        <p:nvSpPr>
          <p:cNvPr id="16" name="Section rule">
            <a:extLst xmlns:a="http://schemas.openxmlformats.org/drawingml/2006/main">
              <a:ext uri="{FF2B5EF4-FFF2-40B4-BE49-F238E27FC236}">
                <a16:creationId xmlns:a16="http://schemas.microsoft.com/office/drawing/2014/main" id="{CD34AA0D-A584-4D61-811C-1AEF75199E59}"/>
              </a:ext>
            </a:extLst>
          </p:cNvPr>
          <p:cNvSpPr>
            <a:spLocks xmlns:a="http://schemas.openxmlformats.org/drawingml/2006/main" noGrp="1"/>
          </p:cNvSpPr>
          <p:nvPr/>
        </p:nvSpPr>
        <p:spPr>
          <a:xfrm xmlns:a="http://schemas.openxmlformats.org/drawingml/2006/main">
            <a:off x="609600" y="27241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7" name="Conference calendar cell">
            <a:extLst xmlns:a="http://schemas.openxmlformats.org/drawingml/2006/main">
              <a:ext uri="{FF2B5EF4-FFF2-40B4-BE49-F238E27FC236}">
                <a16:creationId xmlns:a16="http://schemas.microsoft.com/office/drawing/2014/main" id="{60577F9E-D917-4297-B0CD-D9DB0BE1EBBD}"/>
              </a:ext>
            </a:extLst>
          </p:cNvPr>
          <p:cNvSpPr>
            <a:spLocks xmlns:a="http://schemas.openxmlformats.org/drawingml/2006/main" noGrp="1"/>
          </p:cNvSpPr>
          <p:nvPr/>
        </p:nvSpPr>
        <p:spPr>
          <a:xfrm xmlns:a="http://schemas.openxmlformats.org/drawingml/2006/main">
            <a:off x="609600" y="2914650"/>
            <a:ext cx="1333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3F6F4"/>
                </a:solidFill>
                <a:latin typeface="Arial"/>
                <a:ea typeface="Arial"/>
                <a:cs typeface="Arial"/>
              </a:defRPr>
            </a:pPr>
            <a:r>
              <a:rPr sz="1425" b="1">
                <a:solidFill>
                  <a:srgbClr val="F3F6F4"/>
                </a:solidFill>
                <a:latin typeface="Arial"/>
                <a:ea typeface="Arial"/>
                <a:cs typeface="Arial"/>
              </a:rPr>
              <a:t>COLING</a:t>
            </a:r>
          </a:p>
        </p:txBody>
      </p:sp>
      <p:sp>
        <p:nvSpPr>
          <p:cNvPr id="18" name="Conference calendar cell">
            <a:extLst xmlns:a="http://schemas.openxmlformats.org/drawingml/2006/main">
              <a:ext uri="{FF2B5EF4-FFF2-40B4-BE49-F238E27FC236}">
                <a16:creationId xmlns:a16="http://schemas.microsoft.com/office/drawing/2014/main" id="{6F5602E7-8690-41F2-8195-20BF63C9E2D5}"/>
              </a:ext>
            </a:extLst>
          </p:cNvPr>
          <p:cNvSpPr>
            <a:spLocks xmlns:a="http://schemas.openxmlformats.org/drawingml/2006/main" noGrp="1"/>
          </p:cNvSpPr>
          <p:nvPr/>
        </p:nvSpPr>
        <p:spPr>
          <a:xfrm xmlns:a="http://schemas.openxmlformats.org/drawingml/2006/main">
            <a:off x="2095500" y="2914650"/>
            <a:ext cx="18859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AAB8B0"/>
                </a:solidFill>
                <a:latin typeface="Arial"/>
                <a:ea typeface="Arial"/>
                <a:cs typeface="Arial"/>
              </a:defRPr>
            </a:pPr>
            <a:r>
              <a:rPr sz="1275" b="0">
                <a:solidFill>
                  <a:srgbClr val="AAB8B0"/>
                </a:solidFill>
                <a:latin typeface="Arial"/>
                <a:ea typeface="Arial"/>
                <a:cs typeface="Arial"/>
              </a:rPr>
              <a:t>Macau</a:t>
            </a:r>
          </a:p>
          <a:p xmlns:a="http://schemas.openxmlformats.org/drawingml/2006/main">
            <a:pPr algn="l">
              <a:defRPr sz="1275" b="0">
                <a:solidFill>
                  <a:srgbClr val="AAB8B0"/>
                </a:solidFill>
                <a:latin typeface="Arial"/>
                <a:ea typeface="Arial"/>
                <a:cs typeface="Arial"/>
              </a:defRPr>
            </a:pPr>
            <a:r>
              <a:rPr sz="1275" b="0">
                <a:solidFill>
                  <a:srgbClr val="AAB8B0"/>
                </a:solidFill>
                <a:latin typeface="Arial"/>
                <a:ea typeface="Arial"/>
                <a:cs typeface="Arial"/>
              </a:rPr>
              <a:t>9–14 May</a:t>
            </a:r>
          </a:p>
        </p:txBody>
      </p:sp>
      <p:sp>
        <p:nvSpPr>
          <p:cNvPr id="19" name="Conference calendar cell">
            <a:extLst xmlns:a="http://schemas.openxmlformats.org/drawingml/2006/main">
              <a:ext uri="{FF2B5EF4-FFF2-40B4-BE49-F238E27FC236}">
                <a16:creationId xmlns:a16="http://schemas.microsoft.com/office/drawing/2014/main" id="{6048499B-F21C-49BA-884B-94F73A52DB74}"/>
              </a:ext>
            </a:extLst>
          </p:cNvPr>
          <p:cNvSpPr>
            <a:spLocks xmlns:a="http://schemas.openxmlformats.org/drawingml/2006/main" noGrp="1"/>
          </p:cNvSpPr>
          <p:nvPr/>
        </p:nvSpPr>
        <p:spPr>
          <a:xfrm xmlns:a="http://schemas.openxmlformats.org/drawingml/2006/main">
            <a:off x="4105275" y="2914650"/>
            <a:ext cx="328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AAB8B0"/>
                </a:solidFill>
                <a:latin typeface="Arial"/>
                <a:ea typeface="Arial"/>
                <a:cs typeface="Arial"/>
              </a:defRPr>
            </a:pPr>
            <a:r>
              <a:rPr sz="1275" b="0">
                <a:solidFill>
                  <a:srgbClr val="AAB8B0"/>
                </a:solidFill>
                <a:latin typeface="Arial"/>
                <a:ea typeface="Arial"/>
                <a:cs typeface="Arial"/>
              </a:rPr>
              <a:t>ARR: 12 Oct 2026</a:t>
            </a:r>
          </a:p>
        </p:txBody>
      </p:sp>
      <p:sp>
        <p:nvSpPr>
          <p:cNvPr id="20" name="Conference calendar cell">
            <a:extLst xmlns:a="http://schemas.openxmlformats.org/drawingml/2006/main">
              <a:ext uri="{FF2B5EF4-FFF2-40B4-BE49-F238E27FC236}">
                <a16:creationId xmlns:a16="http://schemas.microsoft.com/office/drawing/2014/main" id="{55B60B16-0D10-4DB3-AAE7-44760B5E357D}"/>
              </a:ext>
            </a:extLst>
          </p:cNvPr>
          <p:cNvSpPr>
            <a:spLocks xmlns:a="http://schemas.openxmlformats.org/drawingml/2006/main" noGrp="1"/>
          </p:cNvSpPr>
          <p:nvPr/>
        </p:nvSpPr>
        <p:spPr>
          <a:xfrm xmlns:a="http://schemas.openxmlformats.org/drawingml/2006/main">
            <a:off x="7524750" y="2914650"/>
            <a:ext cx="4048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AAB8B0"/>
                </a:solidFill>
                <a:latin typeface="Arial"/>
                <a:ea typeface="Arial"/>
                <a:cs typeface="Arial"/>
              </a:defRPr>
            </a:pPr>
            <a:r>
              <a:rPr sz="1275" b="0">
                <a:solidFill>
                  <a:srgbClr val="AAB8B0"/>
                </a:solidFill>
                <a:latin typeface="Arial"/>
                <a:ea typeface="Arial"/>
                <a:cs typeface="Arial"/>
              </a:rPr>
              <a:t>Workshop direct: 5 Jan 2027</a:t>
            </a:r>
          </a:p>
        </p:txBody>
      </p:sp>
      <p:sp>
        <p:nvSpPr>
          <p:cNvPr id="21" name="Section rule">
            <a:extLst xmlns:a="http://schemas.openxmlformats.org/drawingml/2006/main">
              <a:ext uri="{FF2B5EF4-FFF2-40B4-BE49-F238E27FC236}">
                <a16:creationId xmlns:a16="http://schemas.microsoft.com/office/drawing/2014/main" id="{C7060F5C-57BB-4D8C-9232-F2BF46E9D167}"/>
              </a:ext>
            </a:extLst>
          </p:cNvPr>
          <p:cNvSpPr>
            <a:spLocks xmlns:a="http://schemas.openxmlformats.org/drawingml/2006/main" noGrp="1"/>
          </p:cNvSpPr>
          <p:nvPr/>
        </p:nvSpPr>
        <p:spPr>
          <a:xfrm xmlns:a="http://schemas.openxmlformats.org/drawingml/2006/main">
            <a:off x="609600" y="354330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22" name="Conference calendar cell">
            <a:extLst xmlns:a="http://schemas.openxmlformats.org/drawingml/2006/main">
              <a:ext uri="{FF2B5EF4-FFF2-40B4-BE49-F238E27FC236}">
                <a16:creationId xmlns:a16="http://schemas.microsoft.com/office/drawing/2014/main" id="{1E9B0644-1544-4EC3-B076-028BD6BF7E8D}"/>
              </a:ext>
            </a:extLst>
          </p:cNvPr>
          <p:cNvSpPr>
            <a:spLocks xmlns:a="http://schemas.openxmlformats.org/drawingml/2006/main" noGrp="1"/>
          </p:cNvSpPr>
          <p:nvPr/>
        </p:nvSpPr>
        <p:spPr>
          <a:xfrm xmlns:a="http://schemas.openxmlformats.org/drawingml/2006/main">
            <a:off x="609600" y="3733800"/>
            <a:ext cx="1333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3F6F4"/>
                </a:solidFill>
                <a:latin typeface="Arial"/>
                <a:ea typeface="Arial"/>
                <a:cs typeface="Arial"/>
              </a:defRPr>
            </a:pPr>
            <a:r>
              <a:rPr sz="1425" b="1">
                <a:solidFill>
                  <a:srgbClr val="F3F6F4"/>
                </a:solidFill>
                <a:latin typeface="Arial"/>
                <a:ea typeface="Arial"/>
                <a:cs typeface="Arial"/>
              </a:rPr>
              <a:t>NAACL</a:t>
            </a:r>
          </a:p>
        </p:txBody>
      </p:sp>
      <p:sp>
        <p:nvSpPr>
          <p:cNvPr id="23" name="Conference calendar cell">
            <a:extLst xmlns:a="http://schemas.openxmlformats.org/drawingml/2006/main">
              <a:ext uri="{FF2B5EF4-FFF2-40B4-BE49-F238E27FC236}">
                <a16:creationId xmlns:a16="http://schemas.microsoft.com/office/drawing/2014/main" id="{CFEB535F-69E8-4D15-B1F6-FE3B7F0D5396}"/>
              </a:ext>
            </a:extLst>
          </p:cNvPr>
          <p:cNvSpPr>
            <a:spLocks xmlns:a="http://schemas.openxmlformats.org/drawingml/2006/main" noGrp="1"/>
          </p:cNvSpPr>
          <p:nvPr/>
        </p:nvSpPr>
        <p:spPr>
          <a:xfrm xmlns:a="http://schemas.openxmlformats.org/drawingml/2006/main">
            <a:off x="2095500" y="3733800"/>
            <a:ext cx="18859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AAB8B0"/>
                </a:solidFill>
                <a:latin typeface="Arial"/>
                <a:ea typeface="Arial"/>
                <a:cs typeface="Arial"/>
              </a:defRPr>
            </a:pPr>
            <a:r>
              <a:rPr sz="1275" b="0">
                <a:solidFill>
                  <a:srgbClr val="AAB8B0"/>
                </a:solidFill>
                <a:latin typeface="Arial"/>
                <a:ea typeface="Arial"/>
                <a:cs typeface="Arial"/>
              </a:rPr>
              <a:t>San Francisco</a:t>
            </a:r>
          </a:p>
          <a:p xmlns:a="http://schemas.openxmlformats.org/drawingml/2006/main">
            <a:pPr algn="l">
              <a:defRPr sz="1275" b="0">
                <a:solidFill>
                  <a:srgbClr val="AAB8B0"/>
                </a:solidFill>
                <a:latin typeface="Arial"/>
                <a:ea typeface="Arial"/>
                <a:cs typeface="Arial"/>
              </a:defRPr>
            </a:pPr>
            <a:r>
              <a:rPr sz="1275" b="0">
                <a:solidFill>
                  <a:srgbClr val="AAB8B0"/>
                </a:solidFill>
                <a:latin typeface="Arial"/>
                <a:ea typeface="Arial"/>
                <a:cs typeface="Arial"/>
              </a:rPr>
              <a:t>1–5 Jun</a:t>
            </a:r>
          </a:p>
        </p:txBody>
      </p:sp>
      <p:sp>
        <p:nvSpPr>
          <p:cNvPr id="24" name="Conference calendar cell">
            <a:extLst xmlns:a="http://schemas.openxmlformats.org/drawingml/2006/main">
              <a:ext uri="{FF2B5EF4-FFF2-40B4-BE49-F238E27FC236}">
                <a16:creationId xmlns:a16="http://schemas.microsoft.com/office/drawing/2014/main" id="{004AEC03-D11A-42D3-AE81-2230ABB7216A}"/>
              </a:ext>
            </a:extLst>
          </p:cNvPr>
          <p:cNvSpPr>
            <a:spLocks xmlns:a="http://schemas.openxmlformats.org/drawingml/2006/main" noGrp="1"/>
          </p:cNvSpPr>
          <p:nvPr/>
        </p:nvSpPr>
        <p:spPr>
          <a:xfrm xmlns:a="http://schemas.openxmlformats.org/drawingml/2006/main">
            <a:off x="4105275" y="3733800"/>
            <a:ext cx="328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AAB8B0"/>
                </a:solidFill>
                <a:latin typeface="Arial"/>
                <a:ea typeface="Arial"/>
                <a:cs typeface="Arial"/>
              </a:defRPr>
            </a:pPr>
            <a:r>
              <a:rPr sz="1275" b="0">
                <a:solidFill>
                  <a:srgbClr val="AAB8B0"/>
                </a:solidFill>
                <a:latin typeface="Arial"/>
                <a:ea typeface="Arial"/>
                <a:cs typeface="Arial"/>
              </a:rPr>
              <a:t>ARR: 12 Oct 2026</a:t>
            </a:r>
          </a:p>
        </p:txBody>
      </p:sp>
      <p:sp>
        <p:nvSpPr>
          <p:cNvPr id="25" name="Conference calendar cell">
            <a:extLst xmlns:a="http://schemas.openxmlformats.org/drawingml/2006/main">
              <a:ext uri="{FF2B5EF4-FFF2-40B4-BE49-F238E27FC236}">
                <a16:creationId xmlns:a16="http://schemas.microsoft.com/office/drawing/2014/main" id="{EF4A80F4-6E37-4AD0-B1B6-B371AF1D9758}"/>
              </a:ext>
            </a:extLst>
          </p:cNvPr>
          <p:cNvSpPr>
            <a:spLocks xmlns:a="http://schemas.openxmlformats.org/drawingml/2006/main" noGrp="1"/>
          </p:cNvSpPr>
          <p:nvPr/>
        </p:nvSpPr>
        <p:spPr>
          <a:xfrm xmlns:a="http://schemas.openxmlformats.org/drawingml/2006/main">
            <a:off x="7524750" y="3733800"/>
            <a:ext cx="4048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AAB8B0"/>
                </a:solidFill>
                <a:latin typeface="Arial"/>
                <a:ea typeface="Arial"/>
                <a:cs typeface="Arial"/>
              </a:defRPr>
            </a:pPr>
            <a:r>
              <a:rPr sz="1275" b="0">
                <a:solidFill>
                  <a:srgbClr val="AAB8B0"/>
                </a:solidFill>
                <a:latin typeface="Arial"/>
                <a:ea typeface="Arial"/>
                <a:cs typeface="Arial"/>
              </a:rPr>
              <a:t>System demo: 4 Dec 2026</a:t>
            </a:r>
          </a:p>
        </p:txBody>
      </p:sp>
      <p:sp>
        <p:nvSpPr>
          <p:cNvPr id="26" name="Section rule">
            <a:extLst xmlns:a="http://schemas.openxmlformats.org/drawingml/2006/main">
              <a:ext uri="{FF2B5EF4-FFF2-40B4-BE49-F238E27FC236}">
                <a16:creationId xmlns:a16="http://schemas.microsoft.com/office/drawing/2014/main" id="{759EBD9E-5E63-4FB9-81DD-FCCAEDD3F771}"/>
              </a:ext>
            </a:extLst>
          </p:cNvPr>
          <p:cNvSpPr>
            <a:spLocks xmlns:a="http://schemas.openxmlformats.org/drawingml/2006/main" noGrp="1"/>
          </p:cNvSpPr>
          <p:nvPr/>
        </p:nvSpPr>
        <p:spPr>
          <a:xfrm xmlns:a="http://schemas.openxmlformats.org/drawingml/2006/main">
            <a:off x="609600" y="43624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27" name="Conference calendar cell">
            <a:extLst xmlns:a="http://schemas.openxmlformats.org/drawingml/2006/main">
              <a:ext uri="{FF2B5EF4-FFF2-40B4-BE49-F238E27FC236}">
                <a16:creationId xmlns:a16="http://schemas.microsoft.com/office/drawing/2014/main" id="{C41647B5-3C75-4A22-8527-D56536B64630}"/>
              </a:ext>
            </a:extLst>
          </p:cNvPr>
          <p:cNvSpPr>
            <a:spLocks xmlns:a="http://schemas.openxmlformats.org/drawingml/2006/main" noGrp="1"/>
          </p:cNvSpPr>
          <p:nvPr/>
        </p:nvSpPr>
        <p:spPr>
          <a:xfrm xmlns:a="http://schemas.openxmlformats.org/drawingml/2006/main">
            <a:off x="609600" y="4552950"/>
            <a:ext cx="1333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3F6F4"/>
                </a:solidFill>
                <a:latin typeface="Arial"/>
                <a:ea typeface="Arial"/>
                <a:cs typeface="Arial"/>
              </a:defRPr>
            </a:pPr>
            <a:r>
              <a:rPr sz="1425" b="1">
                <a:solidFill>
                  <a:srgbClr val="F3F6F4"/>
                </a:solidFill>
                <a:latin typeface="Arial"/>
                <a:ea typeface="Arial"/>
                <a:cs typeface="Arial"/>
              </a:rPr>
              <a:t>ACL</a:t>
            </a:r>
          </a:p>
        </p:txBody>
      </p:sp>
      <p:sp>
        <p:nvSpPr>
          <p:cNvPr id="28" name="Conference calendar cell">
            <a:extLst xmlns:a="http://schemas.openxmlformats.org/drawingml/2006/main">
              <a:ext uri="{FF2B5EF4-FFF2-40B4-BE49-F238E27FC236}">
                <a16:creationId xmlns:a16="http://schemas.microsoft.com/office/drawing/2014/main" id="{DE002F7D-8F89-49F1-9F95-B8F644E4EA1C}"/>
              </a:ext>
            </a:extLst>
          </p:cNvPr>
          <p:cNvSpPr>
            <a:spLocks xmlns:a="http://schemas.openxmlformats.org/drawingml/2006/main" noGrp="1"/>
          </p:cNvSpPr>
          <p:nvPr/>
        </p:nvSpPr>
        <p:spPr>
          <a:xfrm xmlns:a="http://schemas.openxmlformats.org/drawingml/2006/main">
            <a:off x="2095500" y="4552950"/>
            <a:ext cx="18859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AAB8B0"/>
                </a:solidFill>
                <a:latin typeface="Arial"/>
                <a:ea typeface="Arial"/>
                <a:cs typeface="Arial"/>
              </a:defRPr>
            </a:pPr>
            <a:r>
              <a:rPr sz="1275" b="0">
                <a:solidFill>
                  <a:srgbClr val="AAB8B0"/>
                </a:solidFill>
                <a:latin typeface="Arial"/>
                <a:ea typeface="Arial"/>
                <a:cs typeface="Arial"/>
              </a:rPr>
              <a:t>Kyoto</a:t>
            </a:r>
          </a:p>
          <a:p xmlns:a="http://schemas.openxmlformats.org/drawingml/2006/main">
            <a:pPr algn="l">
              <a:defRPr sz="1275" b="0">
                <a:solidFill>
                  <a:srgbClr val="AAB8B0"/>
                </a:solidFill>
                <a:latin typeface="Arial"/>
                <a:ea typeface="Arial"/>
                <a:cs typeface="Arial"/>
              </a:defRPr>
            </a:pPr>
            <a:r>
              <a:rPr sz="1275" b="0">
                <a:solidFill>
                  <a:srgbClr val="AAB8B0"/>
                </a:solidFill>
                <a:latin typeface="Arial"/>
                <a:ea typeface="Arial"/>
                <a:cs typeface="Arial"/>
              </a:rPr>
              <a:t>20–22 Aug</a:t>
            </a:r>
          </a:p>
        </p:txBody>
      </p:sp>
      <p:sp>
        <p:nvSpPr>
          <p:cNvPr id="29" name="Conference calendar cell">
            <a:extLst xmlns:a="http://schemas.openxmlformats.org/drawingml/2006/main">
              <a:ext uri="{FF2B5EF4-FFF2-40B4-BE49-F238E27FC236}">
                <a16:creationId xmlns:a16="http://schemas.microsoft.com/office/drawing/2014/main" id="{4C978D4D-5888-45BF-9F2A-86932E3FC096}"/>
              </a:ext>
            </a:extLst>
          </p:cNvPr>
          <p:cNvSpPr>
            <a:spLocks xmlns:a="http://schemas.openxmlformats.org/drawingml/2006/main" noGrp="1"/>
          </p:cNvSpPr>
          <p:nvPr/>
        </p:nvSpPr>
        <p:spPr>
          <a:xfrm xmlns:a="http://schemas.openxmlformats.org/drawingml/2006/main">
            <a:off x="4105275" y="4552950"/>
            <a:ext cx="328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AAB8B0"/>
                </a:solidFill>
                <a:latin typeface="Arial"/>
                <a:ea typeface="Arial"/>
                <a:cs typeface="Arial"/>
              </a:defRPr>
            </a:pPr>
            <a:r>
              <a:rPr sz="1275" b="0">
                <a:solidFill>
                  <a:srgbClr val="AAB8B0"/>
                </a:solidFill>
                <a:latin typeface="Arial"/>
                <a:ea typeface="Arial"/>
                <a:cs typeface="Arial"/>
              </a:rPr>
              <a:t>ARR: 4 Jan 2027</a:t>
            </a:r>
          </a:p>
        </p:txBody>
      </p:sp>
      <p:sp>
        <p:nvSpPr>
          <p:cNvPr id="30" name="Conference calendar cell">
            <a:extLst xmlns:a="http://schemas.openxmlformats.org/drawingml/2006/main">
              <a:ext uri="{FF2B5EF4-FFF2-40B4-BE49-F238E27FC236}">
                <a16:creationId xmlns:a16="http://schemas.microsoft.com/office/drawing/2014/main" id="{22BB4796-398B-44BF-9B08-2DBB916FA09A}"/>
              </a:ext>
            </a:extLst>
          </p:cNvPr>
          <p:cNvSpPr>
            <a:spLocks xmlns:a="http://schemas.openxmlformats.org/drawingml/2006/main" noGrp="1"/>
          </p:cNvSpPr>
          <p:nvPr/>
        </p:nvSpPr>
        <p:spPr>
          <a:xfrm xmlns:a="http://schemas.openxmlformats.org/drawingml/2006/main">
            <a:off x="7524750" y="4552950"/>
            <a:ext cx="4048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AAB8B0"/>
                </a:solidFill>
                <a:latin typeface="Arial"/>
                <a:ea typeface="Arial"/>
                <a:cs typeface="Arial"/>
              </a:defRPr>
            </a:pPr>
            <a:r>
              <a:rPr sz="1275" b="0">
                <a:solidFill>
                  <a:srgbClr val="AAB8B0"/>
                </a:solidFill>
                <a:latin typeface="Arial"/>
                <a:ea typeface="Arial"/>
                <a:cs typeface="Arial"/>
              </a:rPr>
              <a:t>Workshop direct: 25 Apr 2027</a:t>
            </a:r>
          </a:p>
        </p:txBody>
      </p:sp>
      <p:sp>
        <p:nvSpPr>
          <p:cNvPr id="31" name="Section rule">
            <a:extLst xmlns:a="http://schemas.openxmlformats.org/drawingml/2006/main">
              <a:ext uri="{FF2B5EF4-FFF2-40B4-BE49-F238E27FC236}">
                <a16:creationId xmlns:a16="http://schemas.microsoft.com/office/drawing/2014/main" id="{3A26CFEC-E58B-417C-AB55-74C5A66B60A7}"/>
              </a:ext>
            </a:extLst>
          </p:cNvPr>
          <p:cNvSpPr>
            <a:spLocks xmlns:a="http://schemas.openxmlformats.org/drawingml/2006/main" noGrp="1"/>
          </p:cNvSpPr>
          <p:nvPr/>
        </p:nvSpPr>
        <p:spPr>
          <a:xfrm xmlns:a="http://schemas.openxmlformats.org/drawingml/2006/main">
            <a:off x="609600" y="518160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32" name="Conference calendar cell">
            <a:extLst xmlns:a="http://schemas.openxmlformats.org/drawingml/2006/main">
              <a:ext uri="{FF2B5EF4-FFF2-40B4-BE49-F238E27FC236}">
                <a16:creationId xmlns:a16="http://schemas.microsoft.com/office/drawing/2014/main" id="{5F5E848D-1F58-4D40-9D22-3647A835C262}"/>
              </a:ext>
            </a:extLst>
          </p:cNvPr>
          <p:cNvSpPr>
            <a:spLocks xmlns:a="http://schemas.openxmlformats.org/drawingml/2006/main" noGrp="1"/>
          </p:cNvSpPr>
          <p:nvPr/>
        </p:nvSpPr>
        <p:spPr>
          <a:xfrm xmlns:a="http://schemas.openxmlformats.org/drawingml/2006/main">
            <a:off x="609600" y="5372100"/>
            <a:ext cx="1333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3F6F4"/>
                </a:solidFill>
                <a:latin typeface="Arial"/>
                <a:ea typeface="Arial"/>
                <a:cs typeface="Arial"/>
              </a:defRPr>
            </a:pPr>
            <a:r>
              <a:rPr sz="1425" b="1">
                <a:solidFill>
                  <a:srgbClr val="F3F6F4"/>
                </a:solidFill>
                <a:latin typeface="Arial"/>
                <a:ea typeface="Arial"/>
                <a:cs typeface="Arial"/>
              </a:rPr>
              <a:t>EMNLP</a:t>
            </a:r>
          </a:p>
        </p:txBody>
      </p:sp>
      <p:sp>
        <p:nvSpPr>
          <p:cNvPr id="33" name="Conference calendar cell">
            <a:extLst xmlns:a="http://schemas.openxmlformats.org/drawingml/2006/main">
              <a:ext uri="{FF2B5EF4-FFF2-40B4-BE49-F238E27FC236}">
                <a16:creationId xmlns:a16="http://schemas.microsoft.com/office/drawing/2014/main" id="{32EBD351-7580-416D-B8CC-40E06E01F067}"/>
              </a:ext>
            </a:extLst>
          </p:cNvPr>
          <p:cNvSpPr>
            <a:spLocks xmlns:a="http://schemas.openxmlformats.org/drawingml/2006/main" noGrp="1"/>
          </p:cNvSpPr>
          <p:nvPr/>
        </p:nvSpPr>
        <p:spPr>
          <a:xfrm xmlns:a="http://schemas.openxmlformats.org/drawingml/2006/main">
            <a:off x="2095500" y="5372100"/>
            <a:ext cx="18859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AAB8B0"/>
                </a:solidFill>
                <a:latin typeface="Arial"/>
                <a:ea typeface="Arial"/>
                <a:cs typeface="Arial"/>
              </a:defRPr>
            </a:pPr>
            <a:r>
              <a:rPr sz="1275" b="0">
                <a:solidFill>
                  <a:srgbClr val="AAB8B0"/>
                </a:solidFill>
                <a:latin typeface="Arial"/>
                <a:ea typeface="Arial"/>
                <a:cs typeface="Arial"/>
              </a:rPr>
              <a:t>TBA</a:t>
            </a:r>
          </a:p>
        </p:txBody>
      </p:sp>
      <p:sp>
        <p:nvSpPr>
          <p:cNvPr id="34" name="Conference calendar cell">
            <a:extLst xmlns:a="http://schemas.openxmlformats.org/drawingml/2006/main">
              <a:ext uri="{FF2B5EF4-FFF2-40B4-BE49-F238E27FC236}">
                <a16:creationId xmlns:a16="http://schemas.microsoft.com/office/drawing/2014/main" id="{860DFE41-2430-446C-924A-21228866E9F0}"/>
              </a:ext>
            </a:extLst>
          </p:cNvPr>
          <p:cNvSpPr>
            <a:spLocks xmlns:a="http://schemas.openxmlformats.org/drawingml/2006/main" noGrp="1"/>
          </p:cNvSpPr>
          <p:nvPr/>
        </p:nvSpPr>
        <p:spPr>
          <a:xfrm xmlns:a="http://schemas.openxmlformats.org/drawingml/2006/main">
            <a:off x="4105275" y="5372100"/>
            <a:ext cx="328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AAB8B0"/>
                </a:solidFill>
                <a:latin typeface="Arial"/>
                <a:ea typeface="Arial"/>
                <a:cs typeface="Arial"/>
              </a:defRPr>
            </a:pPr>
            <a:r>
              <a:rPr sz="1275" b="0">
                <a:solidFill>
                  <a:srgbClr val="AAB8B0"/>
                </a:solidFill>
                <a:latin typeface="Arial"/>
                <a:ea typeface="Arial"/>
                <a:cs typeface="Arial"/>
              </a:rPr>
              <a:t>Conference dates TBA</a:t>
            </a:r>
          </a:p>
        </p:txBody>
      </p:sp>
      <p:sp>
        <p:nvSpPr>
          <p:cNvPr id="35" name="Conference calendar cell">
            <a:extLst xmlns:a="http://schemas.openxmlformats.org/drawingml/2006/main">
              <a:ext uri="{FF2B5EF4-FFF2-40B4-BE49-F238E27FC236}">
                <a16:creationId xmlns:a16="http://schemas.microsoft.com/office/drawing/2014/main" id="{5543DD15-9145-4BE5-8F08-8DF1CB3C9BC3}"/>
              </a:ext>
            </a:extLst>
          </p:cNvPr>
          <p:cNvSpPr>
            <a:spLocks xmlns:a="http://schemas.openxmlformats.org/drawingml/2006/main" noGrp="1"/>
          </p:cNvSpPr>
          <p:nvPr/>
        </p:nvSpPr>
        <p:spPr>
          <a:xfrm xmlns:a="http://schemas.openxmlformats.org/drawingml/2006/main">
            <a:off x="7524750" y="5372100"/>
            <a:ext cx="4048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AAB8B0"/>
                </a:solidFill>
                <a:latin typeface="Arial"/>
                <a:ea typeface="Arial"/>
                <a:cs typeface="Arial"/>
              </a:defRPr>
            </a:pPr>
            <a:r>
              <a:rPr sz="1275" b="0">
                <a:solidFill>
                  <a:srgbClr val="AAB8B0"/>
                </a:solidFill>
                <a:latin typeface="Arial"/>
                <a:ea typeface="Arial"/>
                <a:cs typeface="Arial"/>
              </a:rPr>
              <a:t>Joint call tentatively says early Nov</a:t>
            </a:r>
          </a:p>
        </p:txBody>
      </p:sp>
      <p:sp>
        <p:nvSpPr>
          <p:cNvPr id="36" name="Section rule">
            <a:extLst xmlns:a="http://schemas.openxmlformats.org/drawingml/2006/main">
              <a:ext uri="{FF2B5EF4-FFF2-40B4-BE49-F238E27FC236}">
                <a16:creationId xmlns:a16="http://schemas.microsoft.com/office/drawing/2014/main" id="{2CF825D6-FA88-4375-8B40-A8718FC3A23D}"/>
              </a:ext>
            </a:extLst>
          </p:cNvPr>
          <p:cNvSpPr>
            <a:spLocks xmlns:a="http://schemas.openxmlformats.org/drawingml/2006/main" noGrp="1"/>
          </p:cNvSpPr>
          <p:nvPr/>
        </p:nvSpPr>
        <p:spPr>
          <a:xfrm xmlns:a="http://schemas.openxmlformats.org/drawingml/2006/main">
            <a:off x="609600" y="60007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Tree>
    <p:extLst>
      <p:ext uri="{BB962C8B-B14F-4D97-AF65-F5344CB8AC3E}">
        <p14:creationId xmlns:p14="http://schemas.microsoft.com/office/powerpoint/2010/main" val="1702404617"/>
      </p:ext>
    </p:extLst>
  </p:cSld>
</p:sld>
</file>

<file path=ppt/slides/slide16.xml><?xml version="1.0" encoding="utf-8"?>
<p:sld xmlns:p="http://schemas.openxmlformats.org/presentationml/2006/main">
  <p:cSld>
    <p:bg>
      <p:bgPr>
        <a:solidFill xmlns:a="http://schemas.openxmlformats.org/drawingml/2006/main">
          <a:srgbClr val="202522"/>
        </a:solidFill>
      </p:bgPr>
    </p:bg>
    <p:spTree>
      <p:nvGrpSpPr>
        <p:cNvPr id="1" name=""/>
        <p:cNvGrpSpPr/>
        <p:nvPr/>
      </p:nvGrpSpPr>
      <p:grpSpPr>
        <a:xfrm xmlns:a="http://schemas.openxmlformats.org/drawingml/2006/main"/>
      </p:grpSpPr>
      <p:sp>
        <p:nvSpPr>
          <p:cNvPr id="20" name="Section label">
            <a:extLst xmlns:a="http://schemas.openxmlformats.org/drawingml/2006/main">
              <a:ext uri="{FF2B5EF4-FFF2-40B4-BE49-F238E27FC236}">
                <a16:creationId xmlns:a16="http://schemas.microsoft.com/office/drawing/2014/main" id="{60FC447B-4C22-4F10-98A7-E2312C195EBD}"/>
              </a:ext>
            </a:extLst>
          </p:cNvPr>
          <p:cNvSpPr>
            <a:spLocks xmlns:a="http://schemas.openxmlformats.org/drawingml/2006/main" noGrp="1"/>
          </p:cNvSpPr>
          <p:nvPr/>
        </p:nvSpPr>
        <p:spPr>
          <a:xfrm xmlns:a="http://schemas.openxmlformats.org/drawingml/2006/main">
            <a:off x="609600" y="2571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  VENUE STRATEGY</a:t>
            </a:r>
          </a:p>
        </p:txBody>
      </p:sp>
      <p:sp>
        <p:nvSpPr>
          <p:cNvPr id="2" name="Slide title">
            <a:extLst xmlns:a="http://schemas.openxmlformats.org/drawingml/2006/main">
              <a:ext uri="{FF2B5EF4-FFF2-40B4-BE49-F238E27FC236}">
                <a16:creationId xmlns:a16="http://schemas.microsoft.com/office/drawing/2014/main" id="{4F04390E-223C-4A84-9C61-F4AC60F984C0}"/>
              </a:ext>
            </a:extLst>
          </p:cNvPr>
          <p:cNvSpPr>
            <a:spLocks xmlns:a="http://schemas.openxmlformats.org/drawingml/2006/main" noGrp="1"/>
          </p:cNvSpPr>
          <p:nvPr/>
        </p:nvSpPr>
        <p:spPr>
          <a:xfrm xmlns:a="http://schemas.openxmlformats.org/drawingml/2006/main">
            <a:off x="609600" y="5810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75" b="1">
                <a:solidFill>
                  <a:srgbClr val="F3F6F4"/>
                </a:solidFill>
                <a:latin typeface="Arial"/>
                <a:ea typeface="Arial"/>
                <a:cs typeface="Arial"/>
              </a:defRPr>
            </a:pPr>
            <a:r>
              <a:rPr sz="3075" b="1">
                <a:solidFill>
                  <a:srgbClr val="F3F6F4"/>
                </a:solidFill>
                <a:latin typeface="Arial"/>
                <a:ea typeface="Arial"/>
                <a:cs typeface="Arial"/>
              </a:rPr>
              <a:t>Venue choice should follow evidence readiness</a:t>
            </a:r>
          </a:p>
        </p:txBody>
      </p:sp>
      <p:sp>
        <p:nvSpPr>
          <p:cNvPr id="3" name="Section rule">
            <a:extLst xmlns:a="http://schemas.openxmlformats.org/drawingml/2006/main">
              <a:ext uri="{FF2B5EF4-FFF2-40B4-BE49-F238E27FC236}">
                <a16:creationId xmlns:a16="http://schemas.microsoft.com/office/drawing/2014/main" id="{D0EFE41C-3245-4B2D-8F9D-D7BA203AD732}"/>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4" name="Section rule">
            <a:extLst xmlns:a="http://schemas.openxmlformats.org/drawingml/2006/main">
              <a:ext uri="{FF2B5EF4-FFF2-40B4-BE49-F238E27FC236}">
                <a16:creationId xmlns:a16="http://schemas.microsoft.com/office/drawing/2014/main" id="{0E7C3533-5757-4F4F-A80B-5C96BA4710DE}"/>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92D65C6D-72D3-4484-A094-F499E30FF7FD}"/>
              </a:ext>
            </a:extLst>
          </p:cNvPr>
          <p:cNvSpPr>
            <a:spLocks xmlns:a="http://schemas.openxmlformats.org/drawingml/2006/main" noGrp="1"/>
          </p:cNvSpPr>
          <p:nvPr/>
        </p:nvSpPr>
        <p:spPr>
          <a:xfrm xmlns:a="http://schemas.openxmlformats.org/drawingml/2006/main">
            <a:off x="609600" y="6562725"/>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AAB8B0"/>
                </a:solidFill>
                <a:latin typeface="Arial"/>
                <a:ea typeface="Arial"/>
                <a:cs typeface="Arial"/>
              </a:defRPr>
            </a:pPr>
            <a:r>
              <a:rPr sz="900" b="0">
                <a:solidFill>
                  <a:srgbClr val="AAB8B0"/>
                </a:solidFill>
                <a:latin typeface="Arial"/>
                <a:ea typeface="Arial"/>
                <a:cs typeface="Arial"/>
              </a:rPr>
              <a:t>SYNTHETIC DATA  /  UNSUPERVISED DISCOVERY  /  HUMAN EVALUATION</a:t>
            </a:r>
          </a:p>
        </p:txBody>
      </p:sp>
      <p:sp>
        <p:nvSpPr>
          <p:cNvPr id="6" name="Page number">
            <a:extLst xmlns:a="http://schemas.openxmlformats.org/drawingml/2006/main">
              <a:ext uri="{FF2B5EF4-FFF2-40B4-BE49-F238E27FC236}">
                <a16:creationId xmlns:a16="http://schemas.microsoft.com/office/drawing/2014/main" id="{5207D9D1-B5A9-46EE-9F33-637DE8D815CD}"/>
              </a:ext>
            </a:extLst>
          </p:cNvPr>
          <p:cNvSpPr>
            <a:spLocks xmlns:a="http://schemas.openxmlformats.org/drawingml/2006/main" noGrp="1"/>
          </p:cNvSpPr>
          <p:nvPr/>
        </p:nvSpPr>
        <p:spPr>
          <a:xfrm xmlns:a="http://schemas.openxmlformats.org/drawingml/2006/main">
            <a:off x="11049000" y="65436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9AEBCA"/>
                </a:solidFill>
                <a:latin typeface="Arial"/>
                <a:ea typeface="Arial"/>
                <a:cs typeface="Arial"/>
              </a:defRPr>
            </a:pPr>
            <a:r>
              <a:rPr sz="1050" b="1">
                <a:solidFill>
                  <a:srgbClr val="9AEBCA"/>
                </a:solidFill>
                <a:latin typeface="Arial"/>
                <a:ea typeface="Arial"/>
                <a:cs typeface="Arial"/>
              </a:rPr>
              <a:t>16</a:t>
            </a:r>
          </a:p>
        </p:txBody>
      </p:sp>
      <p:sp>
        <p:nvSpPr>
          <p:cNvPr id="7" name="Text">
            <a:extLst xmlns:a="http://schemas.openxmlformats.org/drawingml/2006/main">
              <a:ext uri="{FF2B5EF4-FFF2-40B4-BE49-F238E27FC236}">
                <a16:creationId xmlns:a16="http://schemas.microsoft.com/office/drawing/2014/main" id="{7D88F78D-F695-4836-A372-BBBF42D661BD}"/>
              </a:ext>
            </a:extLst>
          </p:cNvPr>
          <p:cNvSpPr>
            <a:spLocks xmlns:a="http://schemas.openxmlformats.org/drawingml/2006/main" noGrp="1"/>
          </p:cNvSpPr>
          <p:nvPr/>
        </p:nvSpPr>
        <p:spPr>
          <a:xfrm xmlns:a="http://schemas.openxmlformats.org/drawingml/2006/main">
            <a:off x="609600" y="1676400"/>
            <a:ext cx="31623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F0C36A"/>
                </a:solidFill>
                <a:latin typeface="Arial"/>
                <a:ea typeface="Arial"/>
                <a:cs typeface="Arial"/>
              </a:defRPr>
            </a:pPr>
            <a:r>
              <a:rPr sz="1200" b="1">
                <a:solidFill>
                  <a:srgbClr val="F0C36A"/>
                </a:solidFill>
                <a:latin typeface="Arial"/>
                <a:ea typeface="Arial"/>
                <a:cs typeface="Arial"/>
              </a:rPr>
              <a:t>12 OCT  /  NAACL OR COLING</a:t>
            </a:r>
          </a:p>
        </p:txBody>
      </p:sp>
      <p:sp>
        <p:nvSpPr>
          <p:cNvPr id="8" name="Text">
            <a:extLst xmlns:a="http://schemas.openxmlformats.org/drawingml/2006/main">
              <a:ext uri="{FF2B5EF4-FFF2-40B4-BE49-F238E27FC236}">
                <a16:creationId xmlns:a16="http://schemas.microsoft.com/office/drawing/2014/main" id="{F5E18B70-935E-4AD0-B3D9-5AEB8A81A7CE}"/>
              </a:ext>
            </a:extLst>
          </p:cNvPr>
          <p:cNvSpPr>
            <a:spLocks xmlns:a="http://schemas.openxmlformats.org/drawingml/2006/main" noGrp="1"/>
          </p:cNvSpPr>
          <p:nvPr/>
        </p:nvSpPr>
        <p:spPr>
          <a:xfrm xmlns:a="http://schemas.openxmlformats.org/drawingml/2006/main">
            <a:off x="4010025" y="1647825"/>
            <a:ext cx="704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F3F6F4"/>
                </a:solidFill>
                <a:latin typeface="Arial"/>
                <a:ea typeface="Arial"/>
                <a:cs typeface="Arial"/>
              </a:defRPr>
            </a:pPr>
            <a:r>
              <a:rPr sz="1500" b="0">
                <a:solidFill>
                  <a:srgbClr val="F3F6F4"/>
                </a:solidFill>
                <a:latin typeface="Arial"/>
                <a:ea typeface="Arial"/>
                <a:cs typeface="Arial"/>
              </a:rPr>
              <a:t>Use only if an adjudicated corpus and credible pilot results already exist. One primary commitment serves this shared ARR cycle.</a:t>
            </a:r>
          </a:p>
        </p:txBody>
      </p:sp>
      <p:sp>
        <p:nvSpPr>
          <p:cNvPr id="9" name="Section rule">
            <a:extLst xmlns:a="http://schemas.openxmlformats.org/drawingml/2006/main">
              <a:ext uri="{FF2B5EF4-FFF2-40B4-BE49-F238E27FC236}">
                <a16:creationId xmlns:a16="http://schemas.microsoft.com/office/drawing/2014/main" id="{3A7577DD-9B07-469B-BB75-6D226D2F0F67}"/>
              </a:ext>
            </a:extLst>
          </p:cNvPr>
          <p:cNvSpPr>
            <a:spLocks xmlns:a="http://schemas.openxmlformats.org/drawingml/2006/main" noGrp="1"/>
          </p:cNvSpPr>
          <p:nvPr/>
        </p:nvSpPr>
        <p:spPr>
          <a:xfrm xmlns:a="http://schemas.openxmlformats.org/drawingml/2006/main">
            <a:off x="609600" y="24574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0" name="Text">
            <a:extLst xmlns:a="http://schemas.openxmlformats.org/drawingml/2006/main">
              <a:ext uri="{FF2B5EF4-FFF2-40B4-BE49-F238E27FC236}">
                <a16:creationId xmlns:a16="http://schemas.microsoft.com/office/drawing/2014/main" id="{10EFE0AC-5635-4112-84E6-ED36402B2DA6}"/>
              </a:ext>
            </a:extLst>
          </p:cNvPr>
          <p:cNvSpPr>
            <a:spLocks xmlns:a="http://schemas.openxmlformats.org/drawingml/2006/main" noGrp="1"/>
          </p:cNvSpPr>
          <p:nvPr/>
        </p:nvSpPr>
        <p:spPr>
          <a:xfrm xmlns:a="http://schemas.openxmlformats.org/drawingml/2006/main">
            <a:off x="609600" y="2733675"/>
            <a:ext cx="31623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2DDA8"/>
                </a:solidFill>
                <a:latin typeface="Arial"/>
                <a:ea typeface="Arial"/>
                <a:cs typeface="Arial"/>
              </a:defRPr>
            </a:pPr>
            <a:r>
              <a:rPr sz="1200" b="1">
                <a:solidFill>
                  <a:srgbClr val="62DDA8"/>
                </a:solidFill>
                <a:latin typeface="Arial"/>
                <a:ea typeface="Arial"/>
                <a:cs typeface="Arial"/>
              </a:rPr>
              <a:t>4 DEC  /  NAACL SYSTEM DEMO</a:t>
            </a:r>
          </a:p>
        </p:txBody>
      </p:sp>
      <p:sp>
        <p:nvSpPr>
          <p:cNvPr id="11" name="Text">
            <a:extLst xmlns:a="http://schemas.openxmlformats.org/drawingml/2006/main">
              <a:ext uri="{FF2B5EF4-FFF2-40B4-BE49-F238E27FC236}">
                <a16:creationId xmlns:a16="http://schemas.microsoft.com/office/drawing/2014/main" id="{29F59932-4A7D-4BEA-962E-0831B4AA2934}"/>
              </a:ext>
            </a:extLst>
          </p:cNvPr>
          <p:cNvSpPr>
            <a:spLocks xmlns:a="http://schemas.openxmlformats.org/drawingml/2006/main" noGrp="1"/>
          </p:cNvSpPr>
          <p:nvPr/>
        </p:nvSpPr>
        <p:spPr>
          <a:xfrm xmlns:a="http://schemas.openxmlformats.org/drawingml/2006/main">
            <a:off x="4010025" y="2705100"/>
            <a:ext cx="704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F3F6F4"/>
                </a:solidFill>
                <a:latin typeface="Arial"/>
                <a:ea typeface="Arial"/>
                <a:cs typeface="Arial"/>
              </a:defRPr>
            </a:pPr>
            <a:r>
              <a:rPr sz="1500" b="0">
                <a:solidFill>
                  <a:srgbClr val="F3F6F4"/>
                </a:solidFill>
                <a:latin typeface="Arial"/>
                <a:ea typeface="Arial"/>
                <a:cs typeface="Arial"/>
              </a:rPr>
              <a:t>A fit when the interactive system has empirical value evidence such as a user study, deployment use, or measurable technical comparison.</a:t>
            </a:r>
          </a:p>
        </p:txBody>
      </p:sp>
      <p:sp>
        <p:nvSpPr>
          <p:cNvPr id="12" name="Section rule">
            <a:extLst xmlns:a="http://schemas.openxmlformats.org/drawingml/2006/main">
              <a:ext uri="{FF2B5EF4-FFF2-40B4-BE49-F238E27FC236}">
                <a16:creationId xmlns:a16="http://schemas.microsoft.com/office/drawing/2014/main" id="{80087ACA-0909-47A9-916B-118ACF2CE67D}"/>
              </a:ext>
            </a:extLst>
          </p:cNvPr>
          <p:cNvSpPr>
            <a:spLocks xmlns:a="http://schemas.openxmlformats.org/drawingml/2006/main" noGrp="1"/>
          </p:cNvSpPr>
          <p:nvPr/>
        </p:nvSpPr>
        <p:spPr>
          <a:xfrm xmlns:a="http://schemas.openxmlformats.org/drawingml/2006/main">
            <a:off x="609600" y="35147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515C423C-7318-4928-A0F1-9BE232DDC74C}"/>
              </a:ext>
            </a:extLst>
          </p:cNvPr>
          <p:cNvSpPr>
            <a:spLocks xmlns:a="http://schemas.openxmlformats.org/drawingml/2006/main" noGrp="1"/>
          </p:cNvSpPr>
          <p:nvPr/>
        </p:nvSpPr>
        <p:spPr>
          <a:xfrm xmlns:a="http://schemas.openxmlformats.org/drawingml/2006/main">
            <a:off x="609600" y="3790950"/>
            <a:ext cx="31623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2DDA8"/>
                </a:solidFill>
                <a:latin typeface="Arial"/>
                <a:ea typeface="Arial"/>
                <a:cs typeface="Arial"/>
              </a:defRPr>
            </a:pPr>
            <a:r>
              <a:rPr sz="1200" b="1">
                <a:solidFill>
                  <a:srgbClr val="62DDA8"/>
                </a:solidFill>
                <a:latin typeface="Arial"/>
                <a:ea typeface="Arial"/>
                <a:cs typeface="Arial"/>
              </a:rPr>
              <a:t>15 DEC  /  EACL WORKSHOP OR SRW</a:t>
            </a:r>
          </a:p>
        </p:txBody>
      </p:sp>
      <p:sp>
        <p:nvSpPr>
          <p:cNvPr id="14" name="Text">
            <a:extLst xmlns:a="http://schemas.openxmlformats.org/drawingml/2006/main">
              <a:ext uri="{FF2B5EF4-FFF2-40B4-BE49-F238E27FC236}">
                <a16:creationId xmlns:a16="http://schemas.microsoft.com/office/drawing/2014/main" id="{88836DC0-35FC-473C-82F9-7EEB2F39D617}"/>
              </a:ext>
            </a:extLst>
          </p:cNvPr>
          <p:cNvSpPr>
            <a:spLocks xmlns:a="http://schemas.openxmlformats.org/drawingml/2006/main" noGrp="1"/>
          </p:cNvSpPr>
          <p:nvPr/>
        </p:nvSpPr>
        <p:spPr>
          <a:xfrm xmlns:a="http://schemas.openxmlformats.org/drawingml/2006/main">
            <a:off x="4010025" y="3762375"/>
            <a:ext cx="704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F3F6F4"/>
                </a:solidFill>
                <a:latin typeface="Arial"/>
                <a:ea typeface="Arial"/>
                <a:cs typeface="Arial"/>
              </a:defRPr>
            </a:pPr>
            <a:r>
              <a:rPr sz="1500" b="0">
                <a:solidFill>
                  <a:srgbClr val="F3F6F4"/>
                </a:solidFill>
                <a:latin typeface="Arial"/>
                <a:ea typeface="Arial"/>
                <a:cs typeface="Arial"/>
              </a:rPr>
              <a:t>A smaller pilot route. SRW requires a student first author; workshop submission depends on an accepted workshop and its call.</a:t>
            </a:r>
          </a:p>
        </p:txBody>
      </p:sp>
      <p:sp>
        <p:nvSpPr>
          <p:cNvPr id="15" name="Section rule">
            <a:extLst xmlns:a="http://schemas.openxmlformats.org/drawingml/2006/main">
              <a:ext uri="{FF2B5EF4-FFF2-40B4-BE49-F238E27FC236}">
                <a16:creationId xmlns:a16="http://schemas.microsoft.com/office/drawing/2014/main" id="{EED504C2-4F18-4F4A-BFAF-6CA8A448DDC0}"/>
              </a:ext>
            </a:extLst>
          </p:cNvPr>
          <p:cNvSpPr>
            <a:spLocks xmlns:a="http://schemas.openxmlformats.org/drawingml/2006/main" noGrp="1"/>
          </p:cNvSpPr>
          <p:nvPr/>
        </p:nvSpPr>
        <p:spPr>
          <a:xfrm xmlns:a="http://schemas.openxmlformats.org/drawingml/2006/main">
            <a:off x="609600" y="457200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6" name="Text">
            <a:extLst xmlns:a="http://schemas.openxmlformats.org/drawingml/2006/main">
              <a:ext uri="{FF2B5EF4-FFF2-40B4-BE49-F238E27FC236}">
                <a16:creationId xmlns:a16="http://schemas.microsoft.com/office/drawing/2014/main" id="{E31D50AE-6015-417F-9826-9799274D4129}"/>
              </a:ext>
            </a:extLst>
          </p:cNvPr>
          <p:cNvSpPr>
            <a:spLocks xmlns:a="http://schemas.openxmlformats.org/drawingml/2006/main" noGrp="1"/>
          </p:cNvSpPr>
          <p:nvPr/>
        </p:nvSpPr>
        <p:spPr>
          <a:xfrm xmlns:a="http://schemas.openxmlformats.org/drawingml/2006/main">
            <a:off x="609600" y="4848225"/>
            <a:ext cx="31623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2DDA8"/>
                </a:solidFill>
                <a:latin typeface="Arial"/>
                <a:ea typeface="Arial"/>
                <a:cs typeface="Arial"/>
              </a:defRPr>
            </a:pPr>
            <a:r>
              <a:rPr sz="1200" b="1">
                <a:solidFill>
                  <a:srgbClr val="62DDA8"/>
                </a:solidFill>
                <a:latin typeface="Arial"/>
                <a:ea typeface="Arial"/>
                <a:cs typeface="Arial"/>
              </a:rPr>
              <a:t>4 JAN  /  ACL MAIN</a:t>
            </a:r>
          </a:p>
        </p:txBody>
      </p:sp>
      <p:sp>
        <p:nvSpPr>
          <p:cNvPr id="17" name="Text">
            <a:extLst xmlns:a="http://schemas.openxmlformats.org/drawingml/2006/main">
              <a:ext uri="{FF2B5EF4-FFF2-40B4-BE49-F238E27FC236}">
                <a16:creationId xmlns:a16="http://schemas.microsoft.com/office/drawing/2014/main" id="{A6E8CC66-C999-4A26-9F20-C4AA514A8F33}"/>
              </a:ext>
            </a:extLst>
          </p:cNvPr>
          <p:cNvSpPr>
            <a:spLocks xmlns:a="http://schemas.openxmlformats.org/drawingml/2006/main" noGrp="1"/>
          </p:cNvSpPr>
          <p:nvPr/>
        </p:nvSpPr>
        <p:spPr>
          <a:xfrm xmlns:a="http://schemas.openxmlformats.org/drawingml/2006/main">
            <a:off x="4010025" y="4819650"/>
            <a:ext cx="704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F3F6F4"/>
                </a:solidFill>
                <a:latin typeface="Arial"/>
                <a:ea typeface="Arial"/>
                <a:cs typeface="Arial"/>
              </a:defRPr>
            </a:pPr>
            <a:r>
              <a:rPr sz="1500" b="0">
                <a:solidFill>
                  <a:srgbClr val="F3F6F4"/>
                </a:solidFill>
                <a:latin typeface="Arial"/>
                <a:ea typeface="Arial"/>
                <a:cs typeface="Arial"/>
              </a:rPr>
              <a:t>Best full-paper window for a controlled study of synthetic-data value and unlabeled sampling, provided the gold split and ablations are complete.</a:t>
            </a:r>
          </a:p>
        </p:txBody>
      </p:sp>
      <p:sp>
        <p:nvSpPr>
          <p:cNvPr id="18" name="Section rule">
            <a:extLst xmlns:a="http://schemas.openxmlformats.org/drawingml/2006/main">
              <a:ext uri="{FF2B5EF4-FFF2-40B4-BE49-F238E27FC236}">
                <a16:creationId xmlns:a16="http://schemas.microsoft.com/office/drawing/2014/main" id="{6F69F434-2263-47D6-B74B-8F4AECD6C933}"/>
              </a:ext>
            </a:extLst>
          </p:cNvPr>
          <p:cNvSpPr>
            <a:spLocks xmlns:a="http://schemas.openxmlformats.org/drawingml/2006/main" noGrp="1"/>
          </p:cNvSpPr>
          <p:nvPr/>
        </p:nvSpPr>
        <p:spPr>
          <a:xfrm xmlns:a="http://schemas.openxmlformats.org/drawingml/2006/main">
            <a:off x="609600" y="562927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43FD2695-6FAD-4EE5-AE01-617B6009A942}"/>
              </a:ext>
            </a:extLst>
          </p:cNvPr>
          <p:cNvSpPr>
            <a:spLocks xmlns:a="http://schemas.openxmlformats.org/drawingml/2006/main" noGrp="1"/>
          </p:cNvSpPr>
          <p:nvPr/>
        </p:nvSpPr>
        <p:spPr>
          <a:xfrm xmlns:a="http://schemas.openxmlformats.org/drawingml/2006/main">
            <a:off x="609600" y="5981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0C36A"/>
                </a:solidFill>
                <a:latin typeface="Arial"/>
                <a:ea typeface="Arial"/>
                <a:cs typeface="Arial"/>
              </a:defRPr>
            </a:pPr>
            <a:r>
              <a:rPr sz="1350" b="1">
                <a:solidFill>
                  <a:srgbClr val="F0C36A"/>
                </a:solidFill>
                <a:latin typeface="Arial"/>
                <a:ea typeface="Arial"/>
                <a:cs typeface="Arial"/>
              </a:rPr>
              <a:t>Current repo status favors the ACL window unless private, publishable gold data already exist.</a:t>
            </a:r>
          </a:p>
        </p:txBody>
      </p:sp>
    </p:spTree>
    <p:extLst>
      <p:ext uri="{BB962C8B-B14F-4D97-AF65-F5344CB8AC3E}">
        <p14:creationId xmlns:p14="http://schemas.microsoft.com/office/powerpoint/2010/main" val="2112523327"/>
      </p:ext>
    </p:extLst>
  </p:cSld>
</p:sld>
</file>

<file path=ppt/slides/slide17.xml><?xml version="1.0" encoding="utf-8"?>
<p:sld xmlns:p="http://schemas.openxmlformats.org/presentationml/2006/main">
  <p:cSld>
    <p:bg>
      <p:bgPr>
        <a:solidFill xmlns:a="http://schemas.openxmlformats.org/drawingml/2006/main">
          <a:srgbClr val="202522"/>
        </a:solidFill>
      </p:bgPr>
    </p:bg>
    <p:spTree>
      <p:nvGrpSpPr>
        <p:cNvPr id="1" name=""/>
        <p:cNvGrpSpPr/>
        <p:nvPr/>
      </p:nvGrpSpPr>
      <p:grpSpPr>
        <a:xfrm xmlns:a="http://schemas.openxmlformats.org/drawingml/2006/main"/>
      </p:grpSpPr>
      <p:sp>
        <p:nvSpPr>
          <p:cNvPr id="27" name="Section label">
            <a:extLst xmlns:a="http://schemas.openxmlformats.org/drawingml/2006/main">
              <a:ext uri="{FF2B5EF4-FFF2-40B4-BE49-F238E27FC236}">
                <a16:creationId xmlns:a16="http://schemas.microsoft.com/office/drawing/2014/main" id="{6E67A7AA-31D0-4557-943C-E91BA9DCE109}"/>
              </a:ext>
            </a:extLst>
          </p:cNvPr>
          <p:cNvSpPr>
            <a:spLocks xmlns:a="http://schemas.openxmlformats.org/drawingml/2006/main" noGrp="1"/>
          </p:cNvSpPr>
          <p:nvPr/>
        </p:nvSpPr>
        <p:spPr>
          <a:xfrm xmlns:a="http://schemas.openxmlformats.org/drawingml/2006/main">
            <a:off x="609600" y="2571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  EXECUTION PLAN</a:t>
            </a:r>
          </a:p>
        </p:txBody>
      </p:sp>
      <p:sp>
        <p:nvSpPr>
          <p:cNvPr id="2" name="Slide title">
            <a:extLst xmlns:a="http://schemas.openxmlformats.org/drawingml/2006/main">
              <a:ext uri="{FF2B5EF4-FFF2-40B4-BE49-F238E27FC236}">
                <a16:creationId xmlns:a16="http://schemas.microsoft.com/office/drawing/2014/main" id="{5FD348EB-87AE-49D7-832D-1BAC13963D85}"/>
              </a:ext>
            </a:extLst>
          </p:cNvPr>
          <p:cNvSpPr>
            <a:spLocks xmlns:a="http://schemas.openxmlformats.org/drawingml/2006/main" noGrp="1"/>
          </p:cNvSpPr>
          <p:nvPr/>
        </p:nvSpPr>
        <p:spPr>
          <a:xfrm xmlns:a="http://schemas.openxmlformats.org/drawingml/2006/main">
            <a:off x="609600" y="5810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75" b="1">
                <a:solidFill>
                  <a:srgbClr val="F3F6F4"/>
                </a:solidFill>
                <a:latin typeface="Arial"/>
                <a:ea typeface="Arial"/>
                <a:cs typeface="Arial"/>
              </a:defRPr>
            </a:pPr>
            <a:r>
              <a:rPr sz="3075" b="1">
                <a:solidFill>
                  <a:srgbClr val="F3F6F4"/>
                </a:solidFill>
                <a:latin typeface="Arial"/>
                <a:ea typeface="Arial"/>
                <a:cs typeface="Arial"/>
              </a:rPr>
              <a:t>Workback plan to the ACL ARR deadline</a:t>
            </a:r>
          </a:p>
        </p:txBody>
      </p:sp>
      <p:sp>
        <p:nvSpPr>
          <p:cNvPr id="3" name="Section rule">
            <a:extLst xmlns:a="http://schemas.openxmlformats.org/drawingml/2006/main">
              <a:ext uri="{FF2B5EF4-FFF2-40B4-BE49-F238E27FC236}">
                <a16:creationId xmlns:a16="http://schemas.microsoft.com/office/drawing/2014/main" id="{B48BEF5A-13A8-42DC-80C7-0FDBBDDE2743}"/>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4" name="Section rule">
            <a:extLst xmlns:a="http://schemas.openxmlformats.org/drawingml/2006/main">
              <a:ext uri="{FF2B5EF4-FFF2-40B4-BE49-F238E27FC236}">
                <a16:creationId xmlns:a16="http://schemas.microsoft.com/office/drawing/2014/main" id="{5B9AD14F-A0D3-496C-9936-C2A713B8B0AF}"/>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2CB96EAF-BFFE-47CF-B218-178B6F4435BA}"/>
              </a:ext>
            </a:extLst>
          </p:cNvPr>
          <p:cNvSpPr>
            <a:spLocks xmlns:a="http://schemas.openxmlformats.org/drawingml/2006/main" noGrp="1"/>
          </p:cNvSpPr>
          <p:nvPr/>
        </p:nvSpPr>
        <p:spPr>
          <a:xfrm xmlns:a="http://schemas.openxmlformats.org/drawingml/2006/main">
            <a:off x="609600" y="6562725"/>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AAB8B0"/>
                </a:solidFill>
                <a:latin typeface="Arial"/>
                <a:ea typeface="Arial"/>
                <a:cs typeface="Arial"/>
              </a:defRPr>
            </a:pPr>
            <a:r>
              <a:rPr sz="900" b="0">
                <a:solidFill>
                  <a:srgbClr val="AAB8B0"/>
                </a:solidFill>
                <a:latin typeface="Arial"/>
                <a:ea typeface="Arial"/>
                <a:cs typeface="Arial"/>
              </a:rPr>
              <a:t>SYNTHETIC DATA  /  UNSUPERVISED DISCOVERY  /  HUMAN EVALUATION</a:t>
            </a:r>
          </a:p>
        </p:txBody>
      </p:sp>
      <p:sp>
        <p:nvSpPr>
          <p:cNvPr id="6" name="Page number">
            <a:extLst xmlns:a="http://schemas.openxmlformats.org/drawingml/2006/main">
              <a:ext uri="{FF2B5EF4-FFF2-40B4-BE49-F238E27FC236}">
                <a16:creationId xmlns:a16="http://schemas.microsoft.com/office/drawing/2014/main" id="{606C468A-A18D-45B0-B7AF-DDDD19C5E564}"/>
              </a:ext>
            </a:extLst>
          </p:cNvPr>
          <p:cNvSpPr>
            <a:spLocks xmlns:a="http://schemas.openxmlformats.org/drawingml/2006/main" noGrp="1"/>
          </p:cNvSpPr>
          <p:nvPr/>
        </p:nvSpPr>
        <p:spPr>
          <a:xfrm xmlns:a="http://schemas.openxmlformats.org/drawingml/2006/main">
            <a:off x="11049000" y="65436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9AEBCA"/>
                </a:solidFill>
                <a:latin typeface="Arial"/>
                <a:ea typeface="Arial"/>
                <a:cs typeface="Arial"/>
              </a:defRPr>
            </a:pPr>
            <a:r>
              <a:rPr sz="1050" b="1">
                <a:solidFill>
                  <a:srgbClr val="9AEBCA"/>
                </a:solidFill>
                <a:latin typeface="Arial"/>
                <a:ea typeface="Arial"/>
                <a:cs typeface="Arial"/>
              </a:rPr>
              <a:t>17</a:t>
            </a:r>
          </a:p>
        </p:txBody>
      </p:sp>
      <p:sp>
        <p:nvSpPr>
          <p:cNvPr id="7" name="Text">
            <a:extLst xmlns:a="http://schemas.openxmlformats.org/drawingml/2006/main">
              <a:ext uri="{FF2B5EF4-FFF2-40B4-BE49-F238E27FC236}">
                <a16:creationId xmlns:a16="http://schemas.microsoft.com/office/drawing/2014/main" id="{98B2CE1B-D01D-4017-9B1C-4F95E6CCF358}"/>
              </a:ext>
            </a:extLst>
          </p:cNvPr>
          <p:cNvSpPr>
            <a:spLocks xmlns:a="http://schemas.openxmlformats.org/drawingml/2006/main" noGrp="1"/>
          </p:cNvSpPr>
          <p:nvPr/>
        </p:nvSpPr>
        <p:spPr>
          <a:xfrm xmlns:a="http://schemas.openxmlformats.org/drawingml/2006/main">
            <a:off x="609600" y="1695450"/>
            <a:ext cx="1762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2DDA8"/>
                </a:solidFill>
                <a:latin typeface="Arial"/>
                <a:ea typeface="Arial"/>
                <a:cs typeface="Arial"/>
              </a:defRPr>
            </a:pPr>
            <a:r>
              <a:rPr sz="1200" b="1">
                <a:solidFill>
                  <a:srgbClr val="62DDA8"/>
                </a:solidFill>
                <a:latin typeface="Arial"/>
                <a:ea typeface="Arial"/>
                <a:cs typeface="Arial"/>
              </a:rPr>
              <a:t>OCT 1–12</a:t>
            </a:r>
          </a:p>
        </p:txBody>
      </p:sp>
      <p:sp>
        <p:nvSpPr>
          <p:cNvPr id="8" name="Text">
            <a:extLst xmlns:a="http://schemas.openxmlformats.org/drawingml/2006/main">
              <a:ext uri="{FF2B5EF4-FFF2-40B4-BE49-F238E27FC236}">
                <a16:creationId xmlns:a16="http://schemas.microsoft.com/office/drawing/2014/main" id="{4B2D096A-86D6-48D0-BDD5-DA9380082F9E}"/>
              </a:ext>
            </a:extLst>
          </p:cNvPr>
          <p:cNvSpPr>
            <a:spLocks xmlns:a="http://schemas.openxmlformats.org/drawingml/2006/main" noGrp="1"/>
          </p:cNvSpPr>
          <p:nvPr/>
        </p:nvSpPr>
        <p:spPr>
          <a:xfrm xmlns:a="http://schemas.openxmlformats.org/drawingml/2006/main">
            <a:off x="2505075" y="1676400"/>
            <a:ext cx="2038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3F6F4"/>
                </a:solidFill>
                <a:latin typeface="Arial"/>
                <a:ea typeface="Arial"/>
                <a:cs typeface="Arial"/>
              </a:defRPr>
            </a:pPr>
            <a:r>
              <a:rPr sz="1575" b="1">
                <a:solidFill>
                  <a:srgbClr val="F3F6F4"/>
                </a:solidFill>
                <a:latin typeface="Arial"/>
                <a:ea typeface="Arial"/>
                <a:cs typeface="Arial"/>
              </a:rPr>
              <a:t>Corpus gate</a:t>
            </a:r>
          </a:p>
        </p:txBody>
      </p:sp>
      <p:sp>
        <p:nvSpPr>
          <p:cNvPr id="9" name="Text">
            <a:extLst xmlns:a="http://schemas.openxmlformats.org/drawingml/2006/main">
              <a:ext uri="{FF2B5EF4-FFF2-40B4-BE49-F238E27FC236}">
                <a16:creationId xmlns:a16="http://schemas.microsoft.com/office/drawing/2014/main" id="{0F40584D-4A0C-4419-B2C8-0400EB4B30AD}"/>
              </a:ext>
            </a:extLst>
          </p:cNvPr>
          <p:cNvSpPr>
            <a:spLocks xmlns:a="http://schemas.openxmlformats.org/drawingml/2006/main" noGrp="1"/>
          </p:cNvSpPr>
          <p:nvPr/>
        </p:nvSpPr>
        <p:spPr>
          <a:xfrm xmlns:a="http://schemas.openxmlformats.org/drawingml/2006/main">
            <a:off x="4762500" y="1676400"/>
            <a:ext cx="619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AAB8B0"/>
                </a:solidFill>
                <a:latin typeface="Arial"/>
                <a:ea typeface="Arial"/>
                <a:cs typeface="Arial"/>
              </a:defRPr>
            </a:pPr>
            <a:r>
              <a:rPr sz="1425" b="0">
                <a:solidFill>
                  <a:srgbClr val="AAB8B0"/>
                </a:solidFill>
                <a:latin typeface="Arial"/>
                <a:ea typeface="Arial"/>
                <a:cs typeface="Arial"/>
              </a:rPr>
              <a:t>Confirm access, rights, annotation schema, and whether an Oct ARR paper is already evidence-ready.</a:t>
            </a:r>
          </a:p>
        </p:txBody>
      </p:sp>
      <p:sp>
        <p:nvSpPr>
          <p:cNvPr id="10" name="Section rule">
            <a:extLst xmlns:a="http://schemas.openxmlformats.org/drawingml/2006/main">
              <a:ext uri="{FF2B5EF4-FFF2-40B4-BE49-F238E27FC236}">
                <a16:creationId xmlns:a16="http://schemas.microsoft.com/office/drawing/2014/main" id="{5943CF4F-2CB9-432A-A2CD-9D3E0951BD1D}"/>
              </a:ext>
            </a:extLst>
          </p:cNvPr>
          <p:cNvSpPr>
            <a:spLocks xmlns:a="http://schemas.openxmlformats.org/drawingml/2006/main" noGrp="1"/>
          </p:cNvSpPr>
          <p:nvPr/>
        </p:nvSpPr>
        <p:spPr>
          <a:xfrm xmlns:a="http://schemas.openxmlformats.org/drawingml/2006/main">
            <a:off x="609600" y="227647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4A96225A-9778-4075-8288-F53CE27D7317}"/>
              </a:ext>
            </a:extLst>
          </p:cNvPr>
          <p:cNvSpPr>
            <a:spLocks xmlns:a="http://schemas.openxmlformats.org/drawingml/2006/main" noGrp="1"/>
          </p:cNvSpPr>
          <p:nvPr/>
        </p:nvSpPr>
        <p:spPr>
          <a:xfrm xmlns:a="http://schemas.openxmlformats.org/drawingml/2006/main">
            <a:off x="609600" y="2571750"/>
            <a:ext cx="1762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2DDA8"/>
                </a:solidFill>
                <a:latin typeface="Arial"/>
                <a:ea typeface="Arial"/>
                <a:cs typeface="Arial"/>
              </a:defRPr>
            </a:pPr>
            <a:r>
              <a:rPr sz="1200" b="1">
                <a:solidFill>
                  <a:srgbClr val="62DDA8"/>
                </a:solidFill>
                <a:latin typeface="Arial"/>
                <a:ea typeface="Arial"/>
                <a:cs typeface="Arial"/>
              </a:rPr>
              <a:t>OCT–NOV</a:t>
            </a:r>
          </a:p>
        </p:txBody>
      </p:sp>
      <p:sp>
        <p:nvSpPr>
          <p:cNvPr id="12" name="Text">
            <a:extLst xmlns:a="http://schemas.openxmlformats.org/drawingml/2006/main">
              <a:ext uri="{FF2B5EF4-FFF2-40B4-BE49-F238E27FC236}">
                <a16:creationId xmlns:a16="http://schemas.microsoft.com/office/drawing/2014/main" id="{4381F1BB-0678-410D-89BC-9ADBB0A13720}"/>
              </a:ext>
            </a:extLst>
          </p:cNvPr>
          <p:cNvSpPr>
            <a:spLocks xmlns:a="http://schemas.openxmlformats.org/drawingml/2006/main" noGrp="1"/>
          </p:cNvSpPr>
          <p:nvPr/>
        </p:nvSpPr>
        <p:spPr>
          <a:xfrm xmlns:a="http://schemas.openxmlformats.org/drawingml/2006/main">
            <a:off x="2505075" y="2552700"/>
            <a:ext cx="2038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3F6F4"/>
                </a:solidFill>
                <a:latin typeface="Arial"/>
                <a:ea typeface="Arial"/>
                <a:cs typeface="Arial"/>
              </a:defRPr>
            </a:pPr>
            <a:r>
              <a:rPr sz="1575" b="1">
                <a:solidFill>
                  <a:srgbClr val="F3F6F4"/>
                </a:solidFill>
                <a:latin typeface="Arial"/>
                <a:ea typeface="Arial"/>
                <a:cs typeface="Arial"/>
              </a:rPr>
              <a:t>Gold and strata</a:t>
            </a:r>
          </a:p>
        </p:txBody>
      </p:sp>
      <p:sp>
        <p:nvSpPr>
          <p:cNvPr id="13" name="Text">
            <a:extLst xmlns:a="http://schemas.openxmlformats.org/drawingml/2006/main">
              <a:ext uri="{FF2B5EF4-FFF2-40B4-BE49-F238E27FC236}">
                <a16:creationId xmlns:a16="http://schemas.microsoft.com/office/drawing/2014/main" id="{1079C920-F6F9-4172-8B89-B286F7C5997B}"/>
              </a:ext>
            </a:extLst>
          </p:cNvPr>
          <p:cNvSpPr>
            <a:spLocks xmlns:a="http://schemas.openxmlformats.org/drawingml/2006/main" noGrp="1"/>
          </p:cNvSpPr>
          <p:nvPr/>
        </p:nvSpPr>
        <p:spPr>
          <a:xfrm xmlns:a="http://schemas.openxmlformats.org/drawingml/2006/main">
            <a:off x="4762500" y="2552700"/>
            <a:ext cx="619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AAB8B0"/>
                </a:solidFill>
                <a:latin typeface="Arial"/>
                <a:ea typeface="Arial"/>
                <a:cs typeface="Arial"/>
              </a:defRPr>
            </a:pPr>
            <a:r>
              <a:rPr sz="1425" b="0">
                <a:solidFill>
                  <a:srgbClr val="AAB8B0"/>
                </a:solidFill>
                <a:latin typeface="Arial"/>
                <a:ea typeface="Arial"/>
                <a:cs typeface="Arial"/>
              </a:rPr>
              <a:t>Lock document splits, sample unlabeled clusters, annotate and adjudicate high-value strata.</a:t>
            </a:r>
          </a:p>
        </p:txBody>
      </p:sp>
      <p:sp>
        <p:nvSpPr>
          <p:cNvPr id="14" name="Section rule">
            <a:extLst xmlns:a="http://schemas.openxmlformats.org/drawingml/2006/main">
              <a:ext uri="{FF2B5EF4-FFF2-40B4-BE49-F238E27FC236}">
                <a16:creationId xmlns:a16="http://schemas.microsoft.com/office/drawing/2014/main" id="{18755818-DC34-49E0-B744-2F784602977F}"/>
              </a:ext>
            </a:extLst>
          </p:cNvPr>
          <p:cNvSpPr>
            <a:spLocks xmlns:a="http://schemas.openxmlformats.org/drawingml/2006/main" noGrp="1"/>
          </p:cNvSpPr>
          <p:nvPr/>
        </p:nvSpPr>
        <p:spPr>
          <a:xfrm xmlns:a="http://schemas.openxmlformats.org/drawingml/2006/main">
            <a:off x="609600" y="315277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F105D77B-F54F-4E05-B5D5-855DA360E0F3}"/>
              </a:ext>
            </a:extLst>
          </p:cNvPr>
          <p:cNvSpPr>
            <a:spLocks xmlns:a="http://schemas.openxmlformats.org/drawingml/2006/main" noGrp="1"/>
          </p:cNvSpPr>
          <p:nvPr/>
        </p:nvSpPr>
        <p:spPr>
          <a:xfrm xmlns:a="http://schemas.openxmlformats.org/drawingml/2006/main">
            <a:off x="609600" y="3448050"/>
            <a:ext cx="1762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2DDA8"/>
                </a:solidFill>
                <a:latin typeface="Arial"/>
                <a:ea typeface="Arial"/>
                <a:cs typeface="Arial"/>
              </a:defRPr>
            </a:pPr>
            <a:r>
              <a:rPr sz="1200" b="1">
                <a:solidFill>
                  <a:srgbClr val="62DDA8"/>
                </a:solidFill>
                <a:latin typeface="Arial"/>
                <a:ea typeface="Arial"/>
                <a:cs typeface="Arial"/>
              </a:rPr>
              <a:t>NOV</a:t>
            </a:r>
          </a:p>
        </p:txBody>
      </p:sp>
      <p:sp>
        <p:nvSpPr>
          <p:cNvPr id="16" name="Text">
            <a:extLst xmlns:a="http://schemas.openxmlformats.org/drawingml/2006/main">
              <a:ext uri="{FF2B5EF4-FFF2-40B4-BE49-F238E27FC236}">
                <a16:creationId xmlns:a16="http://schemas.microsoft.com/office/drawing/2014/main" id="{E3C496D1-F165-4F50-ABCF-EAE054417678}"/>
              </a:ext>
            </a:extLst>
          </p:cNvPr>
          <p:cNvSpPr>
            <a:spLocks xmlns:a="http://schemas.openxmlformats.org/drawingml/2006/main" noGrp="1"/>
          </p:cNvSpPr>
          <p:nvPr/>
        </p:nvSpPr>
        <p:spPr>
          <a:xfrm xmlns:a="http://schemas.openxmlformats.org/drawingml/2006/main">
            <a:off x="2505075" y="3429000"/>
            <a:ext cx="2038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3F6F4"/>
                </a:solidFill>
                <a:latin typeface="Arial"/>
                <a:ea typeface="Arial"/>
                <a:cs typeface="Arial"/>
              </a:defRPr>
            </a:pPr>
            <a:r>
              <a:rPr sz="1575" b="1">
                <a:solidFill>
                  <a:srgbClr val="F3F6F4"/>
                </a:solidFill>
                <a:latin typeface="Arial"/>
                <a:ea typeface="Arial"/>
                <a:cs typeface="Arial"/>
              </a:rPr>
              <a:t>Generator pilot</a:t>
            </a:r>
          </a:p>
        </p:txBody>
      </p:sp>
      <p:sp>
        <p:nvSpPr>
          <p:cNvPr id="17" name="Text">
            <a:extLst xmlns:a="http://schemas.openxmlformats.org/drawingml/2006/main">
              <a:ext uri="{FF2B5EF4-FFF2-40B4-BE49-F238E27FC236}">
                <a16:creationId xmlns:a16="http://schemas.microsoft.com/office/drawing/2014/main" id="{CC398672-C5B5-45D6-9740-5FE585CA70F7}"/>
              </a:ext>
            </a:extLst>
          </p:cNvPr>
          <p:cNvSpPr>
            <a:spLocks xmlns:a="http://schemas.openxmlformats.org/drawingml/2006/main" noGrp="1"/>
          </p:cNvSpPr>
          <p:nvPr/>
        </p:nvSpPr>
        <p:spPr>
          <a:xfrm xmlns:a="http://schemas.openxmlformats.org/drawingml/2006/main">
            <a:off x="4762500" y="3429000"/>
            <a:ext cx="619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AAB8B0"/>
                </a:solidFill>
                <a:latin typeface="Arial"/>
                <a:ea typeface="Arial"/>
                <a:cs typeface="Arial"/>
              </a:defRPr>
            </a:pPr>
            <a:r>
              <a:rPr sz="1425" b="0">
                <a:solidFill>
                  <a:srgbClr val="AAB8B0"/>
                </a:solidFill>
                <a:latin typeface="Arial"/>
                <a:ea typeface="Arial"/>
                <a:cs typeface="Arial"/>
              </a:rPr>
              <a:t>Create contrast sets, audit labels and spans, record lineage, deduplicate against source and test.</a:t>
            </a:r>
          </a:p>
        </p:txBody>
      </p:sp>
      <p:sp>
        <p:nvSpPr>
          <p:cNvPr id="18" name="Section rule">
            <a:extLst xmlns:a="http://schemas.openxmlformats.org/drawingml/2006/main">
              <a:ext uri="{FF2B5EF4-FFF2-40B4-BE49-F238E27FC236}">
                <a16:creationId xmlns:a16="http://schemas.microsoft.com/office/drawing/2014/main" id="{CC82D241-9704-4548-A8C8-D5D5B355D357}"/>
              </a:ext>
            </a:extLst>
          </p:cNvPr>
          <p:cNvSpPr>
            <a:spLocks xmlns:a="http://schemas.openxmlformats.org/drawingml/2006/main" noGrp="1"/>
          </p:cNvSpPr>
          <p:nvPr/>
        </p:nvSpPr>
        <p:spPr>
          <a:xfrm xmlns:a="http://schemas.openxmlformats.org/drawingml/2006/main">
            <a:off x="609600" y="402907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1AE931C5-6043-4181-A41A-C2AA9306C0DB}"/>
              </a:ext>
            </a:extLst>
          </p:cNvPr>
          <p:cNvSpPr>
            <a:spLocks xmlns:a="http://schemas.openxmlformats.org/drawingml/2006/main" noGrp="1"/>
          </p:cNvSpPr>
          <p:nvPr/>
        </p:nvSpPr>
        <p:spPr>
          <a:xfrm xmlns:a="http://schemas.openxmlformats.org/drawingml/2006/main">
            <a:off x="609600" y="4324350"/>
            <a:ext cx="1762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2DDA8"/>
                </a:solidFill>
                <a:latin typeface="Arial"/>
                <a:ea typeface="Arial"/>
                <a:cs typeface="Arial"/>
              </a:defRPr>
            </a:pPr>
            <a:r>
              <a:rPr sz="1200" b="1">
                <a:solidFill>
                  <a:srgbClr val="62DDA8"/>
                </a:solidFill>
                <a:latin typeface="Arial"/>
                <a:ea typeface="Arial"/>
                <a:cs typeface="Arial"/>
              </a:rPr>
              <a:t>DEC</a:t>
            </a:r>
          </a:p>
        </p:txBody>
      </p:sp>
      <p:sp>
        <p:nvSpPr>
          <p:cNvPr id="20" name="Text">
            <a:extLst xmlns:a="http://schemas.openxmlformats.org/drawingml/2006/main">
              <a:ext uri="{FF2B5EF4-FFF2-40B4-BE49-F238E27FC236}">
                <a16:creationId xmlns:a16="http://schemas.microsoft.com/office/drawing/2014/main" id="{9EC2B5C0-C3B7-4E55-8DE1-65DD28E2689C}"/>
              </a:ext>
            </a:extLst>
          </p:cNvPr>
          <p:cNvSpPr>
            <a:spLocks xmlns:a="http://schemas.openxmlformats.org/drawingml/2006/main" noGrp="1"/>
          </p:cNvSpPr>
          <p:nvPr/>
        </p:nvSpPr>
        <p:spPr>
          <a:xfrm xmlns:a="http://schemas.openxmlformats.org/drawingml/2006/main">
            <a:off x="2505075" y="4305300"/>
            <a:ext cx="2038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3F6F4"/>
                </a:solidFill>
                <a:latin typeface="Arial"/>
                <a:ea typeface="Arial"/>
                <a:cs typeface="Arial"/>
              </a:defRPr>
            </a:pPr>
            <a:r>
              <a:rPr sz="1575" b="1">
                <a:solidFill>
                  <a:srgbClr val="F3F6F4"/>
                </a:solidFill>
                <a:latin typeface="Arial"/>
                <a:ea typeface="Arial"/>
                <a:cs typeface="Arial"/>
              </a:rPr>
              <a:t>Ablations</a:t>
            </a:r>
          </a:p>
        </p:txBody>
      </p:sp>
      <p:sp>
        <p:nvSpPr>
          <p:cNvPr id="21" name="Text">
            <a:extLst xmlns:a="http://schemas.openxmlformats.org/drawingml/2006/main">
              <a:ext uri="{FF2B5EF4-FFF2-40B4-BE49-F238E27FC236}">
                <a16:creationId xmlns:a16="http://schemas.microsoft.com/office/drawing/2014/main" id="{83404483-25A6-44E9-81BE-25A073F83356}"/>
              </a:ext>
            </a:extLst>
          </p:cNvPr>
          <p:cNvSpPr>
            <a:spLocks xmlns:a="http://schemas.openxmlformats.org/drawingml/2006/main" noGrp="1"/>
          </p:cNvSpPr>
          <p:nvPr/>
        </p:nvSpPr>
        <p:spPr>
          <a:xfrm xmlns:a="http://schemas.openxmlformats.org/drawingml/2006/main">
            <a:off x="4762500" y="4305300"/>
            <a:ext cx="619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AAB8B0"/>
                </a:solidFill>
                <a:latin typeface="Arial"/>
                <a:ea typeface="Arial"/>
                <a:cs typeface="Arial"/>
              </a:defRPr>
            </a:pPr>
            <a:r>
              <a:rPr sz="1425" b="0">
                <a:solidFill>
                  <a:srgbClr val="AAB8B0"/>
                </a:solidFill>
                <a:latin typeface="Arial"/>
                <a:ea typeface="Arial"/>
                <a:cs typeface="Arial"/>
              </a:rPr>
              <a:t>Run human-only and synthetic mixtures; analyze generator holdout and phenomenon errors.</a:t>
            </a:r>
          </a:p>
        </p:txBody>
      </p:sp>
      <p:sp>
        <p:nvSpPr>
          <p:cNvPr id="22" name="Section rule">
            <a:extLst xmlns:a="http://schemas.openxmlformats.org/drawingml/2006/main">
              <a:ext uri="{FF2B5EF4-FFF2-40B4-BE49-F238E27FC236}">
                <a16:creationId xmlns:a16="http://schemas.microsoft.com/office/drawing/2014/main" id="{EFE10505-890A-4470-B16D-E639DC122594}"/>
              </a:ext>
            </a:extLst>
          </p:cNvPr>
          <p:cNvSpPr>
            <a:spLocks xmlns:a="http://schemas.openxmlformats.org/drawingml/2006/main" noGrp="1"/>
          </p:cNvSpPr>
          <p:nvPr/>
        </p:nvSpPr>
        <p:spPr>
          <a:xfrm xmlns:a="http://schemas.openxmlformats.org/drawingml/2006/main">
            <a:off x="609600" y="490537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23" name="Text">
            <a:extLst xmlns:a="http://schemas.openxmlformats.org/drawingml/2006/main">
              <a:ext uri="{FF2B5EF4-FFF2-40B4-BE49-F238E27FC236}">
                <a16:creationId xmlns:a16="http://schemas.microsoft.com/office/drawing/2014/main" id="{54FFDDCB-F2AE-4980-82CA-98FA63B1E07D}"/>
              </a:ext>
            </a:extLst>
          </p:cNvPr>
          <p:cNvSpPr>
            <a:spLocks xmlns:a="http://schemas.openxmlformats.org/drawingml/2006/main" noGrp="1"/>
          </p:cNvSpPr>
          <p:nvPr/>
        </p:nvSpPr>
        <p:spPr>
          <a:xfrm xmlns:a="http://schemas.openxmlformats.org/drawingml/2006/main">
            <a:off x="609600" y="5200650"/>
            <a:ext cx="1762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2DDA8"/>
                </a:solidFill>
                <a:latin typeface="Arial"/>
                <a:ea typeface="Arial"/>
                <a:cs typeface="Arial"/>
              </a:defRPr>
            </a:pPr>
            <a:r>
              <a:rPr sz="1200" b="1">
                <a:solidFill>
                  <a:srgbClr val="62DDA8"/>
                </a:solidFill>
                <a:latin typeface="Arial"/>
                <a:ea typeface="Arial"/>
                <a:cs typeface="Arial"/>
              </a:rPr>
              <a:t>JAN 4</a:t>
            </a:r>
          </a:p>
        </p:txBody>
      </p:sp>
      <p:sp>
        <p:nvSpPr>
          <p:cNvPr id="24" name="Text">
            <a:extLst xmlns:a="http://schemas.openxmlformats.org/drawingml/2006/main">
              <a:ext uri="{FF2B5EF4-FFF2-40B4-BE49-F238E27FC236}">
                <a16:creationId xmlns:a16="http://schemas.microsoft.com/office/drawing/2014/main" id="{0D33D026-A789-4009-BAAF-06ED760C7955}"/>
              </a:ext>
            </a:extLst>
          </p:cNvPr>
          <p:cNvSpPr>
            <a:spLocks xmlns:a="http://schemas.openxmlformats.org/drawingml/2006/main" noGrp="1"/>
          </p:cNvSpPr>
          <p:nvPr/>
        </p:nvSpPr>
        <p:spPr>
          <a:xfrm xmlns:a="http://schemas.openxmlformats.org/drawingml/2006/main">
            <a:off x="2505075" y="5181600"/>
            <a:ext cx="2038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3F6F4"/>
                </a:solidFill>
                <a:latin typeface="Arial"/>
                <a:ea typeface="Arial"/>
                <a:cs typeface="Arial"/>
              </a:defRPr>
            </a:pPr>
            <a:r>
              <a:rPr sz="1575" b="1">
                <a:solidFill>
                  <a:srgbClr val="F3F6F4"/>
                </a:solidFill>
                <a:latin typeface="Arial"/>
                <a:ea typeface="Arial"/>
                <a:cs typeface="Arial"/>
              </a:rPr>
              <a:t>Submit or hold</a:t>
            </a:r>
          </a:p>
        </p:txBody>
      </p:sp>
      <p:sp>
        <p:nvSpPr>
          <p:cNvPr id="25" name="Text">
            <a:extLst xmlns:a="http://schemas.openxmlformats.org/drawingml/2006/main">
              <a:ext uri="{FF2B5EF4-FFF2-40B4-BE49-F238E27FC236}">
                <a16:creationId xmlns:a16="http://schemas.microsoft.com/office/drawing/2014/main" id="{DE1424A0-44D0-4C9D-B9B5-FF7411614FC3}"/>
              </a:ext>
            </a:extLst>
          </p:cNvPr>
          <p:cNvSpPr>
            <a:spLocks xmlns:a="http://schemas.openxmlformats.org/drawingml/2006/main" noGrp="1"/>
          </p:cNvSpPr>
          <p:nvPr/>
        </p:nvSpPr>
        <p:spPr>
          <a:xfrm xmlns:a="http://schemas.openxmlformats.org/drawingml/2006/main">
            <a:off x="4762500" y="5181600"/>
            <a:ext cx="619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AAB8B0"/>
                </a:solidFill>
                <a:latin typeface="Arial"/>
                <a:ea typeface="Arial"/>
                <a:cs typeface="Arial"/>
              </a:defRPr>
            </a:pPr>
            <a:r>
              <a:rPr sz="1425" b="0">
                <a:solidFill>
                  <a:srgbClr val="AAB8B0"/>
                </a:solidFill>
                <a:latin typeface="Arial"/>
                <a:ea typeface="Arial"/>
                <a:cs typeface="Arial"/>
              </a:rPr>
              <a:t>Commit to ACL ARR only if the result is controlled, reproducible, and clearly supported.</a:t>
            </a:r>
          </a:p>
        </p:txBody>
      </p:sp>
      <p:sp>
        <p:nvSpPr>
          <p:cNvPr id="26" name="Section rule">
            <a:extLst xmlns:a="http://schemas.openxmlformats.org/drawingml/2006/main">
              <a:ext uri="{FF2B5EF4-FFF2-40B4-BE49-F238E27FC236}">
                <a16:creationId xmlns:a16="http://schemas.microsoft.com/office/drawing/2014/main" id="{EBC2B0E7-5E5E-48C5-9DF9-2EB6376DE4FE}"/>
              </a:ext>
            </a:extLst>
          </p:cNvPr>
          <p:cNvSpPr>
            <a:spLocks xmlns:a="http://schemas.openxmlformats.org/drawingml/2006/main" noGrp="1"/>
          </p:cNvSpPr>
          <p:nvPr/>
        </p:nvSpPr>
        <p:spPr>
          <a:xfrm xmlns:a="http://schemas.openxmlformats.org/drawingml/2006/main">
            <a:off x="609600" y="578167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Tree>
    <p:extLst>
      <p:ext uri="{BB962C8B-B14F-4D97-AF65-F5344CB8AC3E}">
        <p14:creationId xmlns:p14="http://schemas.microsoft.com/office/powerpoint/2010/main" val="1823937883"/>
      </p:ext>
    </p:extLst>
  </p:cSld>
</p:sld>
</file>

<file path=ppt/slides/slide18.xml><?xml version="1.0" encoding="utf-8"?>
<p:sld xmlns:p="http://schemas.openxmlformats.org/presentationml/2006/main">
  <p:cSld>
    <p:bg>
      <p:bgPr>
        <a:solidFill xmlns:a="http://schemas.openxmlformats.org/drawingml/2006/main">
          <a:srgbClr val="202522"/>
        </a:solidFill>
      </p:bgPr>
    </p:bg>
    <p:spTree>
      <p:nvGrpSpPr>
        <p:cNvPr id="1" name=""/>
        <p:cNvGrpSpPr/>
        <p:nvPr/>
      </p:nvGrpSpPr>
      <p:grpSpPr>
        <a:xfrm xmlns:a="http://schemas.openxmlformats.org/drawingml/2006/main"/>
      </p:grpSpPr>
      <p:sp>
        <p:nvSpPr>
          <p:cNvPr id="21" name="Section label">
            <a:extLst xmlns:a="http://schemas.openxmlformats.org/drawingml/2006/main">
              <a:ext uri="{FF2B5EF4-FFF2-40B4-BE49-F238E27FC236}">
                <a16:creationId xmlns:a16="http://schemas.microsoft.com/office/drawing/2014/main" id="{D9E3097B-9B21-484A-A078-36218687E1BD}"/>
              </a:ext>
            </a:extLst>
          </p:cNvPr>
          <p:cNvSpPr>
            <a:spLocks xmlns:a="http://schemas.openxmlformats.org/drawingml/2006/main" noGrp="1"/>
          </p:cNvSpPr>
          <p:nvPr/>
        </p:nvSpPr>
        <p:spPr>
          <a:xfrm xmlns:a="http://schemas.openxmlformats.org/drawingml/2006/main">
            <a:off x="609600" y="2571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  DECISION CRITERIA</a:t>
            </a:r>
          </a:p>
        </p:txBody>
      </p:sp>
      <p:sp>
        <p:nvSpPr>
          <p:cNvPr id="2" name="Slide title">
            <a:extLst xmlns:a="http://schemas.openxmlformats.org/drawingml/2006/main">
              <a:ext uri="{FF2B5EF4-FFF2-40B4-BE49-F238E27FC236}">
                <a16:creationId xmlns:a16="http://schemas.microsoft.com/office/drawing/2014/main" id="{D897A537-FC3D-430B-871A-993B074C76F2}"/>
              </a:ext>
            </a:extLst>
          </p:cNvPr>
          <p:cNvSpPr>
            <a:spLocks xmlns:a="http://schemas.openxmlformats.org/drawingml/2006/main" noGrp="1"/>
          </p:cNvSpPr>
          <p:nvPr/>
        </p:nvSpPr>
        <p:spPr>
          <a:xfrm xmlns:a="http://schemas.openxmlformats.org/drawingml/2006/main">
            <a:off x="609600" y="5810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75" b="1">
                <a:solidFill>
                  <a:srgbClr val="F3F6F4"/>
                </a:solidFill>
                <a:latin typeface="Arial"/>
                <a:ea typeface="Arial"/>
                <a:cs typeface="Arial"/>
              </a:defRPr>
            </a:pPr>
            <a:r>
              <a:rPr sz="3075" b="1">
                <a:solidFill>
                  <a:srgbClr val="F3F6F4"/>
                </a:solidFill>
                <a:latin typeface="Arial"/>
                <a:ea typeface="Arial"/>
                <a:cs typeface="Arial"/>
              </a:rPr>
              <a:t>A publishable claim needs three gates</a:t>
            </a:r>
          </a:p>
        </p:txBody>
      </p:sp>
      <p:sp>
        <p:nvSpPr>
          <p:cNvPr id="3" name="Section rule">
            <a:extLst xmlns:a="http://schemas.openxmlformats.org/drawingml/2006/main">
              <a:ext uri="{FF2B5EF4-FFF2-40B4-BE49-F238E27FC236}">
                <a16:creationId xmlns:a16="http://schemas.microsoft.com/office/drawing/2014/main" id="{01A1AFB4-3F53-4085-ACB8-4734E71328F6}"/>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4" name="Section rule">
            <a:extLst xmlns:a="http://schemas.openxmlformats.org/drawingml/2006/main">
              <a:ext uri="{FF2B5EF4-FFF2-40B4-BE49-F238E27FC236}">
                <a16:creationId xmlns:a16="http://schemas.microsoft.com/office/drawing/2014/main" id="{A253D4B7-C28C-4E3A-8148-6BB337E1D8AE}"/>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EF0ACFC5-443F-4C59-ABBB-142E0804AAB8}"/>
              </a:ext>
            </a:extLst>
          </p:cNvPr>
          <p:cNvSpPr>
            <a:spLocks xmlns:a="http://schemas.openxmlformats.org/drawingml/2006/main" noGrp="1"/>
          </p:cNvSpPr>
          <p:nvPr/>
        </p:nvSpPr>
        <p:spPr>
          <a:xfrm xmlns:a="http://schemas.openxmlformats.org/drawingml/2006/main">
            <a:off x="609600" y="6562725"/>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AAB8B0"/>
                </a:solidFill>
                <a:latin typeface="Arial"/>
                <a:ea typeface="Arial"/>
                <a:cs typeface="Arial"/>
              </a:defRPr>
            </a:pPr>
            <a:r>
              <a:rPr sz="900" b="0">
                <a:solidFill>
                  <a:srgbClr val="AAB8B0"/>
                </a:solidFill>
                <a:latin typeface="Arial"/>
                <a:ea typeface="Arial"/>
                <a:cs typeface="Arial"/>
              </a:rPr>
              <a:t>SYNTHETIC DATA  /  UNSUPERVISED DISCOVERY  /  HUMAN EVALUATION</a:t>
            </a:r>
          </a:p>
        </p:txBody>
      </p:sp>
      <p:sp>
        <p:nvSpPr>
          <p:cNvPr id="6" name="Page number">
            <a:extLst xmlns:a="http://schemas.openxmlformats.org/drawingml/2006/main">
              <a:ext uri="{FF2B5EF4-FFF2-40B4-BE49-F238E27FC236}">
                <a16:creationId xmlns:a16="http://schemas.microsoft.com/office/drawing/2014/main" id="{19AFC980-D33F-4C16-ADA0-BBACB798FE23}"/>
              </a:ext>
            </a:extLst>
          </p:cNvPr>
          <p:cNvSpPr>
            <a:spLocks xmlns:a="http://schemas.openxmlformats.org/drawingml/2006/main" noGrp="1"/>
          </p:cNvSpPr>
          <p:nvPr/>
        </p:nvSpPr>
        <p:spPr>
          <a:xfrm xmlns:a="http://schemas.openxmlformats.org/drawingml/2006/main">
            <a:off x="11049000" y="65436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9AEBCA"/>
                </a:solidFill>
                <a:latin typeface="Arial"/>
                <a:ea typeface="Arial"/>
                <a:cs typeface="Arial"/>
              </a:defRPr>
            </a:pPr>
            <a:r>
              <a:rPr sz="1050" b="1">
                <a:solidFill>
                  <a:srgbClr val="9AEBCA"/>
                </a:solidFill>
                <a:latin typeface="Arial"/>
                <a:ea typeface="Arial"/>
                <a:cs typeface="Arial"/>
              </a:rPr>
              <a:t>18</a:t>
            </a:r>
          </a:p>
        </p:txBody>
      </p:sp>
      <p:sp>
        <p:nvSpPr>
          <p:cNvPr id="7" name="Text">
            <a:extLst xmlns:a="http://schemas.openxmlformats.org/drawingml/2006/main">
              <a:ext uri="{FF2B5EF4-FFF2-40B4-BE49-F238E27FC236}">
                <a16:creationId xmlns:a16="http://schemas.microsoft.com/office/drawing/2014/main" id="{C1AEAC67-0EE6-42E9-8C07-34D22F7C360F}"/>
              </a:ext>
            </a:extLst>
          </p:cNvPr>
          <p:cNvSpPr>
            <a:spLocks xmlns:a="http://schemas.openxmlformats.org/drawingml/2006/main" noGrp="1"/>
          </p:cNvSpPr>
          <p:nvPr/>
        </p:nvSpPr>
        <p:spPr>
          <a:xfrm xmlns:a="http://schemas.openxmlformats.org/drawingml/2006/main">
            <a:off x="609600" y="19240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2DDA8"/>
                </a:solidFill>
                <a:latin typeface="Arial"/>
                <a:ea typeface="Arial"/>
                <a:cs typeface="Arial"/>
              </a:defRPr>
            </a:pPr>
            <a:r>
              <a:rPr sz="1275" b="1">
                <a:solidFill>
                  <a:srgbClr val="62DDA8"/>
                </a:solidFill>
                <a:latin typeface="Arial"/>
                <a:ea typeface="Arial"/>
                <a:cs typeface="Arial"/>
              </a:rPr>
              <a:t>01</a:t>
            </a:r>
          </a:p>
        </p:txBody>
      </p:sp>
      <p:sp>
        <p:nvSpPr>
          <p:cNvPr id="8" name="Text">
            <a:extLst xmlns:a="http://schemas.openxmlformats.org/drawingml/2006/main">
              <a:ext uri="{FF2B5EF4-FFF2-40B4-BE49-F238E27FC236}">
                <a16:creationId xmlns:a16="http://schemas.microsoft.com/office/drawing/2014/main" id="{D1DA579C-F4DA-428A-B9AB-0717EB3D8DA8}"/>
              </a:ext>
            </a:extLst>
          </p:cNvPr>
          <p:cNvSpPr>
            <a:spLocks xmlns:a="http://schemas.openxmlformats.org/drawingml/2006/main" noGrp="1"/>
          </p:cNvSpPr>
          <p:nvPr/>
        </p:nvSpPr>
        <p:spPr>
          <a:xfrm xmlns:a="http://schemas.openxmlformats.org/drawingml/2006/main">
            <a:off x="1181100" y="190500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F3F6F4"/>
                </a:solidFill>
                <a:latin typeface="Arial"/>
                <a:ea typeface="Arial"/>
                <a:cs typeface="Arial"/>
              </a:defRPr>
            </a:pPr>
            <a:r>
              <a:rPr sz="1275" b="1">
                <a:solidFill>
                  <a:srgbClr val="F3F6F4"/>
                </a:solidFill>
                <a:latin typeface="Arial"/>
                <a:ea typeface="Arial"/>
                <a:cs typeface="Arial"/>
              </a:rPr>
              <a:t>DATA RIGHTS</a:t>
            </a:r>
          </a:p>
        </p:txBody>
      </p:sp>
      <p:sp>
        <p:nvSpPr>
          <p:cNvPr id="9" name="Text">
            <a:extLst xmlns:a="http://schemas.openxmlformats.org/drawingml/2006/main">
              <a:ext uri="{FF2B5EF4-FFF2-40B4-BE49-F238E27FC236}">
                <a16:creationId xmlns:a16="http://schemas.microsoft.com/office/drawing/2014/main" id="{9AD040DB-FEEC-474F-A484-4670A76B809D}"/>
              </a:ext>
            </a:extLst>
          </p:cNvPr>
          <p:cNvSpPr>
            <a:spLocks xmlns:a="http://schemas.openxmlformats.org/drawingml/2006/main" noGrp="1"/>
          </p:cNvSpPr>
          <p:nvPr/>
        </p:nvSpPr>
        <p:spPr>
          <a:xfrm xmlns:a="http://schemas.openxmlformats.org/drawingml/2006/main">
            <a:off x="1181100" y="2381250"/>
            <a:ext cx="264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AAB8B0"/>
                </a:solidFill>
                <a:latin typeface="Arial"/>
                <a:ea typeface="Arial"/>
                <a:cs typeface="Arial"/>
              </a:defRPr>
            </a:pPr>
            <a:r>
              <a:rPr sz="1500" b="0">
                <a:solidFill>
                  <a:srgbClr val="AAB8B0"/>
                </a:solidFill>
                <a:latin typeface="Arial"/>
                <a:ea typeface="Arial"/>
                <a:cs typeface="Arial"/>
              </a:rPr>
              <a:t>The source corpus and derived examples can be used for research and described reproducibly.</a:t>
            </a:r>
          </a:p>
        </p:txBody>
      </p:sp>
      <p:sp>
        <p:nvSpPr>
          <p:cNvPr id="10" name="Diagram shape">
            <a:extLst xmlns:a="http://schemas.openxmlformats.org/drawingml/2006/main">
              <a:ext uri="{FF2B5EF4-FFF2-40B4-BE49-F238E27FC236}">
                <a16:creationId xmlns:a16="http://schemas.microsoft.com/office/drawing/2014/main" id="{0B10D05E-131F-47EE-8D04-CBC1ED4FB20B}"/>
              </a:ext>
            </a:extLst>
          </p:cNvPr>
          <p:cNvSpPr>
            <a:spLocks xmlns:a="http://schemas.openxmlformats.org/drawingml/2006/main" noGrp="1"/>
          </p:cNvSpPr>
          <p:nvPr/>
        </p:nvSpPr>
        <p:spPr>
          <a:xfrm xmlns:a="http://schemas.openxmlformats.org/drawingml/2006/main">
            <a:off x="4038600" y="1924050"/>
            <a:ext cx="9525" cy="223837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6E83A6BD-0472-4966-9250-59CD4922DA50}"/>
              </a:ext>
            </a:extLst>
          </p:cNvPr>
          <p:cNvSpPr>
            <a:spLocks xmlns:a="http://schemas.openxmlformats.org/drawingml/2006/main" noGrp="1"/>
          </p:cNvSpPr>
          <p:nvPr/>
        </p:nvSpPr>
        <p:spPr>
          <a:xfrm xmlns:a="http://schemas.openxmlformats.org/drawingml/2006/main">
            <a:off x="4324350" y="19240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2DDA8"/>
                </a:solidFill>
                <a:latin typeface="Arial"/>
                <a:ea typeface="Arial"/>
                <a:cs typeface="Arial"/>
              </a:defRPr>
            </a:pPr>
            <a:r>
              <a:rPr sz="1275" b="1">
                <a:solidFill>
                  <a:srgbClr val="62DDA8"/>
                </a:solidFill>
                <a:latin typeface="Arial"/>
                <a:ea typeface="Arial"/>
                <a:cs typeface="Arial"/>
              </a:rPr>
              <a:t>02</a:t>
            </a:r>
          </a:p>
        </p:txBody>
      </p:sp>
      <p:sp>
        <p:nvSpPr>
          <p:cNvPr id="12" name="Text">
            <a:extLst xmlns:a="http://schemas.openxmlformats.org/drawingml/2006/main">
              <a:ext uri="{FF2B5EF4-FFF2-40B4-BE49-F238E27FC236}">
                <a16:creationId xmlns:a16="http://schemas.microsoft.com/office/drawing/2014/main" id="{86598B8D-CDC3-4D32-B354-B92849151227}"/>
              </a:ext>
            </a:extLst>
          </p:cNvPr>
          <p:cNvSpPr>
            <a:spLocks xmlns:a="http://schemas.openxmlformats.org/drawingml/2006/main" noGrp="1"/>
          </p:cNvSpPr>
          <p:nvPr/>
        </p:nvSpPr>
        <p:spPr>
          <a:xfrm xmlns:a="http://schemas.openxmlformats.org/drawingml/2006/main">
            <a:off x="4895850" y="190500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F3F6F4"/>
                </a:solidFill>
                <a:latin typeface="Arial"/>
                <a:ea typeface="Arial"/>
                <a:cs typeface="Arial"/>
              </a:defRPr>
            </a:pPr>
            <a:r>
              <a:rPr sz="1275" b="1">
                <a:solidFill>
                  <a:srgbClr val="F3F6F4"/>
                </a:solidFill>
                <a:latin typeface="Arial"/>
                <a:ea typeface="Arial"/>
                <a:cs typeface="Arial"/>
              </a:rPr>
              <a:t>LABEL VALIDITY</a:t>
            </a:r>
          </a:p>
        </p:txBody>
      </p:sp>
      <p:sp>
        <p:nvSpPr>
          <p:cNvPr id="13" name="Text">
            <a:extLst xmlns:a="http://schemas.openxmlformats.org/drawingml/2006/main">
              <a:ext uri="{FF2B5EF4-FFF2-40B4-BE49-F238E27FC236}">
                <a16:creationId xmlns:a16="http://schemas.microsoft.com/office/drawing/2014/main" id="{7389A613-6BC0-413D-B76E-3FDE581AC348}"/>
              </a:ext>
            </a:extLst>
          </p:cNvPr>
          <p:cNvSpPr>
            <a:spLocks xmlns:a="http://schemas.openxmlformats.org/drawingml/2006/main" noGrp="1"/>
          </p:cNvSpPr>
          <p:nvPr/>
        </p:nvSpPr>
        <p:spPr>
          <a:xfrm xmlns:a="http://schemas.openxmlformats.org/drawingml/2006/main">
            <a:off x="4895850" y="2381250"/>
            <a:ext cx="264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AAB8B0"/>
                </a:solidFill>
                <a:latin typeface="Arial"/>
                <a:ea typeface="Arial"/>
                <a:cs typeface="Arial"/>
              </a:defRPr>
            </a:pPr>
            <a:r>
              <a:rPr sz="1500" b="0">
                <a:solidFill>
                  <a:srgbClr val="AAB8B0"/>
                </a:solidFill>
                <a:latin typeface="Arial"/>
                <a:ea typeface="Arial"/>
                <a:cs typeface="Arial"/>
              </a:rPr>
              <a:t>Guidelines, annotator disagreement, adjudication, and uncertainty are documented.</a:t>
            </a:r>
          </a:p>
        </p:txBody>
      </p:sp>
      <p:sp>
        <p:nvSpPr>
          <p:cNvPr id="14" name="Diagram shape">
            <a:extLst xmlns:a="http://schemas.openxmlformats.org/drawingml/2006/main">
              <a:ext uri="{FF2B5EF4-FFF2-40B4-BE49-F238E27FC236}">
                <a16:creationId xmlns:a16="http://schemas.microsoft.com/office/drawing/2014/main" id="{2CFC46C8-13CA-4FB7-838D-F09CA06C3CB7}"/>
              </a:ext>
            </a:extLst>
          </p:cNvPr>
          <p:cNvSpPr>
            <a:spLocks xmlns:a="http://schemas.openxmlformats.org/drawingml/2006/main" noGrp="1"/>
          </p:cNvSpPr>
          <p:nvPr/>
        </p:nvSpPr>
        <p:spPr>
          <a:xfrm xmlns:a="http://schemas.openxmlformats.org/drawingml/2006/main">
            <a:off x="7753350" y="1924050"/>
            <a:ext cx="9525" cy="223837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3C5F666C-F513-44B3-9F6F-F29000ACCB63}"/>
              </a:ext>
            </a:extLst>
          </p:cNvPr>
          <p:cNvSpPr>
            <a:spLocks xmlns:a="http://schemas.openxmlformats.org/drawingml/2006/main" noGrp="1"/>
          </p:cNvSpPr>
          <p:nvPr/>
        </p:nvSpPr>
        <p:spPr>
          <a:xfrm xmlns:a="http://schemas.openxmlformats.org/drawingml/2006/main">
            <a:off x="8039100" y="19240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2DDA8"/>
                </a:solidFill>
                <a:latin typeface="Arial"/>
                <a:ea typeface="Arial"/>
                <a:cs typeface="Arial"/>
              </a:defRPr>
            </a:pPr>
            <a:r>
              <a:rPr sz="1275" b="1">
                <a:solidFill>
                  <a:srgbClr val="62DDA8"/>
                </a:solidFill>
                <a:latin typeface="Arial"/>
                <a:ea typeface="Arial"/>
                <a:cs typeface="Arial"/>
              </a:rPr>
              <a:t>03</a:t>
            </a:r>
          </a:p>
        </p:txBody>
      </p:sp>
      <p:sp>
        <p:nvSpPr>
          <p:cNvPr id="16" name="Text">
            <a:extLst xmlns:a="http://schemas.openxmlformats.org/drawingml/2006/main">
              <a:ext uri="{FF2B5EF4-FFF2-40B4-BE49-F238E27FC236}">
                <a16:creationId xmlns:a16="http://schemas.microsoft.com/office/drawing/2014/main" id="{B235F695-C62D-4C1F-ACEF-E3E4F2F025BD}"/>
              </a:ext>
            </a:extLst>
          </p:cNvPr>
          <p:cNvSpPr>
            <a:spLocks xmlns:a="http://schemas.openxmlformats.org/drawingml/2006/main" noGrp="1"/>
          </p:cNvSpPr>
          <p:nvPr/>
        </p:nvSpPr>
        <p:spPr>
          <a:xfrm xmlns:a="http://schemas.openxmlformats.org/drawingml/2006/main">
            <a:off x="8610600" y="190500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F3F6F4"/>
                </a:solidFill>
                <a:latin typeface="Arial"/>
                <a:ea typeface="Arial"/>
                <a:cs typeface="Arial"/>
              </a:defRPr>
            </a:pPr>
            <a:r>
              <a:rPr sz="1275" b="1">
                <a:solidFill>
                  <a:srgbClr val="F3F6F4"/>
                </a:solidFill>
                <a:latin typeface="Arial"/>
                <a:ea typeface="Arial"/>
                <a:cs typeface="Arial"/>
              </a:rPr>
              <a:t>GENERALIZATION</a:t>
            </a:r>
          </a:p>
        </p:txBody>
      </p:sp>
      <p:sp>
        <p:nvSpPr>
          <p:cNvPr id="17" name="Text">
            <a:extLst xmlns:a="http://schemas.openxmlformats.org/drawingml/2006/main">
              <a:ext uri="{FF2B5EF4-FFF2-40B4-BE49-F238E27FC236}">
                <a16:creationId xmlns:a16="http://schemas.microsoft.com/office/drawing/2014/main" id="{9D0C90C2-44F8-48D4-81E4-21FEDD56D1EA}"/>
              </a:ext>
            </a:extLst>
          </p:cNvPr>
          <p:cNvSpPr>
            <a:spLocks xmlns:a="http://schemas.openxmlformats.org/drawingml/2006/main" noGrp="1"/>
          </p:cNvSpPr>
          <p:nvPr/>
        </p:nvSpPr>
        <p:spPr>
          <a:xfrm xmlns:a="http://schemas.openxmlformats.org/drawingml/2006/main">
            <a:off x="8610600" y="2381250"/>
            <a:ext cx="264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AAB8B0"/>
                </a:solidFill>
                <a:latin typeface="Arial"/>
                <a:ea typeface="Arial"/>
                <a:cs typeface="Arial"/>
              </a:defRPr>
            </a:pPr>
            <a:r>
              <a:rPr sz="1500" b="0">
                <a:solidFill>
                  <a:srgbClr val="AAB8B0"/>
                </a:solidFill>
                <a:latin typeface="Arial"/>
                <a:ea typeface="Arial"/>
                <a:cs typeface="Arial"/>
              </a:rPr>
              <a:t>Synthetic gains survive held-out documents and generator patterns on a locked gold test.</a:t>
            </a:r>
          </a:p>
        </p:txBody>
      </p:sp>
      <p:sp>
        <p:nvSpPr>
          <p:cNvPr id="18" name="Section rule">
            <a:extLst xmlns:a="http://schemas.openxmlformats.org/drawingml/2006/main">
              <a:ext uri="{FF2B5EF4-FFF2-40B4-BE49-F238E27FC236}">
                <a16:creationId xmlns:a16="http://schemas.microsoft.com/office/drawing/2014/main" id="{2CA62508-EA2D-426F-8B57-DBAF7B567838}"/>
              </a:ext>
            </a:extLst>
          </p:cNvPr>
          <p:cNvSpPr>
            <a:spLocks xmlns:a="http://schemas.openxmlformats.org/drawingml/2006/main" noGrp="1"/>
          </p:cNvSpPr>
          <p:nvPr/>
        </p:nvSpPr>
        <p:spPr>
          <a:xfrm xmlns:a="http://schemas.openxmlformats.org/drawingml/2006/main">
            <a:off x="609600" y="437197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DA9D1C4B-BE44-4734-834E-EF24A7A8C1E7}"/>
              </a:ext>
            </a:extLst>
          </p:cNvPr>
          <p:cNvSpPr>
            <a:spLocks xmlns:a="http://schemas.openxmlformats.org/drawingml/2006/main" noGrp="1"/>
          </p:cNvSpPr>
          <p:nvPr/>
        </p:nvSpPr>
        <p:spPr>
          <a:xfrm xmlns:a="http://schemas.openxmlformats.org/drawingml/2006/main">
            <a:off x="609600" y="4686300"/>
            <a:ext cx="304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0C36A"/>
                </a:solidFill>
                <a:latin typeface="Arial"/>
                <a:ea typeface="Arial"/>
                <a:cs typeface="Arial"/>
              </a:defRPr>
            </a:pPr>
            <a:r>
              <a:rPr sz="1350" b="1">
                <a:solidFill>
                  <a:srgbClr val="F0C36A"/>
                </a:solidFill>
                <a:latin typeface="Arial"/>
                <a:ea typeface="Arial"/>
                <a:cs typeface="Arial"/>
              </a:rPr>
              <a:t>Pre-register the interpretation</a:t>
            </a:r>
          </a:p>
        </p:txBody>
      </p:sp>
      <p:sp>
        <p:nvSpPr>
          <p:cNvPr id="20" name="Text">
            <a:extLst xmlns:a="http://schemas.openxmlformats.org/drawingml/2006/main">
              <a:ext uri="{FF2B5EF4-FFF2-40B4-BE49-F238E27FC236}">
                <a16:creationId xmlns:a16="http://schemas.microsoft.com/office/drawing/2014/main" id="{7D7ECEDB-53CE-472C-914D-75C030AD9C20}"/>
              </a:ext>
            </a:extLst>
          </p:cNvPr>
          <p:cNvSpPr>
            <a:spLocks xmlns:a="http://schemas.openxmlformats.org/drawingml/2006/main" noGrp="1"/>
          </p:cNvSpPr>
          <p:nvPr/>
        </p:nvSpPr>
        <p:spPr>
          <a:xfrm xmlns:a="http://schemas.openxmlformats.org/drawingml/2006/main">
            <a:off x="609600" y="5143500"/>
            <a:ext cx="1038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Set a practically meaningful effect threshold before the final run. Report neutral or negative synthetic-data results with the same care as positive results.</a:t>
            </a:r>
          </a:p>
        </p:txBody>
      </p:sp>
    </p:spTree>
    <p:extLst>
      <p:ext uri="{BB962C8B-B14F-4D97-AF65-F5344CB8AC3E}">
        <p14:creationId xmlns:p14="http://schemas.microsoft.com/office/powerpoint/2010/main" val="1996348110"/>
      </p:ext>
    </p:extLst>
  </p:cSld>
</p:sld>
</file>

<file path=ppt/slides/slide19.xml><?xml version="1.0" encoding="utf-8"?>
<p:sld xmlns:p="http://schemas.openxmlformats.org/presentationml/2006/main">
  <p:cSld>
    <p:bg>
      <p:bgPr>
        <a:solidFill xmlns:a="http://schemas.openxmlformats.org/drawingml/2006/main">
          <a:srgbClr val="202522"/>
        </a:solidFill>
      </p:bgPr>
    </p:bg>
    <p:spTree>
      <p:nvGrpSpPr>
        <p:cNvPr id="1" name=""/>
        <p:cNvGrpSpPr/>
        <p:nvPr/>
      </p:nvGrpSpPr>
      <p:grpSpPr>
        <a:xfrm xmlns:a="http://schemas.openxmlformats.org/drawingml/2006/main"/>
      </p:grpSpPr>
      <p:sp>
        <p:nvSpPr>
          <p:cNvPr id="23" name="Section label">
            <a:extLst xmlns:a="http://schemas.openxmlformats.org/drawingml/2006/main">
              <a:ext uri="{FF2B5EF4-FFF2-40B4-BE49-F238E27FC236}">
                <a16:creationId xmlns:a16="http://schemas.microsoft.com/office/drawing/2014/main" id="{61164A8F-2A95-432D-94AB-3DB806A6979A}"/>
              </a:ext>
            </a:extLst>
          </p:cNvPr>
          <p:cNvSpPr>
            <a:spLocks xmlns:a="http://schemas.openxmlformats.org/drawingml/2006/main" noGrp="1"/>
          </p:cNvSpPr>
          <p:nvPr/>
        </p:nvSpPr>
        <p:spPr>
          <a:xfrm xmlns:a="http://schemas.openxmlformats.org/drawingml/2006/main">
            <a:off x="609600" y="2571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  REFERENCES</a:t>
            </a:r>
          </a:p>
        </p:txBody>
      </p:sp>
      <p:sp>
        <p:nvSpPr>
          <p:cNvPr id="2" name="Slide title">
            <a:extLst xmlns:a="http://schemas.openxmlformats.org/drawingml/2006/main">
              <a:ext uri="{FF2B5EF4-FFF2-40B4-BE49-F238E27FC236}">
                <a16:creationId xmlns:a16="http://schemas.microsoft.com/office/drawing/2014/main" id="{00CA97B9-80F1-435E-99DB-19B7598D800F}"/>
              </a:ext>
            </a:extLst>
          </p:cNvPr>
          <p:cNvSpPr>
            <a:spLocks xmlns:a="http://schemas.openxmlformats.org/drawingml/2006/main" noGrp="1"/>
          </p:cNvSpPr>
          <p:nvPr/>
        </p:nvSpPr>
        <p:spPr>
          <a:xfrm xmlns:a="http://schemas.openxmlformats.org/drawingml/2006/main">
            <a:off x="609600" y="5810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75" b="1">
                <a:solidFill>
                  <a:srgbClr val="F3F6F4"/>
                </a:solidFill>
                <a:latin typeface="Arial"/>
                <a:ea typeface="Arial"/>
                <a:cs typeface="Arial"/>
              </a:defRPr>
            </a:pPr>
            <a:r>
              <a:rPr sz="3075" b="1">
                <a:solidFill>
                  <a:srgbClr val="F3F6F4"/>
                </a:solidFill>
                <a:latin typeface="Arial"/>
                <a:ea typeface="Arial"/>
                <a:cs typeface="Arial"/>
              </a:rPr>
              <a:t>Research references: temporal annotation</a:t>
            </a:r>
          </a:p>
        </p:txBody>
      </p:sp>
      <p:sp>
        <p:nvSpPr>
          <p:cNvPr id="3" name="Section rule">
            <a:extLst xmlns:a="http://schemas.openxmlformats.org/drawingml/2006/main">
              <a:ext uri="{FF2B5EF4-FFF2-40B4-BE49-F238E27FC236}">
                <a16:creationId xmlns:a16="http://schemas.microsoft.com/office/drawing/2014/main" id="{1B43D22A-9BC9-446B-9C0D-042C2F0B9DCE}"/>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4" name="Section rule">
            <a:extLst xmlns:a="http://schemas.openxmlformats.org/drawingml/2006/main">
              <a:ext uri="{FF2B5EF4-FFF2-40B4-BE49-F238E27FC236}">
                <a16:creationId xmlns:a16="http://schemas.microsoft.com/office/drawing/2014/main" id="{98075DC7-FE97-4949-A8F8-B22B0DF43166}"/>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09920818-787D-4E98-917D-C364BB863917}"/>
              </a:ext>
            </a:extLst>
          </p:cNvPr>
          <p:cNvSpPr>
            <a:spLocks xmlns:a="http://schemas.openxmlformats.org/drawingml/2006/main" noGrp="1"/>
          </p:cNvSpPr>
          <p:nvPr/>
        </p:nvSpPr>
        <p:spPr>
          <a:xfrm xmlns:a="http://schemas.openxmlformats.org/drawingml/2006/main">
            <a:off x="609600" y="6562725"/>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AAB8B0"/>
                </a:solidFill>
                <a:latin typeface="Arial"/>
                <a:ea typeface="Arial"/>
                <a:cs typeface="Arial"/>
              </a:defRPr>
            </a:pPr>
            <a:r>
              <a:rPr sz="900" b="0">
                <a:solidFill>
                  <a:srgbClr val="AAB8B0"/>
                </a:solidFill>
                <a:latin typeface="Arial"/>
                <a:ea typeface="Arial"/>
                <a:cs typeface="Arial"/>
              </a:rPr>
              <a:t>SYNTHETIC DATA  /  UNSUPERVISED DISCOVERY  /  HUMAN EVALUATION</a:t>
            </a:r>
          </a:p>
        </p:txBody>
      </p:sp>
      <p:sp>
        <p:nvSpPr>
          <p:cNvPr id="6" name="Page number">
            <a:extLst xmlns:a="http://schemas.openxmlformats.org/drawingml/2006/main">
              <a:ext uri="{FF2B5EF4-FFF2-40B4-BE49-F238E27FC236}">
                <a16:creationId xmlns:a16="http://schemas.microsoft.com/office/drawing/2014/main" id="{64BA1C57-46DD-415F-BCC4-46BAB57BBA71}"/>
              </a:ext>
            </a:extLst>
          </p:cNvPr>
          <p:cNvSpPr>
            <a:spLocks xmlns:a="http://schemas.openxmlformats.org/drawingml/2006/main" noGrp="1"/>
          </p:cNvSpPr>
          <p:nvPr/>
        </p:nvSpPr>
        <p:spPr>
          <a:xfrm xmlns:a="http://schemas.openxmlformats.org/drawingml/2006/main">
            <a:off x="11049000" y="65436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9AEBCA"/>
                </a:solidFill>
                <a:latin typeface="Arial"/>
                <a:ea typeface="Arial"/>
                <a:cs typeface="Arial"/>
              </a:defRPr>
            </a:pPr>
            <a:r>
              <a:rPr sz="1050" b="1">
                <a:solidFill>
                  <a:srgbClr val="9AEBCA"/>
                </a:solidFill>
                <a:latin typeface="Arial"/>
                <a:ea typeface="Arial"/>
                <a:cs typeface="Arial"/>
              </a:rPr>
              <a:t>19</a:t>
            </a:r>
          </a:p>
        </p:txBody>
      </p:sp>
      <p:sp>
        <p:nvSpPr>
          <p:cNvPr id="7" name="Text">
            <a:extLst xmlns:a="http://schemas.openxmlformats.org/drawingml/2006/main">
              <a:ext uri="{FF2B5EF4-FFF2-40B4-BE49-F238E27FC236}">
                <a16:creationId xmlns:a16="http://schemas.microsoft.com/office/drawing/2014/main" id="{48545E59-76A9-4879-A761-9623447FD333}"/>
              </a:ext>
            </a:extLst>
          </p:cNvPr>
          <p:cNvSpPr>
            <a:spLocks xmlns:a="http://schemas.openxmlformats.org/drawingml/2006/main" noGrp="1"/>
          </p:cNvSpPr>
          <p:nvPr/>
        </p:nvSpPr>
        <p:spPr>
          <a:xfrm xmlns:a="http://schemas.openxmlformats.org/drawingml/2006/main">
            <a:off x="609600" y="1743075"/>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62DDA8"/>
                </a:solidFill>
                <a:latin typeface="Arial"/>
                <a:ea typeface="Arial"/>
                <a:cs typeface="Arial"/>
              </a:defRPr>
            </a:pPr>
            <a:r>
              <a:rPr sz="1575" b="1">
                <a:solidFill>
                  <a:srgbClr val="62DDA8"/>
                </a:solidFill>
                <a:latin typeface="Arial"/>
                <a:ea typeface="Arial"/>
                <a:cs typeface="Arial"/>
              </a:rPr>
              <a:t>NarrativeTime</a:t>
            </a:r>
          </a:p>
        </p:txBody>
      </p:sp>
      <p:sp>
        <p:nvSpPr>
          <p:cNvPr id="8" name="Text">
            <a:extLst xmlns:a="http://schemas.openxmlformats.org/drawingml/2006/main">
              <a:ext uri="{FF2B5EF4-FFF2-40B4-BE49-F238E27FC236}">
                <a16:creationId xmlns:a16="http://schemas.microsoft.com/office/drawing/2014/main" id="{AFF290D7-3AF2-41CA-951B-5688A4FC8A1B}"/>
              </a:ext>
            </a:extLst>
          </p:cNvPr>
          <p:cNvSpPr>
            <a:spLocks xmlns:a="http://schemas.openxmlformats.org/drawingml/2006/main" noGrp="1"/>
          </p:cNvSpPr>
          <p:nvPr/>
        </p:nvSpPr>
        <p:spPr>
          <a:xfrm xmlns:a="http://schemas.openxmlformats.org/drawingml/2006/main">
            <a:off x="3743325" y="1733550"/>
            <a:ext cx="72199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F3F6F4"/>
                </a:solidFill>
                <a:latin typeface="Arial"/>
                <a:ea typeface="Arial"/>
                <a:cs typeface="Arial"/>
              </a:defRPr>
            </a:pPr>
            <a:r>
              <a:rPr sz="1425" b="0">
                <a:solidFill>
                  <a:srgbClr val="F3F6F4"/>
                </a:solidFill>
                <a:latin typeface="Arial"/>
                <a:ea typeface="Arial"/>
                <a:cs typeface="Arial"/>
              </a:rPr>
              <a:t>Rogers et al. 2024. Dense timeline annotation with full TLINK coverage and two expert annotators per text.</a:t>
            </a:r>
          </a:p>
        </p:txBody>
      </p:sp>
      <p:sp>
        <p:nvSpPr>
          <p:cNvPr id="9" name="Text">
            <a:extLst xmlns:a="http://schemas.openxmlformats.org/drawingml/2006/main">
              <a:ext uri="{FF2B5EF4-FFF2-40B4-BE49-F238E27FC236}">
                <a16:creationId xmlns:a16="http://schemas.microsoft.com/office/drawing/2014/main" id="{C60DCE45-0E87-4284-990A-7B51E739C124}"/>
              </a:ext>
            </a:extLst>
          </p:cNvPr>
          <p:cNvSpPr>
            <a:spLocks xmlns:a="http://schemas.openxmlformats.org/drawingml/2006/main" noGrp="1"/>
          </p:cNvSpPr>
          <p:nvPr/>
        </p:nvSpPr>
        <p:spPr>
          <a:xfrm xmlns:a="http://schemas.openxmlformats.org/drawingml/2006/main">
            <a:off x="3743325" y="2333625"/>
            <a:ext cx="7219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AAB8B0"/>
                </a:solidFill>
                <a:latin typeface="Arial"/>
                <a:ea typeface="Arial"/>
                <a:cs typeface="Arial"/>
              </a:defRPr>
            </a:pPr>
            <a:r>
              <a:rPr sz="1050" b="0">
                <a:solidFill>
                  <a:srgbClr val="AAB8B0"/>
                </a:solidFill>
                <a:latin typeface="Arial"/>
                <a:ea typeface="Arial"/>
                <a:cs typeface="Arial"/>
              </a:rPr>
              <a:t>aclanthology.org/2024.lrec-main.1054/</a:t>
            </a:r>
          </a:p>
        </p:txBody>
      </p:sp>
      <p:sp>
        <p:nvSpPr>
          <p:cNvPr id="10" name="Section rule">
            <a:extLst xmlns:a="http://schemas.openxmlformats.org/drawingml/2006/main">
              <a:ext uri="{FF2B5EF4-FFF2-40B4-BE49-F238E27FC236}">
                <a16:creationId xmlns:a16="http://schemas.microsoft.com/office/drawing/2014/main" id="{7158A413-9673-4978-B6CA-5F30212F99E9}"/>
              </a:ext>
            </a:extLst>
          </p:cNvPr>
          <p:cNvSpPr>
            <a:spLocks xmlns:a="http://schemas.openxmlformats.org/drawingml/2006/main" noGrp="1"/>
          </p:cNvSpPr>
          <p:nvPr/>
        </p:nvSpPr>
        <p:spPr>
          <a:xfrm xmlns:a="http://schemas.openxmlformats.org/drawingml/2006/main">
            <a:off x="609600" y="255270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1639CEA5-325E-4799-8BB4-AC108DC96473}"/>
              </a:ext>
            </a:extLst>
          </p:cNvPr>
          <p:cNvSpPr>
            <a:spLocks xmlns:a="http://schemas.openxmlformats.org/drawingml/2006/main" noGrp="1"/>
          </p:cNvSpPr>
          <p:nvPr/>
        </p:nvSpPr>
        <p:spPr>
          <a:xfrm xmlns:a="http://schemas.openxmlformats.org/drawingml/2006/main">
            <a:off x="609600" y="2809875"/>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62DDA8"/>
                </a:solidFill>
                <a:latin typeface="Arial"/>
                <a:ea typeface="Arial"/>
                <a:cs typeface="Arial"/>
              </a:defRPr>
            </a:pPr>
            <a:r>
              <a:rPr sz="1575" b="1">
                <a:solidFill>
                  <a:srgbClr val="62DDA8"/>
                </a:solidFill>
                <a:latin typeface="Arial"/>
                <a:ea typeface="Arial"/>
                <a:cs typeface="Arial"/>
              </a:rPr>
              <a:t>TIMELINE</a:t>
            </a:r>
          </a:p>
        </p:txBody>
      </p:sp>
      <p:sp>
        <p:nvSpPr>
          <p:cNvPr id="12" name="Text">
            <a:extLst xmlns:a="http://schemas.openxmlformats.org/drawingml/2006/main">
              <a:ext uri="{FF2B5EF4-FFF2-40B4-BE49-F238E27FC236}">
                <a16:creationId xmlns:a16="http://schemas.microsoft.com/office/drawing/2014/main" id="{E20555F1-AE5F-4EBF-821E-1D441C59BAF2}"/>
              </a:ext>
            </a:extLst>
          </p:cNvPr>
          <p:cNvSpPr>
            <a:spLocks xmlns:a="http://schemas.openxmlformats.org/drawingml/2006/main" noGrp="1"/>
          </p:cNvSpPr>
          <p:nvPr/>
        </p:nvSpPr>
        <p:spPr>
          <a:xfrm xmlns:a="http://schemas.openxmlformats.org/drawingml/2006/main">
            <a:off x="3743325" y="2800350"/>
            <a:ext cx="72199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F3F6F4"/>
                </a:solidFill>
                <a:latin typeface="Arial"/>
                <a:ea typeface="Arial"/>
                <a:cs typeface="Arial"/>
              </a:defRPr>
            </a:pPr>
            <a:r>
              <a:rPr sz="1425" b="0">
                <a:solidFill>
                  <a:srgbClr val="F3F6F4"/>
                </a:solidFill>
                <a:latin typeface="Arial"/>
                <a:ea typeface="Arial"/>
                <a:cs typeface="Arial"/>
              </a:rPr>
              <a:t>Alsayyahi &amp; Batista-Navarro 2023. Exhaustive relation annotation includes long-distance links and nominalized events.</a:t>
            </a:r>
          </a:p>
        </p:txBody>
      </p:sp>
      <p:sp>
        <p:nvSpPr>
          <p:cNvPr id="13" name="Text">
            <a:extLst xmlns:a="http://schemas.openxmlformats.org/drawingml/2006/main">
              <a:ext uri="{FF2B5EF4-FFF2-40B4-BE49-F238E27FC236}">
                <a16:creationId xmlns:a16="http://schemas.microsoft.com/office/drawing/2014/main" id="{36BFCA29-E0FC-42B4-BA8C-BA15F46055D1}"/>
              </a:ext>
            </a:extLst>
          </p:cNvPr>
          <p:cNvSpPr>
            <a:spLocks xmlns:a="http://schemas.openxmlformats.org/drawingml/2006/main" noGrp="1"/>
          </p:cNvSpPr>
          <p:nvPr/>
        </p:nvSpPr>
        <p:spPr>
          <a:xfrm xmlns:a="http://schemas.openxmlformats.org/drawingml/2006/main">
            <a:off x="3743325" y="3400425"/>
            <a:ext cx="7219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AAB8B0"/>
                </a:solidFill>
                <a:latin typeface="Arial"/>
                <a:ea typeface="Arial"/>
                <a:cs typeface="Arial"/>
              </a:defRPr>
            </a:pPr>
            <a:r>
              <a:rPr sz="1050" b="0">
                <a:solidFill>
                  <a:srgbClr val="AAB8B0"/>
                </a:solidFill>
                <a:latin typeface="Arial"/>
                <a:ea typeface="Arial"/>
                <a:cs typeface="Arial"/>
              </a:rPr>
              <a:t>aclanthology.org/2023.emnlp-main.1016/</a:t>
            </a:r>
          </a:p>
        </p:txBody>
      </p:sp>
      <p:sp>
        <p:nvSpPr>
          <p:cNvPr id="14" name="Section rule">
            <a:extLst xmlns:a="http://schemas.openxmlformats.org/drawingml/2006/main">
              <a:ext uri="{FF2B5EF4-FFF2-40B4-BE49-F238E27FC236}">
                <a16:creationId xmlns:a16="http://schemas.microsoft.com/office/drawing/2014/main" id="{4698134F-F8EC-4CA9-BBA0-63565009B736}"/>
              </a:ext>
            </a:extLst>
          </p:cNvPr>
          <p:cNvSpPr>
            <a:spLocks xmlns:a="http://schemas.openxmlformats.org/drawingml/2006/main" noGrp="1"/>
          </p:cNvSpPr>
          <p:nvPr/>
        </p:nvSpPr>
        <p:spPr>
          <a:xfrm xmlns:a="http://schemas.openxmlformats.org/drawingml/2006/main">
            <a:off x="609600" y="361950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3089FDEA-AA28-4DF1-9696-7DD33ECB31D5}"/>
              </a:ext>
            </a:extLst>
          </p:cNvPr>
          <p:cNvSpPr>
            <a:spLocks xmlns:a="http://schemas.openxmlformats.org/drawingml/2006/main" noGrp="1"/>
          </p:cNvSpPr>
          <p:nvPr/>
        </p:nvSpPr>
        <p:spPr>
          <a:xfrm xmlns:a="http://schemas.openxmlformats.org/drawingml/2006/main">
            <a:off x="609600" y="3876675"/>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62DDA8"/>
                </a:solidFill>
                <a:latin typeface="Arial"/>
                <a:ea typeface="Arial"/>
                <a:cs typeface="Arial"/>
              </a:defRPr>
            </a:pPr>
            <a:r>
              <a:rPr sz="1575" b="1">
                <a:solidFill>
                  <a:srgbClr val="62DDA8"/>
                </a:solidFill>
                <a:latin typeface="Arial"/>
                <a:ea typeface="Arial"/>
                <a:cs typeface="Arial"/>
              </a:rPr>
              <a:t>Holistic TimeML evaluation</a:t>
            </a:r>
          </a:p>
        </p:txBody>
      </p:sp>
      <p:sp>
        <p:nvSpPr>
          <p:cNvPr id="16" name="Text">
            <a:extLst xmlns:a="http://schemas.openxmlformats.org/drawingml/2006/main">
              <a:ext uri="{FF2B5EF4-FFF2-40B4-BE49-F238E27FC236}">
                <a16:creationId xmlns:a16="http://schemas.microsoft.com/office/drawing/2014/main" id="{07E0FF06-6E4A-463A-90E1-467F90D9A9EC}"/>
              </a:ext>
            </a:extLst>
          </p:cNvPr>
          <p:cNvSpPr>
            <a:spLocks xmlns:a="http://schemas.openxmlformats.org/drawingml/2006/main" noGrp="1"/>
          </p:cNvSpPr>
          <p:nvPr/>
        </p:nvSpPr>
        <p:spPr>
          <a:xfrm xmlns:a="http://schemas.openxmlformats.org/drawingml/2006/main">
            <a:off x="3743325" y="3867150"/>
            <a:ext cx="72199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F3F6F4"/>
                </a:solidFill>
                <a:latin typeface="Arial"/>
                <a:ea typeface="Arial"/>
                <a:cs typeface="Arial"/>
              </a:defRPr>
            </a:pPr>
            <a:r>
              <a:rPr sz="1425" b="0">
                <a:solidFill>
                  <a:srgbClr val="F3F6F4"/>
                </a:solidFill>
                <a:latin typeface="Arial"/>
                <a:ea typeface="Arial"/>
                <a:cs typeface="Arial"/>
              </a:rPr>
              <a:t>Cattan et al. 2022. Evaluates temporal annotators beyond isolated component scores.</a:t>
            </a:r>
          </a:p>
        </p:txBody>
      </p:sp>
      <p:sp>
        <p:nvSpPr>
          <p:cNvPr id="17" name="Text">
            <a:extLst xmlns:a="http://schemas.openxmlformats.org/drawingml/2006/main">
              <a:ext uri="{FF2B5EF4-FFF2-40B4-BE49-F238E27FC236}">
                <a16:creationId xmlns:a16="http://schemas.microsoft.com/office/drawing/2014/main" id="{6F4F8BA8-D7A6-4C50-8FE2-6DC4ACF1FC86}"/>
              </a:ext>
            </a:extLst>
          </p:cNvPr>
          <p:cNvSpPr>
            <a:spLocks xmlns:a="http://schemas.openxmlformats.org/drawingml/2006/main" noGrp="1"/>
          </p:cNvSpPr>
          <p:nvPr/>
        </p:nvSpPr>
        <p:spPr>
          <a:xfrm xmlns:a="http://schemas.openxmlformats.org/drawingml/2006/main">
            <a:off x="3743325" y="4467225"/>
            <a:ext cx="7219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AAB8B0"/>
                </a:solidFill>
                <a:latin typeface="Arial"/>
                <a:ea typeface="Arial"/>
                <a:cs typeface="Arial"/>
              </a:defRPr>
            </a:pPr>
            <a:r>
              <a:rPr sz="1050" b="0">
                <a:solidFill>
                  <a:srgbClr val="AAB8B0"/>
                </a:solidFill>
                <a:latin typeface="Arial"/>
                <a:ea typeface="Arial"/>
                <a:cs typeface="Arial"/>
              </a:rPr>
              <a:t>aclanthology.org/2022.lrec-1.155/</a:t>
            </a:r>
          </a:p>
        </p:txBody>
      </p:sp>
      <p:sp>
        <p:nvSpPr>
          <p:cNvPr id="18" name="Section rule">
            <a:extLst xmlns:a="http://schemas.openxmlformats.org/drawingml/2006/main">
              <a:ext uri="{FF2B5EF4-FFF2-40B4-BE49-F238E27FC236}">
                <a16:creationId xmlns:a16="http://schemas.microsoft.com/office/drawing/2014/main" id="{F88C5834-FA89-45BD-B331-CD88AA2C5909}"/>
              </a:ext>
            </a:extLst>
          </p:cNvPr>
          <p:cNvSpPr>
            <a:spLocks xmlns:a="http://schemas.openxmlformats.org/drawingml/2006/main" noGrp="1"/>
          </p:cNvSpPr>
          <p:nvPr/>
        </p:nvSpPr>
        <p:spPr>
          <a:xfrm xmlns:a="http://schemas.openxmlformats.org/drawingml/2006/main">
            <a:off x="609600" y="468630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2D5E6B03-CF7F-4306-AFB3-8348E75A5CE3}"/>
              </a:ext>
            </a:extLst>
          </p:cNvPr>
          <p:cNvSpPr>
            <a:spLocks xmlns:a="http://schemas.openxmlformats.org/drawingml/2006/main" noGrp="1"/>
          </p:cNvSpPr>
          <p:nvPr/>
        </p:nvSpPr>
        <p:spPr>
          <a:xfrm xmlns:a="http://schemas.openxmlformats.org/drawingml/2006/main">
            <a:off x="609600" y="4943475"/>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62DDA8"/>
                </a:solidFill>
                <a:latin typeface="Arial"/>
                <a:ea typeface="Arial"/>
                <a:cs typeface="Arial"/>
              </a:defRPr>
            </a:pPr>
            <a:r>
              <a:rPr sz="1575" b="1">
                <a:solidFill>
                  <a:srgbClr val="62DDA8"/>
                </a:solidFill>
                <a:latin typeface="Arial"/>
                <a:ea typeface="Arial"/>
                <a:cs typeface="Arial"/>
              </a:rPr>
              <a:t>TYM source paper</a:t>
            </a:r>
          </a:p>
        </p:txBody>
      </p:sp>
      <p:sp>
        <p:nvSpPr>
          <p:cNvPr id="20" name="Text">
            <a:extLst xmlns:a="http://schemas.openxmlformats.org/drawingml/2006/main">
              <a:ext uri="{FF2B5EF4-FFF2-40B4-BE49-F238E27FC236}">
                <a16:creationId xmlns:a16="http://schemas.microsoft.com/office/drawing/2014/main" id="{133CA883-AFFE-4617-9603-17D9C354F4FF}"/>
              </a:ext>
            </a:extLst>
          </p:cNvPr>
          <p:cNvSpPr>
            <a:spLocks xmlns:a="http://schemas.openxmlformats.org/drawingml/2006/main" noGrp="1"/>
          </p:cNvSpPr>
          <p:nvPr/>
        </p:nvSpPr>
        <p:spPr>
          <a:xfrm xmlns:a="http://schemas.openxmlformats.org/drawingml/2006/main">
            <a:off x="3743325" y="4933950"/>
            <a:ext cx="72199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F3F6F4"/>
                </a:solidFill>
                <a:latin typeface="Arial"/>
                <a:ea typeface="Arial"/>
                <a:cs typeface="Arial"/>
              </a:defRPr>
            </a:pPr>
            <a:r>
              <a:rPr sz="1425" b="0">
                <a:solidFill>
                  <a:srgbClr val="F3F6F4"/>
                </a:solidFill>
                <a:latin typeface="Arial"/>
                <a:ea typeface="Arial"/>
                <a:cs typeface="Arial"/>
              </a:rPr>
              <a:t>User-provided PDF. Baseline metrics and annotation framework; see pp. 10–11 for reported scores.</a:t>
            </a:r>
          </a:p>
        </p:txBody>
      </p:sp>
      <p:sp>
        <p:nvSpPr>
          <p:cNvPr id="21" name="Text">
            <a:extLst xmlns:a="http://schemas.openxmlformats.org/drawingml/2006/main">
              <a:ext uri="{FF2B5EF4-FFF2-40B4-BE49-F238E27FC236}">
                <a16:creationId xmlns:a16="http://schemas.microsoft.com/office/drawing/2014/main" id="{0A3A8020-DAF4-440D-8958-E4CD6C8F5AD5}"/>
              </a:ext>
            </a:extLst>
          </p:cNvPr>
          <p:cNvSpPr>
            <a:spLocks xmlns:a="http://schemas.openxmlformats.org/drawingml/2006/main" noGrp="1"/>
          </p:cNvSpPr>
          <p:nvPr/>
        </p:nvSpPr>
        <p:spPr>
          <a:xfrm xmlns:a="http://schemas.openxmlformats.org/drawingml/2006/main">
            <a:off x="3743325" y="5534025"/>
            <a:ext cx="7219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AAB8B0"/>
                </a:solidFill>
                <a:latin typeface="Arial"/>
                <a:ea typeface="Arial"/>
                <a:cs typeface="Arial"/>
              </a:defRPr>
            </a:pPr>
            <a:r>
              <a:rPr sz="1050" b="0">
                <a:solidFill>
                  <a:srgbClr val="AAB8B0"/>
                </a:solidFill>
                <a:latin typeface="Arial"/>
                <a:ea typeface="Arial"/>
                <a:cs typeface="Arial"/>
              </a:rPr>
              <a:t>Supplied local PDF, 14 pages</a:t>
            </a:r>
          </a:p>
        </p:txBody>
      </p:sp>
      <p:sp>
        <p:nvSpPr>
          <p:cNvPr id="22" name="Section rule">
            <a:extLst xmlns:a="http://schemas.openxmlformats.org/drawingml/2006/main">
              <a:ext uri="{FF2B5EF4-FFF2-40B4-BE49-F238E27FC236}">
                <a16:creationId xmlns:a16="http://schemas.microsoft.com/office/drawing/2014/main" id="{CDB809F7-6C3B-42E5-A9BD-1072B25E3E8F}"/>
              </a:ext>
            </a:extLst>
          </p:cNvPr>
          <p:cNvSpPr>
            <a:spLocks xmlns:a="http://schemas.openxmlformats.org/drawingml/2006/main" noGrp="1"/>
          </p:cNvSpPr>
          <p:nvPr/>
        </p:nvSpPr>
        <p:spPr>
          <a:xfrm xmlns:a="http://schemas.openxmlformats.org/drawingml/2006/main">
            <a:off x="609600" y="575310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Tree>
    <p:extLst>
      <p:ext uri="{BB962C8B-B14F-4D97-AF65-F5344CB8AC3E}">
        <p14:creationId xmlns:p14="http://schemas.microsoft.com/office/powerpoint/2010/main" val="503979272"/>
      </p:ext>
    </p:extLst>
  </p:cSld>
</p:sld>
</file>

<file path=ppt/slides/slide20.xml><?xml version="1.0" encoding="utf-8"?>
<p:sld xmlns:p="http://schemas.openxmlformats.org/presentationml/2006/main">
  <p:cSld>
    <p:bg>
      <p:bgPr>
        <a:solidFill xmlns:a="http://schemas.openxmlformats.org/drawingml/2006/main">
          <a:srgbClr val="202522"/>
        </a:solidFill>
      </p:bgPr>
    </p:bg>
    <p:spTree>
      <p:nvGrpSpPr>
        <p:cNvPr id="1" name=""/>
        <p:cNvGrpSpPr/>
        <p:nvPr/>
      </p:nvGrpSpPr>
      <p:grpSpPr>
        <a:xfrm xmlns:a="http://schemas.openxmlformats.org/drawingml/2006/main"/>
      </p:grpSpPr>
      <p:sp>
        <p:nvSpPr>
          <p:cNvPr id="27" name="Section label">
            <a:extLst xmlns:a="http://schemas.openxmlformats.org/drawingml/2006/main">
              <a:ext uri="{FF2B5EF4-FFF2-40B4-BE49-F238E27FC236}">
                <a16:creationId xmlns:a16="http://schemas.microsoft.com/office/drawing/2014/main" id="{185DAEC8-E096-43F6-AFE0-CD9A92722F5F}"/>
              </a:ext>
            </a:extLst>
          </p:cNvPr>
          <p:cNvSpPr>
            <a:spLocks xmlns:a="http://schemas.openxmlformats.org/drawingml/2006/main" noGrp="1"/>
          </p:cNvSpPr>
          <p:nvPr/>
        </p:nvSpPr>
        <p:spPr>
          <a:xfrm xmlns:a="http://schemas.openxmlformats.org/drawingml/2006/main">
            <a:off x="609600" y="2571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  REFERENCES</a:t>
            </a:r>
          </a:p>
        </p:txBody>
      </p:sp>
      <p:sp>
        <p:nvSpPr>
          <p:cNvPr id="2" name="Slide title">
            <a:extLst xmlns:a="http://schemas.openxmlformats.org/drawingml/2006/main">
              <a:ext uri="{FF2B5EF4-FFF2-40B4-BE49-F238E27FC236}">
                <a16:creationId xmlns:a16="http://schemas.microsoft.com/office/drawing/2014/main" id="{397FDFDA-EB5A-466F-8BF2-0D7963209725}"/>
              </a:ext>
            </a:extLst>
          </p:cNvPr>
          <p:cNvSpPr>
            <a:spLocks xmlns:a="http://schemas.openxmlformats.org/drawingml/2006/main" noGrp="1"/>
          </p:cNvSpPr>
          <p:nvPr/>
        </p:nvSpPr>
        <p:spPr>
          <a:xfrm xmlns:a="http://schemas.openxmlformats.org/drawingml/2006/main">
            <a:off x="609600" y="5810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75" b="1">
                <a:solidFill>
                  <a:srgbClr val="F3F6F4"/>
                </a:solidFill>
                <a:latin typeface="Arial"/>
                <a:ea typeface="Arial"/>
                <a:cs typeface="Arial"/>
              </a:defRPr>
            </a:pPr>
            <a:r>
              <a:rPr sz="3075" b="1">
                <a:solidFill>
                  <a:srgbClr val="F3F6F4"/>
                </a:solidFill>
                <a:latin typeface="Arial"/>
                <a:ea typeface="Arial"/>
                <a:cs typeface="Arial"/>
              </a:rPr>
              <a:t>Research references: synthetic data and tools</a:t>
            </a:r>
          </a:p>
        </p:txBody>
      </p:sp>
      <p:sp>
        <p:nvSpPr>
          <p:cNvPr id="3" name="Section rule">
            <a:extLst xmlns:a="http://schemas.openxmlformats.org/drawingml/2006/main">
              <a:ext uri="{FF2B5EF4-FFF2-40B4-BE49-F238E27FC236}">
                <a16:creationId xmlns:a16="http://schemas.microsoft.com/office/drawing/2014/main" id="{D3EEDCFF-8153-4BAA-91F7-CA3BD2A0192D}"/>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4" name="Section rule">
            <a:extLst xmlns:a="http://schemas.openxmlformats.org/drawingml/2006/main">
              <a:ext uri="{FF2B5EF4-FFF2-40B4-BE49-F238E27FC236}">
                <a16:creationId xmlns:a16="http://schemas.microsoft.com/office/drawing/2014/main" id="{DF73620A-6BDB-4AB9-A063-493D17053974}"/>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5DDFD808-2AFE-4A24-A6F3-39EC0C7CDD58}"/>
              </a:ext>
            </a:extLst>
          </p:cNvPr>
          <p:cNvSpPr>
            <a:spLocks xmlns:a="http://schemas.openxmlformats.org/drawingml/2006/main" noGrp="1"/>
          </p:cNvSpPr>
          <p:nvPr/>
        </p:nvSpPr>
        <p:spPr>
          <a:xfrm xmlns:a="http://schemas.openxmlformats.org/drawingml/2006/main">
            <a:off x="609600" y="6562725"/>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AAB8B0"/>
                </a:solidFill>
                <a:latin typeface="Arial"/>
                <a:ea typeface="Arial"/>
                <a:cs typeface="Arial"/>
              </a:defRPr>
            </a:pPr>
            <a:r>
              <a:rPr sz="900" b="0">
                <a:solidFill>
                  <a:srgbClr val="AAB8B0"/>
                </a:solidFill>
                <a:latin typeface="Arial"/>
                <a:ea typeface="Arial"/>
                <a:cs typeface="Arial"/>
              </a:rPr>
              <a:t>SYNTHETIC DATA  /  UNSUPERVISED DISCOVERY  /  HUMAN EVALUATION</a:t>
            </a:r>
          </a:p>
        </p:txBody>
      </p:sp>
      <p:sp>
        <p:nvSpPr>
          <p:cNvPr id="6" name="Page number">
            <a:extLst xmlns:a="http://schemas.openxmlformats.org/drawingml/2006/main">
              <a:ext uri="{FF2B5EF4-FFF2-40B4-BE49-F238E27FC236}">
                <a16:creationId xmlns:a16="http://schemas.microsoft.com/office/drawing/2014/main" id="{CD05E52A-CE4F-454A-BAD1-C1F10559A8E6}"/>
              </a:ext>
            </a:extLst>
          </p:cNvPr>
          <p:cNvSpPr>
            <a:spLocks xmlns:a="http://schemas.openxmlformats.org/drawingml/2006/main" noGrp="1"/>
          </p:cNvSpPr>
          <p:nvPr/>
        </p:nvSpPr>
        <p:spPr>
          <a:xfrm xmlns:a="http://schemas.openxmlformats.org/drawingml/2006/main">
            <a:off x="11049000" y="65436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9AEBCA"/>
                </a:solidFill>
                <a:latin typeface="Arial"/>
                <a:ea typeface="Arial"/>
                <a:cs typeface="Arial"/>
              </a:defRPr>
            </a:pPr>
            <a:r>
              <a:rPr sz="1050" b="1">
                <a:solidFill>
                  <a:srgbClr val="9AEBCA"/>
                </a:solidFill>
                <a:latin typeface="Arial"/>
                <a:ea typeface="Arial"/>
                <a:cs typeface="Arial"/>
              </a:rPr>
              <a:t>20</a:t>
            </a:r>
          </a:p>
        </p:txBody>
      </p:sp>
      <p:sp>
        <p:nvSpPr>
          <p:cNvPr id="7" name="Text">
            <a:extLst xmlns:a="http://schemas.openxmlformats.org/drawingml/2006/main">
              <a:ext uri="{FF2B5EF4-FFF2-40B4-BE49-F238E27FC236}">
                <a16:creationId xmlns:a16="http://schemas.microsoft.com/office/drawing/2014/main" id="{FFAEFC9A-1BED-4684-98B3-8C5EBED5670E}"/>
              </a:ext>
            </a:extLst>
          </p:cNvPr>
          <p:cNvSpPr>
            <a:spLocks xmlns:a="http://schemas.openxmlformats.org/drawingml/2006/main" noGrp="1"/>
          </p:cNvSpPr>
          <p:nvPr/>
        </p:nvSpPr>
        <p:spPr>
          <a:xfrm xmlns:a="http://schemas.openxmlformats.org/drawingml/2006/main">
            <a:off x="609600" y="1581150"/>
            <a:ext cx="2809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62DDA8"/>
                </a:solidFill>
                <a:latin typeface="Arial"/>
                <a:ea typeface="Arial"/>
                <a:cs typeface="Arial"/>
              </a:defRPr>
            </a:pPr>
            <a:r>
              <a:rPr sz="1350" b="1">
                <a:solidFill>
                  <a:srgbClr val="62DDA8"/>
                </a:solidFill>
                <a:latin typeface="Arial"/>
                <a:ea typeface="Arial"/>
                <a:cs typeface="Arial"/>
              </a:rPr>
              <a:t>Synthetic diversity</a:t>
            </a:r>
          </a:p>
        </p:txBody>
      </p:sp>
      <p:sp>
        <p:nvSpPr>
          <p:cNvPr id="8" name="Text">
            <a:extLst xmlns:a="http://schemas.openxmlformats.org/drawingml/2006/main">
              <a:ext uri="{FF2B5EF4-FFF2-40B4-BE49-F238E27FC236}">
                <a16:creationId xmlns:a16="http://schemas.microsoft.com/office/drawing/2014/main" id="{CA62BB66-697B-4ABD-A50B-70E05814D2F4}"/>
              </a:ext>
            </a:extLst>
          </p:cNvPr>
          <p:cNvSpPr>
            <a:spLocks xmlns:a="http://schemas.openxmlformats.org/drawingml/2006/main" noGrp="1"/>
          </p:cNvSpPr>
          <p:nvPr/>
        </p:nvSpPr>
        <p:spPr>
          <a:xfrm xmlns:a="http://schemas.openxmlformats.org/drawingml/2006/main">
            <a:off x="3619500" y="1571625"/>
            <a:ext cx="7381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F3F6F4"/>
                </a:solidFill>
                <a:latin typeface="Arial"/>
                <a:ea typeface="Arial"/>
                <a:cs typeface="Arial"/>
              </a:defRPr>
            </a:pPr>
            <a:r>
              <a:rPr sz="1350" b="0">
                <a:solidFill>
                  <a:srgbClr val="F3F6F4"/>
                </a:solidFill>
                <a:latin typeface="Arial"/>
                <a:ea typeface="Arial"/>
                <a:cs typeface="Arial"/>
              </a:rPr>
              <a:t>Kambhatla et al. 2025. Persona detail and lexical diversity in synthetic text.</a:t>
            </a:r>
          </a:p>
        </p:txBody>
      </p:sp>
      <p:sp>
        <p:nvSpPr>
          <p:cNvPr id="9" name="Text">
            <a:extLst xmlns:a="http://schemas.openxmlformats.org/drawingml/2006/main">
              <a:ext uri="{FF2B5EF4-FFF2-40B4-BE49-F238E27FC236}">
                <a16:creationId xmlns:a16="http://schemas.microsoft.com/office/drawing/2014/main" id="{A31C46F0-9655-4DE9-B94B-F62808CDB6C4}"/>
              </a:ext>
            </a:extLst>
          </p:cNvPr>
          <p:cNvSpPr>
            <a:spLocks xmlns:a="http://schemas.openxmlformats.org/drawingml/2006/main" noGrp="1"/>
          </p:cNvSpPr>
          <p:nvPr/>
        </p:nvSpPr>
        <p:spPr>
          <a:xfrm xmlns:a="http://schemas.openxmlformats.org/drawingml/2006/main">
            <a:off x="3619500" y="1981200"/>
            <a:ext cx="7381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AAB8B0"/>
                </a:solidFill>
                <a:latin typeface="Arial"/>
                <a:ea typeface="Arial"/>
                <a:cs typeface="Arial"/>
              </a:defRPr>
            </a:pPr>
            <a:r>
              <a:rPr sz="975" b="0">
                <a:solidFill>
                  <a:srgbClr val="AAB8B0"/>
                </a:solidFill>
                <a:latin typeface="Arial"/>
                <a:ea typeface="Arial"/>
                <a:cs typeface="Arial"/>
              </a:rPr>
              <a:t>aclanthology.org/2025.findings-emnlp.1146/</a:t>
            </a:r>
          </a:p>
        </p:txBody>
      </p:sp>
      <p:sp>
        <p:nvSpPr>
          <p:cNvPr id="10" name="Section rule">
            <a:extLst xmlns:a="http://schemas.openxmlformats.org/drawingml/2006/main">
              <a:ext uri="{FF2B5EF4-FFF2-40B4-BE49-F238E27FC236}">
                <a16:creationId xmlns:a16="http://schemas.microsoft.com/office/drawing/2014/main" id="{46A31950-D58A-44CF-B2F3-1E2B065D1520}"/>
              </a:ext>
            </a:extLst>
          </p:cNvPr>
          <p:cNvSpPr>
            <a:spLocks xmlns:a="http://schemas.openxmlformats.org/drawingml/2006/main" noGrp="1"/>
          </p:cNvSpPr>
          <p:nvPr/>
        </p:nvSpPr>
        <p:spPr>
          <a:xfrm xmlns:a="http://schemas.openxmlformats.org/drawingml/2006/main">
            <a:off x="609600" y="2228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E17B86CA-6ED0-4917-A271-00EA9FC755F7}"/>
              </a:ext>
            </a:extLst>
          </p:cNvPr>
          <p:cNvSpPr>
            <a:spLocks xmlns:a="http://schemas.openxmlformats.org/drawingml/2006/main" noGrp="1"/>
          </p:cNvSpPr>
          <p:nvPr/>
        </p:nvSpPr>
        <p:spPr>
          <a:xfrm xmlns:a="http://schemas.openxmlformats.org/drawingml/2006/main">
            <a:off x="609600" y="2447925"/>
            <a:ext cx="2809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62DDA8"/>
                </a:solidFill>
                <a:latin typeface="Arial"/>
                <a:ea typeface="Arial"/>
                <a:cs typeface="Arial"/>
              </a:defRPr>
            </a:pPr>
            <a:r>
              <a:rPr sz="1350" b="1">
                <a:solidFill>
                  <a:srgbClr val="62DDA8"/>
                </a:solidFill>
                <a:latin typeface="Arial"/>
                <a:ea typeface="Arial"/>
                <a:cs typeface="Arial"/>
              </a:rPr>
              <a:t>Synthetic distribution shift</a:t>
            </a:r>
          </a:p>
        </p:txBody>
      </p:sp>
      <p:sp>
        <p:nvSpPr>
          <p:cNvPr id="12" name="Text">
            <a:extLst xmlns:a="http://schemas.openxmlformats.org/drawingml/2006/main">
              <a:ext uri="{FF2B5EF4-FFF2-40B4-BE49-F238E27FC236}">
                <a16:creationId xmlns:a16="http://schemas.microsoft.com/office/drawing/2014/main" id="{D5386A5C-9FCC-4E3E-90C7-23943ADAA418}"/>
              </a:ext>
            </a:extLst>
          </p:cNvPr>
          <p:cNvSpPr>
            <a:spLocks xmlns:a="http://schemas.openxmlformats.org/drawingml/2006/main" noGrp="1"/>
          </p:cNvSpPr>
          <p:nvPr/>
        </p:nvSpPr>
        <p:spPr>
          <a:xfrm xmlns:a="http://schemas.openxmlformats.org/drawingml/2006/main">
            <a:off x="3619500" y="2438400"/>
            <a:ext cx="7381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F3F6F4"/>
                </a:solidFill>
                <a:latin typeface="Arial"/>
                <a:ea typeface="Arial"/>
                <a:cs typeface="Arial"/>
              </a:defRPr>
            </a:pPr>
            <a:r>
              <a:rPr sz="1350" b="0">
                <a:solidFill>
                  <a:srgbClr val="F3F6F4"/>
                </a:solidFill>
                <a:latin typeface="Arial"/>
                <a:ea typeface="Arial"/>
                <a:cs typeface="Arial"/>
              </a:rPr>
              <a:t>Geng et al. 2025. Label alignment and distribution shift in synthetic quality-estimation data.</a:t>
            </a:r>
          </a:p>
        </p:txBody>
      </p:sp>
      <p:sp>
        <p:nvSpPr>
          <p:cNvPr id="13" name="Text">
            <a:extLst xmlns:a="http://schemas.openxmlformats.org/drawingml/2006/main">
              <a:ext uri="{FF2B5EF4-FFF2-40B4-BE49-F238E27FC236}">
                <a16:creationId xmlns:a16="http://schemas.microsoft.com/office/drawing/2014/main" id="{C53F8B76-0E47-4930-A2B9-7C2C99D05FAB}"/>
              </a:ext>
            </a:extLst>
          </p:cNvPr>
          <p:cNvSpPr>
            <a:spLocks xmlns:a="http://schemas.openxmlformats.org/drawingml/2006/main" noGrp="1"/>
          </p:cNvSpPr>
          <p:nvPr/>
        </p:nvSpPr>
        <p:spPr>
          <a:xfrm xmlns:a="http://schemas.openxmlformats.org/drawingml/2006/main">
            <a:off x="3619500" y="2847975"/>
            <a:ext cx="7381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AAB8B0"/>
                </a:solidFill>
                <a:latin typeface="Arial"/>
                <a:ea typeface="Arial"/>
                <a:cs typeface="Arial"/>
              </a:defRPr>
            </a:pPr>
            <a:r>
              <a:rPr sz="975" b="0">
                <a:solidFill>
                  <a:srgbClr val="AAB8B0"/>
                </a:solidFill>
                <a:latin typeface="Arial"/>
                <a:ea typeface="Arial"/>
                <a:cs typeface="Arial"/>
              </a:rPr>
              <a:t>aclanthology.org/2025.acl-long.373/</a:t>
            </a:r>
          </a:p>
        </p:txBody>
      </p:sp>
      <p:sp>
        <p:nvSpPr>
          <p:cNvPr id="14" name="Section rule">
            <a:extLst xmlns:a="http://schemas.openxmlformats.org/drawingml/2006/main">
              <a:ext uri="{FF2B5EF4-FFF2-40B4-BE49-F238E27FC236}">
                <a16:creationId xmlns:a16="http://schemas.microsoft.com/office/drawing/2014/main" id="{0C02430D-6A7B-431A-A71A-1F7A23EB16B1}"/>
              </a:ext>
            </a:extLst>
          </p:cNvPr>
          <p:cNvSpPr>
            <a:spLocks xmlns:a="http://schemas.openxmlformats.org/drawingml/2006/main" noGrp="1"/>
          </p:cNvSpPr>
          <p:nvPr/>
        </p:nvSpPr>
        <p:spPr>
          <a:xfrm xmlns:a="http://schemas.openxmlformats.org/drawingml/2006/main">
            <a:off x="609600" y="30956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98C8523D-2416-4202-A693-A0763680F62B}"/>
              </a:ext>
            </a:extLst>
          </p:cNvPr>
          <p:cNvSpPr>
            <a:spLocks xmlns:a="http://schemas.openxmlformats.org/drawingml/2006/main" noGrp="1"/>
          </p:cNvSpPr>
          <p:nvPr/>
        </p:nvSpPr>
        <p:spPr>
          <a:xfrm xmlns:a="http://schemas.openxmlformats.org/drawingml/2006/main">
            <a:off x="609600" y="3314700"/>
            <a:ext cx="2809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62DDA8"/>
                </a:solidFill>
                <a:latin typeface="Arial"/>
                <a:ea typeface="Arial"/>
                <a:cs typeface="Arial"/>
              </a:defRPr>
            </a:pPr>
            <a:r>
              <a:rPr sz="1350" b="1">
                <a:solidFill>
                  <a:srgbClr val="62DDA8"/>
                </a:solidFill>
                <a:latin typeface="Arial"/>
                <a:ea typeface="Arial"/>
                <a:cs typeface="Arial"/>
              </a:rPr>
              <a:t>ML.NET metrics</a:t>
            </a:r>
          </a:p>
        </p:txBody>
      </p:sp>
      <p:sp>
        <p:nvSpPr>
          <p:cNvPr id="16" name="Text">
            <a:extLst xmlns:a="http://schemas.openxmlformats.org/drawingml/2006/main">
              <a:ext uri="{FF2B5EF4-FFF2-40B4-BE49-F238E27FC236}">
                <a16:creationId xmlns:a16="http://schemas.microsoft.com/office/drawing/2014/main" id="{27B9BC78-3337-4EAA-AA2D-4377D70E4E66}"/>
              </a:ext>
            </a:extLst>
          </p:cNvPr>
          <p:cNvSpPr>
            <a:spLocks xmlns:a="http://schemas.openxmlformats.org/drawingml/2006/main" noGrp="1"/>
          </p:cNvSpPr>
          <p:nvPr/>
        </p:nvSpPr>
        <p:spPr>
          <a:xfrm xmlns:a="http://schemas.openxmlformats.org/drawingml/2006/main">
            <a:off x="3619500" y="3305175"/>
            <a:ext cx="7381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F3F6F4"/>
                </a:solidFill>
                <a:latin typeface="Arial"/>
                <a:ea typeface="Arial"/>
                <a:cs typeface="Arial"/>
              </a:defRPr>
            </a:pPr>
            <a:r>
              <a:rPr sz="1350" b="0">
                <a:solidFill>
                  <a:srgbClr val="F3F6F4"/>
                </a:solidFill>
                <a:latin typeface="Arial"/>
                <a:ea typeface="Arial"/>
                <a:cs typeface="Arial"/>
              </a:rPr>
              <a:t>Official metrics reference for classification and clustering.</a:t>
            </a:r>
          </a:p>
        </p:txBody>
      </p:sp>
      <p:sp>
        <p:nvSpPr>
          <p:cNvPr id="17" name="Text">
            <a:extLst xmlns:a="http://schemas.openxmlformats.org/drawingml/2006/main">
              <a:ext uri="{FF2B5EF4-FFF2-40B4-BE49-F238E27FC236}">
                <a16:creationId xmlns:a16="http://schemas.microsoft.com/office/drawing/2014/main" id="{30C53B22-8081-4F7E-8F00-EED994E904AB}"/>
              </a:ext>
            </a:extLst>
          </p:cNvPr>
          <p:cNvSpPr>
            <a:spLocks xmlns:a="http://schemas.openxmlformats.org/drawingml/2006/main" noGrp="1"/>
          </p:cNvSpPr>
          <p:nvPr/>
        </p:nvSpPr>
        <p:spPr>
          <a:xfrm xmlns:a="http://schemas.openxmlformats.org/drawingml/2006/main">
            <a:off x="3619500" y="3714750"/>
            <a:ext cx="7381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AAB8B0"/>
                </a:solidFill>
                <a:latin typeface="Arial"/>
                <a:ea typeface="Arial"/>
                <a:cs typeface="Arial"/>
              </a:defRPr>
            </a:pPr>
            <a:r>
              <a:rPr sz="975" b="0">
                <a:solidFill>
                  <a:srgbClr val="AAB8B0"/>
                </a:solidFill>
                <a:latin typeface="Arial"/>
                <a:ea typeface="Arial"/>
                <a:cs typeface="Arial"/>
              </a:rPr>
              <a:t>learn.microsoft.com/dotnet/machine-learning/resources/metrics</a:t>
            </a:r>
          </a:p>
        </p:txBody>
      </p:sp>
      <p:sp>
        <p:nvSpPr>
          <p:cNvPr id="18" name="Section rule">
            <a:extLst xmlns:a="http://schemas.openxmlformats.org/drawingml/2006/main">
              <a:ext uri="{FF2B5EF4-FFF2-40B4-BE49-F238E27FC236}">
                <a16:creationId xmlns:a16="http://schemas.microsoft.com/office/drawing/2014/main" id="{2E111C74-EA03-488B-9D4B-911B33F53789}"/>
              </a:ext>
            </a:extLst>
          </p:cNvPr>
          <p:cNvSpPr>
            <a:spLocks xmlns:a="http://schemas.openxmlformats.org/drawingml/2006/main" noGrp="1"/>
          </p:cNvSpPr>
          <p:nvPr/>
        </p:nvSpPr>
        <p:spPr>
          <a:xfrm xmlns:a="http://schemas.openxmlformats.org/drawingml/2006/main">
            <a:off x="609600" y="396240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BFC4BD72-B362-436D-BCE6-4DC9FD806674}"/>
              </a:ext>
            </a:extLst>
          </p:cNvPr>
          <p:cNvSpPr>
            <a:spLocks xmlns:a="http://schemas.openxmlformats.org/drawingml/2006/main" noGrp="1"/>
          </p:cNvSpPr>
          <p:nvPr/>
        </p:nvSpPr>
        <p:spPr>
          <a:xfrm xmlns:a="http://schemas.openxmlformats.org/drawingml/2006/main">
            <a:off x="609600" y="4181475"/>
            <a:ext cx="2809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62DDA8"/>
                </a:solidFill>
                <a:latin typeface="Arial"/>
                <a:ea typeface="Arial"/>
                <a:cs typeface="Arial"/>
              </a:defRPr>
            </a:pPr>
            <a:r>
              <a:rPr sz="1350" b="1">
                <a:solidFill>
                  <a:srgbClr val="62DDA8"/>
                </a:solidFill>
                <a:latin typeface="Arial"/>
                <a:ea typeface="Arial"/>
                <a:cs typeface="Arial"/>
              </a:rPr>
              <a:t>ML.NET clustering</a:t>
            </a:r>
          </a:p>
        </p:txBody>
      </p:sp>
      <p:sp>
        <p:nvSpPr>
          <p:cNvPr id="20" name="Text">
            <a:extLst xmlns:a="http://schemas.openxmlformats.org/drawingml/2006/main">
              <a:ext uri="{FF2B5EF4-FFF2-40B4-BE49-F238E27FC236}">
                <a16:creationId xmlns:a16="http://schemas.microsoft.com/office/drawing/2014/main" id="{9CCCAE17-FF33-4B9B-A103-52C662CB7C63}"/>
              </a:ext>
            </a:extLst>
          </p:cNvPr>
          <p:cNvSpPr>
            <a:spLocks xmlns:a="http://schemas.openxmlformats.org/drawingml/2006/main" noGrp="1"/>
          </p:cNvSpPr>
          <p:nvPr/>
        </p:nvSpPr>
        <p:spPr>
          <a:xfrm xmlns:a="http://schemas.openxmlformats.org/drawingml/2006/main">
            <a:off x="3619500" y="4171950"/>
            <a:ext cx="7381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F3F6F4"/>
                </a:solidFill>
                <a:latin typeface="Arial"/>
                <a:ea typeface="Arial"/>
                <a:cs typeface="Arial"/>
              </a:defRPr>
            </a:pPr>
            <a:r>
              <a:rPr sz="1350" b="0">
                <a:solidFill>
                  <a:srgbClr val="F3F6F4"/>
                </a:solidFill>
                <a:latin typeface="Arial"/>
                <a:ea typeface="Arial"/>
                <a:cs typeface="Arial"/>
              </a:rPr>
              <a:t>Official task reference: ML.NET clustering uses unsupervised centroid-based K-Means.</a:t>
            </a:r>
          </a:p>
        </p:txBody>
      </p:sp>
      <p:sp>
        <p:nvSpPr>
          <p:cNvPr id="21" name="Text">
            <a:extLst xmlns:a="http://schemas.openxmlformats.org/drawingml/2006/main">
              <a:ext uri="{FF2B5EF4-FFF2-40B4-BE49-F238E27FC236}">
                <a16:creationId xmlns:a16="http://schemas.microsoft.com/office/drawing/2014/main" id="{B7984ECC-3DB7-4428-9E63-CA777FA32F7C}"/>
              </a:ext>
            </a:extLst>
          </p:cNvPr>
          <p:cNvSpPr>
            <a:spLocks xmlns:a="http://schemas.openxmlformats.org/drawingml/2006/main" noGrp="1"/>
          </p:cNvSpPr>
          <p:nvPr/>
        </p:nvSpPr>
        <p:spPr>
          <a:xfrm xmlns:a="http://schemas.openxmlformats.org/drawingml/2006/main">
            <a:off x="3619500" y="4581525"/>
            <a:ext cx="7381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AAB8B0"/>
                </a:solidFill>
                <a:latin typeface="Arial"/>
                <a:ea typeface="Arial"/>
                <a:cs typeface="Arial"/>
              </a:defRPr>
            </a:pPr>
            <a:r>
              <a:rPr sz="975" b="0">
                <a:solidFill>
                  <a:srgbClr val="AAB8B0"/>
                </a:solidFill>
                <a:latin typeface="Arial"/>
                <a:ea typeface="Arial"/>
                <a:cs typeface="Arial"/>
              </a:rPr>
              <a:t>learn.microsoft.com/dotnet/machine-learning/resources/tasks</a:t>
            </a:r>
          </a:p>
        </p:txBody>
      </p:sp>
      <p:sp>
        <p:nvSpPr>
          <p:cNvPr id="22" name="Section rule">
            <a:extLst xmlns:a="http://schemas.openxmlformats.org/drawingml/2006/main">
              <a:ext uri="{FF2B5EF4-FFF2-40B4-BE49-F238E27FC236}">
                <a16:creationId xmlns:a16="http://schemas.microsoft.com/office/drawing/2014/main" id="{89BCC537-0846-4DB8-BE55-57613F3054A9}"/>
              </a:ext>
            </a:extLst>
          </p:cNvPr>
          <p:cNvSpPr>
            <a:spLocks xmlns:a="http://schemas.openxmlformats.org/drawingml/2006/main" noGrp="1"/>
          </p:cNvSpPr>
          <p:nvPr/>
        </p:nvSpPr>
        <p:spPr>
          <a:xfrm xmlns:a="http://schemas.openxmlformats.org/drawingml/2006/main">
            <a:off x="609600" y="482917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23" name="Text">
            <a:extLst xmlns:a="http://schemas.openxmlformats.org/drawingml/2006/main">
              <a:ext uri="{FF2B5EF4-FFF2-40B4-BE49-F238E27FC236}">
                <a16:creationId xmlns:a16="http://schemas.microsoft.com/office/drawing/2014/main" id="{A7170D50-0ED8-4DA7-9923-2E40D3F2E3C8}"/>
              </a:ext>
            </a:extLst>
          </p:cNvPr>
          <p:cNvSpPr>
            <a:spLocks xmlns:a="http://schemas.openxmlformats.org/drawingml/2006/main" noGrp="1"/>
          </p:cNvSpPr>
          <p:nvPr/>
        </p:nvSpPr>
        <p:spPr>
          <a:xfrm xmlns:a="http://schemas.openxmlformats.org/drawingml/2006/main">
            <a:off x="609600" y="5048250"/>
            <a:ext cx="2809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62DDA8"/>
                </a:solidFill>
                <a:latin typeface="Arial"/>
                <a:ea typeface="Arial"/>
                <a:cs typeface="Arial"/>
              </a:defRPr>
            </a:pPr>
            <a:r>
              <a:rPr sz="1350" b="1">
                <a:solidFill>
                  <a:srgbClr val="62DDA8"/>
                </a:solidFill>
                <a:latin typeface="Arial"/>
                <a:ea typeface="Arial"/>
                <a:cs typeface="Arial"/>
              </a:rPr>
              <a:t>Conference schedule</a:t>
            </a:r>
          </a:p>
        </p:txBody>
      </p:sp>
      <p:sp>
        <p:nvSpPr>
          <p:cNvPr id="24" name="Text">
            <a:extLst xmlns:a="http://schemas.openxmlformats.org/drawingml/2006/main">
              <a:ext uri="{FF2B5EF4-FFF2-40B4-BE49-F238E27FC236}">
                <a16:creationId xmlns:a16="http://schemas.microsoft.com/office/drawing/2014/main" id="{C2484142-3020-4142-9F03-CADC56F2BD83}"/>
              </a:ext>
            </a:extLst>
          </p:cNvPr>
          <p:cNvSpPr>
            <a:spLocks xmlns:a="http://schemas.openxmlformats.org/drawingml/2006/main" noGrp="1"/>
          </p:cNvSpPr>
          <p:nvPr/>
        </p:nvSpPr>
        <p:spPr>
          <a:xfrm xmlns:a="http://schemas.openxmlformats.org/drawingml/2006/main">
            <a:off x="3619500" y="5038725"/>
            <a:ext cx="7381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F3F6F4"/>
                </a:solidFill>
                <a:latin typeface="Arial"/>
                <a:ea typeface="Arial"/>
                <a:cs typeface="Arial"/>
              </a:defRPr>
            </a:pPr>
            <a:r>
              <a:rPr sz="1350" b="0">
                <a:solidFill>
                  <a:srgbClr val="F3F6F4"/>
                </a:solidFill>
                <a:latin typeface="Arial"/>
                <a:ea typeface="Arial"/>
                <a:cs typeface="Arial"/>
              </a:rPr>
              <a:t>Official 2027 CFP pages; all dates checked 1 Oct 2026.</a:t>
            </a:r>
          </a:p>
        </p:txBody>
      </p:sp>
      <p:sp>
        <p:nvSpPr>
          <p:cNvPr id="25" name="Text">
            <a:extLst xmlns:a="http://schemas.openxmlformats.org/drawingml/2006/main">
              <a:ext uri="{FF2B5EF4-FFF2-40B4-BE49-F238E27FC236}">
                <a16:creationId xmlns:a16="http://schemas.microsoft.com/office/drawing/2014/main" id="{6D42ABE0-1E49-420A-A603-123E8596A56E}"/>
              </a:ext>
            </a:extLst>
          </p:cNvPr>
          <p:cNvSpPr>
            <a:spLocks xmlns:a="http://schemas.openxmlformats.org/drawingml/2006/main" noGrp="1"/>
          </p:cNvSpPr>
          <p:nvPr/>
        </p:nvSpPr>
        <p:spPr>
          <a:xfrm xmlns:a="http://schemas.openxmlformats.org/drawingml/2006/main">
            <a:off x="3619500" y="5448300"/>
            <a:ext cx="7381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AAB8B0"/>
                </a:solidFill>
                <a:latin typeface="Arial"/>
                <a:ea typeface="Arial"/>
                <a:cs typeface="Arial"/>
              </a:defRPr>
            </a:pPr>
            <a:r>
              <a:rPr sz="975" b="0">
                <a:solidFill>
                  <a:srgbClr val="AAB8B0"/>
                </a:solidFill>
                <a:latin typeface="Arial"/>
                <a:ea typeface="Arial"/>
                <a:cs typeface="Arial"/>
              </a:rPr>
              <a:t>2027.eacl.org  /  2027.coling-iccl.org  /  2027.naacl.org  /  2027.aclweb.org</a:t>
            </a:r>
          </a:p>
        </p:txBody>
      </p:sp>
      <p:sp>
        <p:nvSpPr>
          <p:cNvPr id="26" name="Section rule">
            <a:extLst xmlns:a="http://schemas.openxmlformats.org/drawingml/2006/main">
              <a:ext uri="{FF2B5EF4-FFF2-40B4-BE49-F238E27FC236}">
                <a16:creationId xmlns:a16="http://schemas.microsoft.com/office/drawing/2014/main" id="{97E73563-BB46-45F3-AE82-8ACE0B7F354D}"/>
              </a:ext>
            </a:extLst>
          </p:cNvPr>
          <p:cNvSpPr>
            <a:spLocks xmlns:a="http://schemas.openxmlformats.org/drawingml/2006/main" noGrp="1"/>
          </p:cNvSpPr>
          <p:nvPr/>
        </p:nvSpPr>
        <p:spPr>
          <a:xfrm xmlns:a="http://schemas.openxmlformats.org/drawingml/2006/main">
            <a:off x="609600" y="56959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Tree>
    <p:extLst>
      <p:ext uri="{BB962C8B-B14F-4D97-AF65-F5344CB8AC3E}">
        <p14:creationId xmlns:p14="http://schemas.microsoft.com/office/powerpoint/2010/main" val="18857518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2026-10-01T16:08:52.5930000Z</dcterms:created>
  <dcterms:modified xsi:type="dcterms:W3CDTF">2026-10-01T16:08:52.5930000Z</dcterms:modified>
</coreProperties>
</file>